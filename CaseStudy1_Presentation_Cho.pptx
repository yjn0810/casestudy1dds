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4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5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6.xml" ContentType="application/vnd.openxmlformats-officedocument.themeOverride+xml"/>
  <Override PartName="/ppt/notesSlides/notesSlide4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7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8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4224" r:id="rId4"/>
  </p:sldMasterIdLst>
  <p:notesMasterIdLst>
    <p:notesMasterId r:id="rId27"/>
  </p:notesMasterIdLst>
  <p:handoutMasterIdLst>
    <p:handoutMasterId r:id="rId28"/>
  </p:handoutMasterIdLst>
  <p:sldIdLst>
    <p:sldId id="569" r:id="rId5"/>
    <p:sldId id="2147480463" r:id="rId6"/>
    <p:sldId id="2147480467" r:id="rId7"/>
    <p:sldId id="2147480464" r:id="rId8"/>
    <p:sldId id="2147480479" r:id="rId9"/>
    <p:sldId id="2147480480" r:id="rId10"/>
    <p:sldId id="2147480481" r:id="rId11"/>
    <p:sldId id="2147480483" r:id="rId12"/>
    <p:sldId id="2147480484" r:id="rId13"/>
    <p:sldId id="2147480465" r:id="rId14"/>
    <p:sldId id="2147480478" r:id="rId15"/>
    <p:sldId id="2147480466" r:id="rId16"/>
    <p:sldId id="2147480485" r:id="rId17"/>
    <p:sldId id="2147480462" r:id="rId18"/>
    <p:sldId id="2147480313" r:id="rId19"/>
    <p:sldId id="2147480448" r:id="rId20"/>
    <p:sldId id="2147480449" r:id="rId21"/>
    <p:sldId id="2147480450" r:id="rId22"/>
    <p:sldId id="2147480454" r:id="rId23"/>
    <p:sldId id="2147480471" r:id="rId24"/>
    <p:sldId id="2147480472" r:id="rId25"/>
    <p:sldId id="2147480473" r:id="rId26"/>
  </p:sldIdLst>
  <p:sldSz cx="9906000" cy="6858000" type="A4"/>
  <p:notesSz cx="6735763" cy="9866313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903D4DC-798A-4E29-A472-E8A7F7187E4E}">
          <p14:sldIdLst>
            <p14:sldId id="569"/>
            <p14:sldId id="2147480463"/>
            <p14:sldId id="2147480467"/>
            <p14:sldId id="2147480464"/>
            <p14:sldId id="2147480479"/>
            <p14:sldId id="2147480480"/>
            <p14:sldId id="2147480481"/>
            <p14:sldId id="2147480483"/>
            <p14:sldId id="2147480484"/>
            <p14:sldId id="2147480465"/>
            <p14:sldId id="2147480478"/>
            <p14:sldId id="2147480466"/>
            <p14:sldId id="2147480485"/>
            <p14:sldId id="2147480462"/>
            <p14:sldId id="2147480313"/>
            <p14:sldId id="2147480448"/>
            <p14:sldId id="2147480449"/>
            <p14:sldId id="2147480450"/>
            <p14:sldId id="2147480454"/>
            <p14:sldId id="2147480471"/>
            <p14:sldId id="2147480472"/>
            <p14:sldId id="214748047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h, Jin Ho [KR]" initials="OJH[" lastIdx="1" clrIdx="0">
    <p:extLst>
      <p:ext uri="{19B8F6BF-5375-455C-9EA6-DF929625EA0E}">
        <p15:presenceInfo xmlns:p15="http://schemas.microsoft.com/office/powerpoint/2012/main" userId="Oh, Jin Ho [KR]" providerId="None"/>
      </p:ext>
    </p:extLst>
  </p:cmAuthor>
  <p:cmAuthor id="2" name="예진아빠" initials="예" lastIdx="1" clrIdx="1">
    <p:extLst>
      <p:ext uri="{19B8F6BF-5375-455C-9EA6-DF929625EA0E}">
        <p15:presenceInfo xmlns:p15="http://schemas.microsoft.com/office/powerpoint/2012/main" userId="예진아빠" providerId="None"/>
      </p:ext>
    </p:extLst>
  </p:cmAuthor>
  <p:cmAuthor id="3" name="Hwang, Jeong-Hwan (KR/B&amp;F1)" initials="HJ(" lastIdx="1" clrIdx="2">
    <p:extLst>
      <p:ext uri="{19B8F6BF-5375-455C-9EA6-DF929625EA0E}">
        <p15:presenceInfo xmlns:p15="http://schemas.microsoft.com/office/powerpoint/2012/main" userId="S::jeonghwanhwang@kr.kpmg.com::e9f033b0-003c-479a-a298-9bd980f1a69e" providerId="AD"/>
      </p:ext>
    </p:extLst>
  </p:cmAuthor>
  <p:cmAuthor id="4" name="Hur, Ye-Min (KR/EX-Audit)" initials="HYM(A" lastIdx="55" clrIdx="3">
    <p:extLst>
      <p:ext uri="{19B8F6BF-5375-455C-9EA6-DF929625EA0E}">
        <p15:presenceInfo xmlns:p15="http://schemas.microsoft.com/office/powerpoint/2012/main" userId="S::yeminhur@kr.kpmg.com::4db4bafd-fc8c-4663-93a4-190fbcb6f94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749A"/>
    <a:srgbClr val="0966B0"/>
    <a:srgbClr val="063972"/>
    <a:srgbClr val="E69999"/>
    <a:srgbClr val="F2F9FF"/>
    <a:srgbClr val="009A44"/>
    <a:srgbClr val="FFD259"/>
    <a:srgbClr val="6D2077"/>
    <a:srgbClr val="2272FF"/>
    <a:srgbClr val="E4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720" autoAdjust="0"/>
  </p:normalViewPr>
  <p:slideViewPr>
    <p:cSldViewPr snapToGrid="0">
      <p:cViewPr varScale="1">
        <p:scale>
          <a:sx n="158" d="100"/>
          <a:sy n="158" d="100"/>
        </p:scale>
        <p:origin x="1432" y="84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566" y="1218"/>
      </p:cViewPr>
      <p:guideLst>
        <p:guide orient="horz" pos="3108"/>
        <p:guide pos="212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commentAuthors" Target="commentAuthor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gion\Downloads\CaseStudy1-data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6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53749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Sheet2!$F$5:$F$8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Sheet2!$J$5:$J$8</c:f>
              <c:numCache>
                <c:formatCode>0.0%</c:formatCode>
                <c:ptCount val="4"/>
                <c:pt idx="0">
                  <c:v>0.35416666666666669</c:v>
                </c:pt>
                <c:pt idx="1">
                  <c:v>0.15625</c:v>
                </c:pt>
                <c:pt idx="2">
                  <c:v>0.15037593984962405</c:v>
                </c:pt>
                <c:pt idx="3">
                  <c:v>0.1326530612244898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3C-4F32-84C5-A86DBF5083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1669863504"/>
        <c:axId val="1669865424"/>
      </c:barChart>
      <c:catAx>
        <c:axId val="1669863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69865424"/>
        <c:crosses val="autoZero"/>
        <c:auto val="1"/>
        <c:lblAlgn val="ctr"/>
        <c:lblOffset val="100"/>
        <c:noMultiLvlLbl val="0"/>
      </c:catAx>
      <c:valAx>
        <c:axId val="166986542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crossAx val="1669863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53749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Sheet2!$F$13:$F$14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Sheet2!$J$13:$J$14</c:f>
              <c:numCache>
                <c:formatCode>0.0%</c:formatCode>
                <c:ptCount val="2"/>
                <c:pt idx="0">
                  <c:v>9.7087378640776698E-2</c:v>
                </c:pt>
                <c:pt idx="1">
                  <c:v>0.31746031746031744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D4-4C2C-8F22-E5DBC44FF5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1669863504"/>
        <c:axId val="1669865424"/>
      </c:barChart>
      <c:catAx>
        <c:axId val="1669863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ko-KR"/>
          </a:p>
        </c:txPr>
        <c:crossAx val="1669865424"/>
        <c:crosses val="autoZero"/>
        <c:auto val="1"/>
        <c:lblAlgn val="ctr"/>
        <c:lblOffset val="100"/>
        <c:noMultiLvlLbl val="0"/>
      </c:catAx>
      <c:valAx>
        <c:axId val="166986542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crossAx val="1669863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53749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Sheet2!$F$19:$F$22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Sheet2!$J$19:$J$22</c:f>
              <c:numCache>
                <c:formatCode>0.0%</c:formatCode>
                <c:ptCount val="4"/>
                <c:pt idx="0">
                  <c:v>0.46808510638297873</c:v>
                </c:pt>
                <c:pt idx="1">
                  <c:v>0.19298245614035087</c:v>
                </c:pt>
                <c:pt idx="2">
                  <c:v>0.13035019455252919</c:v>
                </c:pt>
                <c:pt idx="3">
                  <c:v>8.6419753086419748E-2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90-42A5-A460-C40AADADB9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1669863504"/>
        <c:axId val="1669865424"/>
      </c:barChart>
      <c:catAx>
        <c:axId val="1669863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ko-KR"/>
          </a:p>
        </c:txPr>
        <c:crossAx val="1669865424"/>
        <c:crosses val="autoZero"/>
        <c:auto val="1"/>
        <c:lblAlgn val="ctr"/>
        <c:lblOffset val="100"/>
        <c:noMultiLvlLbl val="0"/>
      </c:catAx>
      <c:valAx>
        <c:axId val="166986542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crossAx val="1669863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53749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Sheet2!$F$27:$F$30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Sheet2!$J$27:$J$30</c:f>
              <c:numCache>
                <c:formatCode>0.0%</c:formatCode>
                <c:ptCount val="4"/>
                <c:pt idx="0">
                  <c:v>0.21229050279329609</c:v>
                </c:pt>
                <c:pt idx="1">
                  <c:v>0.18674698795180722</c:v>
                </c:pt>
                <c:pt idx="2">
                  <c:v>0.16929133858267717</c:v>
                </c:pt>
                <c:pt idx="3">
                  <c:v>0.10332103321033211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C9-4307-A03A-4C3C9BEB6D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1669863504"/>
        <c:axId val="1669865424"/>
      </c:barChart>
      <c:catAx>
        <c:axId val="1669863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ko-KR"/>
          </a:p>
        </c:txPr>
        <c:crossAx val="1669865424"/>
        <c:crosses val="autoZero"/>
        <c:auto val="1"/>
        <c:lblAlgn val="ctr"/>
        <c:lblOffset val="100"/>
        <c:noMultiLvlLbl val="0"/>
      </c:catAx>
      <c:valAx>
        <c:axId val="166986542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crossAx val="1669863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53749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Sheet2!$F$35:$F$37</c:f>
              <c:strCache>
                <c:ptCount val="3"/>
                <c:pt idx="0">
                  <c:v>Non-Travel</c:v>
                </c:pt>
                <c:pt idx="1">
                  <c:v>Travel_Rarely</c:v>
                </c:pt>
                <c:pt idx="2">
                  <c:v>Travel_Frequently</c:v>
                </c:pt>
              </c:strCache>
            </c:strRef>
          </c:cat>
          <c:val>
            <c:numRef>
              <c:f>Sheet2!$J$35:$J$37</c:f>
              <c:numCache>
                <c:formatCode>0.0%</c:formatCode>
                <c:ptCount val="3"/>
                <c:pt idx="0">
                  <c:v>0.11702127659574468</c:v>
                </c:pt>
                <c:pt idx="1">
                  <c:v>0.15210355987055016</c:v>
                </c:pt>
                <c:pt idx="2">
                  <c:v>0.22151898734177214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A5-4FFC-91D2-4A156E2399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1669863504"/>
        <c:axId val="1669865424"/>
      </c:barChart>
      <c:catAx>
        <c:axId val="1669863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ko-KR"/>
          </a:p>
        </c:txPr>
        <c:crossAx val="1669865424"/>
        <c:crosses val="autoZero"/>
        <c:auto val="1"/>
        <c:lblAlgn val="ctr"/>
        <c:lblOffset val="100"/>
        <c:noMultiLvlLbl val="0"/>
      </c:catAx>
      <c:valAx>
        <c:axId val="166986542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crossAx val="1669863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53749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Sheet2!$F$42:$F$46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Sheet2!$J$42:$J$46</c:f>
              <c:numCache>
                <c:formatCode>0.0%</c:formatCode>
                <c:ptCount val="5"/>
                <c:pt idx="0">
                  <c:v>0.18367346938775511</c:v>
                </c:pt>
                <c:pt idx="1">
                  <c:v>0.17582417582417584</c:v>
                </c:pt>
                <c:pt idx="2">
                  <c:v>0.16975308641975309</c:v>
                </c:pt>
                <c:pt idx="3">
                  <c:v>0.13333333333333333</c:v>
                </c:pt>
                <c:pt idx="4">
                  <c:v>0.11538461538461539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6E-4C8A-8C4D-A15415D9D4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1669863504"/>
        <c:axId val="1669865424"/>
      </c:barChart>
      <c:catAx>
        <c:axId val="1669863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ko-KR"/>
          </a:p>
        </c:txPr>
        <c:crossAx val="1669865424"/>
        <c:crosses val="autoZero"/>
        <c:auto val="1"/>
        <c:lblAlgn val="ctr"/>
        <c:lblOffset val="100"/>
        <c:noMultiLvlLbl val="0"/>
      </c:catAx>
      <c:valAx>
        <c:axId val="166986542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crossAx val="1669863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53749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Sheet2!$F$50:$F$52</c:f>
              <c:strCache>
                <c:ptCount val="3"/>
                <c:pt idx="0">
                  <c:v>Divorced</c:v>
                </c:pt>
                <c:pt idx="1">
                  <c:v>Married</c:v>
                </c:pt>
                <c:pt idx="2">
                  <c:v>Single</c:v>
                </c:pt>
              </c:strCache>
            </c:strRef>
          </c:cat>
          <c:val>
            <c:numRef>
              <c:f>Sheet2!$J$50:$J$52</c:f>
              <c:numCache>
                <c:formatCode>0.0%</c:formatCode>
                <c:ptCount val="3"/>
                <c:pt idx="0">
                  <c:v>6.2827225130890049E-2</c:v>
                </c:pt>
                <c:pt idx="1">
                  <c:v>0.14146341463414633</c:v>
                </c:pt>
                <c:pt idx="2">
                  <c:v>0.26022304832713755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0F-4158-872E-53DB873F18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1669863504"/>
        <c:axId val="1669865424"/>
      </c:barChart>
      <c:catAx>
        <c:axId val="1669863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ko-KR"/>
          </a:p>
        </c:txPr>
        <c:crossAx val="1669865424"/>
        <c:crosses val="autoZero"/>
        <c:auto val="1"/>
        <c:lblAlgn val="ctr"/>
        <c:lblOffset val="100"/>
        <c:noMultiLvlLbl val="0"/>
      </c:catAx>
      <c:valAx>
        <c:axId val="166986542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crossAx val="1669863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53749A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E6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11D-4EC2-B200-D7EE9461B33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Sheet2!$F$57:$F$65</c:f>
              <c:strCache>
                <c:ptCount val="9"/>
                <c:pt idx="0">
                  <c:v>Healthcare Representative</c:v>
                </c:pt>
                <c:pt idx="1">
                  <c:v>Human Resources</c:v>
                </c:pt>
                <c:pt idx="2">
                  <c:v>Laboratory Technician</c:v>
                </c:pt>
                <c:pt idx="3">
                  <c:v>Manager</c:v>
                </c:pt>
                <c:pt idx="4">
                  <c:v>Manufacturing Director</c:v>
                </c:pt>
                <c:pt idx="5">
                  <c:v>Research Director</c:v>
                </c:pt>
                <c:pt idx="6">
                  <c:v>Research Scientist</c:v>
                </c:pt>
                <c:pt idx="7">
                  <c:v>Sales Executive</c:v>
                </c:pt>
                <c:pt idx="8">
                  <c:v>Sales Representative</c:v>
                </c:pt>
              </c:strCache>
            </c:strRef>
          </c:cat>
          <c:val>
            <c:numRef>
              <c:f>Sheet2!$J$57:$J$65</c:f>
              <c:numCache>
                <c:formatCode>0.0%</c:formatCode>
                <c:ptCount val="9"/>
                <c:pt idx="0">
                  <c:v>0.10526315789473684</c:v>
                </c:pt>
                <c:pt idx="1">
                  <c:v>0.22222222222222221</c:v>
                </c:pt>
                <c:pt idx="2">
                  <c:v>0.19607843137254902</c:v>
                </c:pt>
                <c:pt idx="3">
                  <c:v>7.8431372549019607E-2</c:v>
                </c:pt>
                <c:pt idx="4">
                  <c:v>2.2988505747126436E-2</c:v>
                </c:pt>
                <c:pt idx="5">
                  <c:v>1.9607843137254902E-2</c:v>
                </c:pt>
                <c:pt idx="6">
                  <c:v>0.18604651162790697</c:v>
                </c:pt>
                <c:pt idx="7">
                  <c:v>0.16500000000000001</c:v>
                </c:pt>
                <c:pt idx="8">
                  <c:v>0.45283018867924529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1D-4EC2-B200-D7EE9461B3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1669863504"/>
        <c:axId val="1669865424"/>
      </c:barChart>
      <c:catAx>
        <c:axId val="1669863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ko-KR"/>
          </a:p>
        </c:txPr>
        <c:crossAx val="1669865424"/>
        <c:crosses val="autoZero"/>
        <c:auto val="1"/>
        <c:lblAlgn val="ctr"/>
        <c:lblOffset val="100"/>
        <c:noMultiLvlLbl val="0"/>
      </c:catAx>
      <c:valAx>
        <c:axId val="166986542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crossAx val="1669863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53749A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6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576-446C-847E-5696A690872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Sheet2!$F$70:$F$72</c:f>
              <c:strCache>
                <c:ptCount val="3"/>
                <c:pt idx="0">
                  <c:v>Human Resources</c:v>
                </c:pt>
                <c:pt idx="1">
                  <c:v>Research &amp; Development</c:v>
                </c:pt>
                <c:pt idx="2">
                  <c:v>Sales</c:v>
                </c:pt>
              </c:strCache>
            </c:strRef>
          </c:cat>
          <c:val>
            <c:numRef>
              <c:f>Sheet2!$J$70:$J$72</c:f>
              <c:numCache>
                <c:formatCode>0.0%</c:formatCode>
                <c:ptCount val="3"/>
                <c:pt idx="0">
                  <c:v>0.17142857142857143</c:v>
                </c:pt>
                <c:pt idx="1">
                  <c:v>0.13345195729537365</c:v>
                </c:pt>
                <c:pt idx="2">
                  <c:v>0.21611721611721613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76-446C-847E-5696A69087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1669863504"/>
        <c:axId val="1669865424"/>
      </c:barChart>
      <c:catAx>
        <c:axId val="1669863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ko-KR"/>
          </a:p>
        </c:txPr>
        <c:crossAx val="1669865424"/>
        <c:crosses val="autoZero"/>
        <c:auto val="1"/>
        <c:lblAlgn val="ctr"/>
        <c:lblOffset val="100"/>
        <c:noMultiLvlLbl val="0"/>
      </c:catAx>
      <c:valAx>
        <c:axId val="166986542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crossAx val="1669863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8" y="8"/>
            <a:ext cx="2919043" cy="493633"/>
          </a:xfrm>
          <a:prstGeom prst="rect">
            <a:avLst/>
          </a:prstGeom>
        </p:spPr>
        <p:txBody>
          <a:bodyPr vert="horz" lIns="91472" tIns="45737" rIns="91472" bIns="45737" rtlCol="0"/>
          <a:lstStyle>
            <a:lvl1pPr algn="l">
              <a:defRPr sz="1200"/>
            </a:lvl1pPr>
          </a:lstStyle>
          <a:p>
            <a:endParaRPr lang="ko-KR" altLang="en-US">
              <a:latin typeface="Pretendard Medium" panose="02000603000000020004" pitchFamily="50" charset="-127"/>
              <a:ea typeface="Pretendard Medium" panose="0200060300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5137" y="8"/>
            <a:ext cx="2919043" cy="493633"/>
          </a:xfrm>
          <a:prstGeom prst="rect">
            <a:avLst/>
          </a:prstGeom>
        </p:spPr>
        <p:txBody>
          <a:bodyPr vert="horz" lIns="91472" tIns="45737" rIns="91472" bIns="45737" rtlCol="0"/>
          <a:lstStyle>
            <a:lvl1pPr algn="r">
              <a:defRPr sz="1200"/>
            </a:lvl1pPr>
          </a:lstStyle>
          <a:p>
            <a:fld id="{FDE9662A-32E2-43FD-BA73-8644335435D0}" type="datetimeFigureOut">
              <a:rPr lang="ko-KR" altLang="en-US" smtClean="0">
                <a:latin typeface="Pretendard Medium" panose="02000603000000020004" pitchFamily="50" charset="-127"/>
                <a:ea typeface="Pretendard Medium" panose="02000603000000020004" pitchFamily="50" charset="-127"/>
              </a:rPr>
              <a:pPr/>
              <a:t>2026-10-26</a:t>
            </a:fld>
            <a:endParaRPr lang="ko-KR" altLang="en-US">
              <a:latin typeface="Pretendard Medium" panose="02000603000000020004" pitchFamily="50" charset="-127"/>
              <a:ea typeface="Pretendard Medium" panose="0200060300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8" y="9371100"/>
            <a:ext cx="2919043" cy="493633"/>
          </a:xfrm>
          <a:prstGeom prst="rect">
            <a:avLst/>
          </a:prstGeom>
        </p:spPr>
        <p:txBody>
          <a:bodyPr vert="horz" lIns="91472" tIns="45737" rIns="91472" bIns="45737" rtlCol="0" anchor="b"/>
          <a:lstStyle>
            <a:lvl1pPr algn="l">
              <a:defRPr sz="1200"/>
            </a:lvl1pPr>
          </a:lstStyle>
          <a:p>
            <a:endParaRPr lang="ko-KR" altLang="en-US">
              <a:latin typeface="Pretendard Medium" panose="02000603000000020004" pitchFamily="50" charset="-127"/>
              <a:ea typeface="Pretendard Medium" panose="0200060300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5137" y="9371100"/>
            <a:ext cx="2919043" cy="493633"/>
          </a:xfrm>
          <a:prstGeom prst="rect">
            <a:avLst/>
          </a:prstGeom>
        </p:spPr>
        <p:txBody>
          <a:bodyPr vert="horz" lIns="91472" tIns="45737" rIns="91472" bIns="45737" rtlCol="0" anchor="b"/>
          <a:lstStyle>
            <a:lvl1pPr algn="r">
              <a:defRPr sz="1200"/>
            </a:lvl1pPr>
          </a:lstStyle>
          <a:p>
            <a:fld id="{09472005-4C45-45F5-AA7B-860E261FE9AB}" type="slidenum">
              <a:rPr lang="ko-KR" altLang="en-US" smtClean="0">
                <a:latin typeface="Pretendard Medium" panose="02000603000000020004" pitchFamily="50" charset="-127"/>
                <a:ea typeface="Pretendard Medium" panose="02000603000000020004" pitchFamily="50" charset="-127"/>
              </a:rPr>
              <a:pPr/>
              <a:t>‹#›</a:t>
            </a:fld>
            <a:endParaRPr lang="ko-KR" altLang="en-US">
              <a:latin typeface="Pretendard Medium" panose="02000603000000020004" pitchFamily="50" charset="-127"/>
              <a:ea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66872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07" userDrawn="1">
          <p15:clr>
            <a:srgbClr val="F26B43"/>
          </p15:clr>
        </p15:guide>
        <p15:guide id="2" pos="2122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637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E0C8E-48DA-4038-514A-7A348E11A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B2A699-0BAD-D834-36A5-59E576E43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BC8148-0957-C357-34E0-E16812DB3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F9E04D-440E-8A2F-4ACE-242301F83A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48599-69F9-4D53-B483-628C6987F2BC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8613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513A8-4E94-6359-8AA7-9CA78204E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7B7ECA-4C34-5361-43F5-EB659587D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22B206-F54B-A398-40A2-D1397F648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B29FA5-D816-0BFB-A795-350FA335E2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48599-69F9-4D53-B483-628C6987F2BC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4438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F8994-E573-13ED-F56F-FEE5D7E7B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C083C8-5CED-BBF8-A7AD-6D98072400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CB13E0-F076-30EE-99A4-9DE767779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5952DA-3CA4-1461-AF1B-C9C1BB27EF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48599-69F9-4D53-B483-628C6987F2BC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845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065AA-438F-28B9-1DEB-AB798E040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D62CC8-1ABD-8501-9C84-049EFDF1E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28DD5E-1AFA-F366-FE4D-BB4FE8924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9BF752-7EDC-5E98-E49D-8D98317DBE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48599-69F9-4D53-B483-628C6987F2BC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731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098AD-A684-0B19-D62B-7A0CB8617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6C26D5-E608-5055-1FAC-943A54133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830C99-1957-4D97-DF71-E00C797FB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8CB985-3843-4700-6A3B-CBF3BCC188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48599-69F9-4D53-B483-628C6987F2BC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231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2CD71-ADF8-A2CC-A575-C309379EC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6CB088-A5F1-9664-FFB6-8C9C0C72FE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383060-A79D-F2F6-667E-0E42E447F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4B5F80-F48B-728E-A10B-884059F255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48599-69F9-4D53-B483-628C6987F2BC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8074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1436-045E-F066-6D8B-04E402192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2A11ED-05C6-1BA1-E524-6C1E62164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9B7406-0380-16DF-5C65-5DA203BCC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FF3B88-9092-0874-0EA5-DD3AB804D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48599-69F9-4D53-B483-628C6987F2BC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817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3491A-038C-AF37-5D1B-9C02C95CD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D0B839-3871-0E9F-5341-30546817F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26A378-A96D-C07E-739D-EFF52C7B1C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ACAE9F-DE6E-23F1-AAD5-13FC095F8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48599-69F9-4D53-B483-628C6987F2BC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9585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48599-69F9-4D53-B483-628C6987F2BC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35938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7C36F-0831-9BF7-2337-5A3847612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DC509B-37AF-26E5-481D-3103FCE9E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A8EBB0-2C4C-EF76-3ABD-83FD08AD4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74878F-199E-97DD-5680-4CCE64F782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48599-69F9-4D53-B483-628C6987F2BC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11715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75D76-2B03-363F-C2A4-E0FA6482E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406E62-A7F8-239A-B1F9-C3A5C90B8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495245-9CBB-F1BE-DFA7-E4FE2975B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7F3E30-AE08-BDE0-3E67-5B93F2AA93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48599-69F9-4D53-B483-628C6987F2BC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04999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2396D-E200-134D-7491-8B4F77F51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7FEB4D-5073-49BA-727E-BF034280BF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F17D64-6A1C-013D-5CEB-C41D0E432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B4A465-81E0-45FE-E6DF-DBC1111754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48599-69F9-4D53-B483-628C6987F2BC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4200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BF637-9CC5-AAAB-83BA-A81D4C068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FD756D-5016-2A7A-F5FE-07A27DB7B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1BE60FD-754E-E5B8-4AED-37DCB21C6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A9D6EF-D423-5CF7-8E3F-B54593C18F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48599-69F9-4D53-B483-628C6987F2BC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3728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D46FB-487B-89D9-D2ED-F4C487233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5DEDA5-A857-1ED9-5568-3D03B3F045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A0B8F2-8176-B30C-0F5F-CD7B9CF4A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B9EC78-C1A9-632E-5F51-9880821FCA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48599-69F9-4D53-B483-628C6987F2BC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03058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B5381-87A5-D766-AD6E-4A01885A5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5DAA5A-90CA-AA67-7654-C9DD5C15D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C1AF62-A15A-220D-9F81-636732A445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A8E92A-AF47-8B47-ECAC-1D5C501C7E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48599-69F9-4D53-B483-628C6987F2BC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49115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0961C-5FDD-4E98-CBD0-8DAB2E40B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5408B2-E8D2-855A-6F4D-141DC8CEB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93C503-C12A-8292-FD6A-32FE0E4AB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0D6C15-19DA-6D0A-FA46-7C57B1BED4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48599-69F9-4D53-B483-628C6987F2BC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53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094268C-F74B-0C7F-BDB6-CB4227B302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906000" cy="39419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3FADEF-EBAA-9CF6-9937-32F0B5C9DAB9}"/>
              </a:ext>
            </a:extLst>
          </p:cNvPr>
          <p:cNvSpPr txBox="1"/>
          <p:nvPr userDrawn="1"/>
        </p:nvSpPr>
        <p:spPr>
          <a:xfrm>
            <a:off x="888996" y="930275"/>
            <a:ext cx="2243691" cy="294761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  <a:spcBef>
                <a:spcPct val="10000"/>
              </a:spcBef>
              <a:tabLst>
                <a:tab pos="6440081" algn="l"/>
                <a:tab pos="8194158" algn="r"/>
              </a:tabLst>
            </a:pPr>
            <a:r>
              <a:rPr lang="en-US" altLang="ko-KR" sz="1250" b="1" spc="-7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Aptos" panose="020B0004020202020204" pitchFamily="34" charset="0"/>
                <a:ea typeface="KoPub돋움체 Medium" panose="00000600000000000000" pitchFamily="2" charset="-127"/>
                <a:cs typeface="Pretendard" panose="02000503000000020004" pitchFamily="50" charset="-127"/>
              </a:rPr>
              <a:t>MSDS 6306: Doing Data Science</a:t>
            </a:r>
            <a:endParaRPr lang="ko-KR" altLang="en-US" sz="1250" b="1" spc="-7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Pretendard" panose="020005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C212C0-BC67-3A59-E189-4E296663F5BA}"/>
              </a:ext>
            </a:extLst>
          </p:cNvPr>
          <p:cNvSpPr txBox="1"/>
          <p:nvPr userDrawn="1"/>
        </p:nvSpPr>
        <p:spPr>
          <a:xfrm>
            <a:off x="859656" y="1135224"/>
            <a:ext cx="394729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0" b="1" spc="0" baseline="0" dirty="0">
                <a:solidFill>
                  <a:schemeClr val="tx2"/>
                </a:solidFill>
                <a:latin typeface="Aptos" panose="020B0004020202020204" pitchFamily="34" charset="0"/>
                <a:ea typeface="KoPub돋움체 Medium" panose="00000600000000000000" pitchFamily="2" charset="-127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2439906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3">
            <a:extLst>
              <a:ext uri="{FF2B5EF4-FFF2-40B4-BE49-F238E27FC236}">
                <a16:creationId xmlns:a16="http://schemas.microsoft.com/office/drawing/2014/main" id="{45AEFF12-7AAD-4E4A-90C9-6D46ADC66C79}"/>
              </a:ext>
            </a:extLst>
          </p:cNvPr>
          <p:cNvSpPr/>
          <p:nvPr userDrawn="1"/>
        </p:nvSpPr>
        <p:spPr bwMode="gray">
          <a:xfrm>
            <a:off x="4771067" y="6452103"/>
            <a:ext cx="311113" cy="280987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lIns="72000" tIns="72000" rIns="0" bIns="0"/>
          <a:lstStyle/>
          <a:p>
            <a:pPr algn="ctr">
              <a:spcBef>
                <a:spcPct val="40000"/>
              </a:spcBef>
              <a:defRPr/>
            </a:pPr>
            <a:fld id="{6BA71C0A-9F0F-41ED-AE97-DBF05B351E59}" type="slidenum">
              <a:rPr lang="en-GB" sz="1000">
                <a:ln>
                  <a:solidFill>
                    <a:srgbClr val="A6A6A6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</a:rPr>
              <a:pPr algn="ctr">
                <a:spcBef>
                  <a:spcPct val="40000"/>
                </a:spcBef>
                <a:defRPr/>
              </a:pPr>
              <a:t>‹#›</a:t>
            </a:fld>
            <a:endParaRPr lang="en-GB" sz="1000">
              <a:ln>
                <a:solidFill>
                  <a:srgbClr val="A6A6A6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1146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7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6282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8950" y="451575"/>
            <a:ext cx="8918244" cy="723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8951" y="1422400"/>
            <a:ext cx="8918242" cy="460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4163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2" r:id="rId1"/>
    <p:sldLayoutId id="2147484273" r:id="rId2"/>
    <p:sldLayoutId id="2147484275" r:id="rId3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2400" kern="1200">
          <a:ln>
            <a:solidFill>
              <a:schemeClr val="accent1">
                <a:alpha val="0"/>
              </a:schemeClr>
            </a:solidFill>
          </a:ln>
          <a:solidFill>
            <a:schemeClr val="tx2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000" b="1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00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2pPr>
      <a:lvl3pPr marL="216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—"/>
        <a:defRPr sz="100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3pPr>
      <a:lvl4pPr marL="360000" indent="-14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00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4pPr>
      <a:lvl5pPr marL="576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—"/>
        <a:defRPr sz="1000" kern="1200" baseline="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5pPr>
      <a:lvl6pPr marL="10980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371600" indent="-284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—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645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93" userDrawn="1">
          <p15:clr>
            <a:srgbClr val="F26B43"/>
          </p15:clr>
        </p15:guide>
        <p15:guide id="2" pos="308" userDrawn="1">
          <p15:clr>
            <a:srgbClr val="F26B43"/>
          </p15:clr>
        </p15:guide>
        <p15:guide id="3" pos="5932" userDrawn="1">
          <p15:clr>
            <a:srgbClr val="F26B43"/>
          </p15:clr>
        </p15:guide>
        <p15:guide id="4" orient="horz" pos="595" userDrawn="1">
          <p15:clr>
            <a:srgbClr val="F26B43"/>
          </p15:clr>
        </p15:guide>
        <p15:guide id="6" orient="horz" pos="279" userDrawn="1">
          <p15:clr>
            <a:srgbClr val="F26B43"/>
          </p15:clr>
        </p15:guide>
        <p15:guide id="7" orient="horz" pos="896" userDrawn="1">
          <p15:clr>
            <a:srgbClr val="F26B43"/>
          </p15:clr>
        </p15:guide>
        <p15:guide id="8" pos="3061" userDrawn="1">
          <p15:clr>
            <a:srgbClr val="F26B43"/>
          </p15:clr>
        </p15:guide>
        <p15:guide id="9" pos="3179" userDrawn="1">
          <p15:clr>
            <a:srgbClr val="F26B43"/>
          </p15:clr>
        </p15:guide>
        <p15:guide id="10" orient="horz" pos="102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26" Type="http://schemas.openxmlformats.org/officeDocument/2006/relationships/image" Target="../media/image26.sv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sv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24" Type="http://schemas.openxmlformats.org/officeDocument/2006/relationships/image" Target="../media/image24.sv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svg"/><Relationship Id="rId10" Type="http://schemas.openxmlformats.org/officeDocument/2006/relationships/image" Target="../media/image10.svg"/><Relationship Id="rId19" Type="http://schemas.openxmlformats.org/officeDocument/2006/relationships/image" Target="../media/image19.pn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Relationship Id="rId22" Type="http://schemas.openxmlformats.org/officeDocument/2006/relationships/image" Target="../media/image22.svg"/><Relationship Id="rId27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image" Target="../media/image29.png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3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chart" Target="../charts/chart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image" Target="../media/image3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3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9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0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36.png"/><Relationship Id="rId4" Type="http://schemas.openxmlformats.org/officeDocument/2006/relationships/image" Target="../media/image6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38.png"/><Relationship Id="rId4" Type="http://schemas.openxmlformats.org/officeDocument/2006/relationships/image" Target="../media/image6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6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90194594-A605-E6FE-BDAD-45855542E2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712"/>
          <a:stretch>
            <a:fillRect/>
          </a:stretch>
        </p:blipFill>
        <p:spPr>
          <a:xfrm>
            <a:off x="1" y="1628774"/>
            <a:ext cx="9906000" cy="5229225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825917" y="1826170"/>
            <a:ext cx="6939654" cy="1417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" hangingPunct="0">
              <a:lnSpc>
                <a:spcPct val="130000"/>
              </a:lnSpc>
              <a:spcBef>
                <a:spcPct val="50000"/>
              </a:spcBef>
              <a:buClr>
                <a:srgbClr val="1F497D"/>
              </a:buClr>
            </a:pPr>
            <a:r>
              <a:rPr lang="en-US" altLang="ko-KR" sz="3600" b="1" spc="-265" dirty="0">
                <a:solidFill>
                  <a:schemeClr val="tx2"/>
                </a:solidFill>
                <a:latin typeface="Aptos" panose="020B0004020202020204" pitchFamily="34" charset="0"/>
                <a:ea typeface="HG꼬딕씨-삼정KPMG 60g" panose="02020603020101020101" pitchFamily="18" charset="0"/>
                <a:cs typeface="Malgun Gothic Semilight" panose="020B0502040204020203" pitchFamily="50" charset="-127"/>
              </a:rPr>
              <a:t>Employee Attrition Analysis &amp; Prediction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870723" y="4772555"/>
            <a:ext cx="5100399" cy="1124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ko-KR" sz="1411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Aptos" panose="020B0004020202020204" pitchFamily="34" charset="0"/>
                <a:ea typeface="HG꼬딕씨-삼정KPMG 40g" panose="02020603020101020101" pitchFamily="18" charset="0"/>
              </a:rPr>
              <a:t>2026.</a:t>
            </a:r>
            <a:r>
              <a:rPr lang="ko-KR" altLang="en-US" sz="1411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Aptos" panose="020B0004020202020204" pitchFamily="34" charset="0"/>
                <a:ea typeface="HG꼬딕씨-삼정KPMG 40g" panose="02020603020101020101" pitchFamily="18" charset="0"/>
              </a:rPr>
              <a:t> </a:t>
            </a:r>
            <a:r>
              <a:rPr lang="en-US" altLang="ko-KR" sz="1411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Aptos" panose="020B0004020202020204" pitchFamily="34" charset="0"/>
                <a:ea typeface="HG꼬딕씨-삼정KPMG 40g" panose="02020603020101020101" pitchFamily="18" charset="0"/>
              </a:rPr>
              <a:t>10.</a:t>
            </a:r>
            <a:r>
              <a:rPr lang="ko-KR" altLang="en-US" sz="1411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Aptos" panose="020B0004020202020204" pitchFamily="34" charset="0"/>
                <a:ea typeface="HG꼬딕씨-삼정KPMG 40g" panose="02020603020101020101" pitchFamily="18" charset="0"/>
              </a:rPr>
              <a:t> </a:t>
            </a:r>
            <a:r>
              <a:rPr lang="en-US" altLang="ko-KR" sz="1411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Aptos" panose="020B0004020202020204" pitchFamily="34" charset="0"/>
                <a:ea typeface="HG꼬딕씨-삼정KPMG 40g" panose="02020603020101020101" pitchFamily="18" charset="0"/>
              </a:rPr>
              <a:t>25</a:t>
            </a: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ko-KR" sz="1411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Aptos" panose="020B0004020202020204" pitchFamily="34" charset="0"/>
                <a:ea typeface="HG꼬딕씨-삼정KPMG 40g" panose="02020603020101020101" pitchFamily="18" charset="0"/>
              </a:rPr>
              <a:t>Yongjoon Cho</a:t>
            </a:r>
          </a:p>
          <a:p>
            <a:pPr>
              <a:lnSpc>
                <a:spcPct val="150000"/>
              </a:lnSpc>
              <a:spcBef>
                <a:spcPct val="20000"/>
              </a:spcBef>
            </a:pPr>
            <a:endParaRPr lang="en-US" altLang="ko-KR" sz="1411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Aptos" panose="020B0004020202020204" pitchFamily="34" charset="0"/>
              <a:ea typeface="HG꼬딕씨-삼정KPMG 40g" panose="02020603020101020101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1640A9-00F6-5179-4772-8351170C595B}"/>
              </a:ext>
            </a:extLst>
          </p:cNvPr>
          <p:cNvSpPr txBox="1"/>
          <p:nvPr/>
        </p:nvSpPr>
        <p:spPr>
          <a:xfrm>
            <a:off x="825917" y="1334014"/>
            <a:ext cx="2243691" cy="294761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  <a:spcBef>
                <a:spcPct val="10000"/>
              </a:spcBef>
              <a:tabLst>
                <a:tab pos="6440081" algn="l"/>
                <a:tab pos="8194158" algn="r"/>
              </a:tabLst>
            </a:pPr>
            <a:r>
              <a:rPr lang="en-US" altLang="ko-KR" sz="1250" b="1" spc="-7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Aptos" panose="020B0004020202020204" pitchFamily="34" charset="0"/>
                <a:ea typeface="KoPub돋움체 Medium" panose="00000600000000000000" pitchFamily="2" charset="-127"/>
                <a:cs typeface="Pretendard" panose="02000503000000020004" pitchFamily="50" charset="-127"/>
              </a:rPr>
              <a:t>MSDS 6306: Doing Data Science</a:t>
            </a:r>
            <a:endParaRPr lang="ko-KR" altLang="en-US" sz="1250" b="1" spc="-7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Pretendard" panose="0200050300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5546EF-C221-07B9-99E6-A0BFD6D9C367}"/>
              </a:ext>
            </a:extLst>
          </p:cNvPr>
          <p:cNvSpPr txBox="1"/>
          <p:nvPr/>
        </p:nvSpPr>
        <p:spPr>
          <a:xfrm>
            <a:off x="825917" y="3319374"/>
            <a:ext cx="1021113" cy="295402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  <a:spcBef>
                <a:spcPct val="10000"/>
              </a:spcBef>
              <a:tabLst>
                <a:tab pos="6440081" algn="l"/>
                <a:tab pos="8194158" algn="r"/>
              </a:tabLst>
            </a:pPr>
            <a:r>
              <a:rPr lang="en-US" altLang="ko-KR" sz="1250" b="1" spc="-7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Aptos" panose="020B0004020202020204" pitchFamily="34" charset="0"/>
                <a:ea typeface="KoPub돋움체 Medium" panose="00000600000000000000" pitchFamily="2" charset="-127"/>
                <a:cs typeface="Pretendard" panose="02000503000000020004" pitchFamily="50" charset="-127"/>
              </a:rPr>
              <a:t>Case</a:t>
            </a:r>
            <a:r>
              <a:rPr lang="ko-KR" altLang="en-US" sz="1250" b="1" spc="-7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Aptos" panose="020B0004020202020204" pitchFamily="34" charset="0"/>
                <a:ea typeface="KoPub돋움체 Medium" panose="00000600000000000000" pitchFamily="2" charset="-127"/>
                <a:cs typeface="Pretendard" panose="02000503000000020004" pitchFamily="50" charset="-127"/>
              </a:rPr>
              <a:t> </a:t>
            </a:r>
            <a:r>
              <a:rPr lang="en-US" altLang="ko-KR" sz="1250" b="1" spc="-7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Aptos" panose="020B0004020202020204" pitchFamily="34" charset="0"/>
                <a:ea typeface="KoPub돋움체 Medium" panose="00000600000000000000" pitchFamily="2" charset="-127"/>
                <a:cs typeface="Pretendard" panose="02000503000000020004" pitchFamily="50" charset="-127"/>
              </a:rPr>
              <a:t>Study</a:t>
            </a:r>
            <a:r>
              <a:rPr lang="ko-KR" altLang="en-US" sz="1250" b="1" spc="-7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Aptos" panose="020B0004020202020204" pitchFamily="34" charset="0"/>
                <a:ea typeface="KoPub돋움체 Medium" panose="00000600000000000000" pitchFamily="2" charset="-127"/>
                <a:cs typeface="Pretendard" panose="02000503000000020004" pitchFamily="50" charset="-127"/>
              </a:rPr>
              <a:t> </a:t>
            </a:r>
            <a:r>
              <a:rPr lang="en-US" altLang="ko-KR" sz="1250" b="1" spc="-7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Aptos" panose="020B0004020202020204" pitchFamily="34" charset="0"/>
                <a:ea typeface="KoPub돋움체 Medium" panose="00000600000000000000" pitchFamily="2" charset="-127"/>
                <a:cs typeface="Pretendard" panose="02000503000000020004" pitchFamily="50" charset="-127"/>
              </a:rPr>
              <a:t>1</a:t>
            </a:r>
            <a:endParaRPr lang="ko-KR" altLang="en-US" sz="1250" b="1" spc="-7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4764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2CA66-A1CA-6209-29CF-28C58200C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3">
            <a:extLst>
              <a:ext uri="{FF2B5EF4-FFF2-40B4-BE49-F238E27FC236}">
                <a16:creationId xmlns:a16="http://schemas.microsoft.com/office/drawing/2014/main" id="{D961C457-7243-4DCE-18B2-5E4EA0410E1D}"/>
              </a:ext>
            </a:extLst>
          </p:cNvPr>
          <p:cNvGraphicFramePr>
            <a:graphicFrameLocks noGrp="1"/>
          </p:cNvGraphicFramePr>
          <p:nvPr/>
        </p:nvGraphicFramePr>
        <p:xfrm>
          <a:off x="1004207" y="2534970"/>
          <a:ext cx="7571977" cy="2687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6733">
                  <a:extLst>
                    <a:ext uri="{9D8B030D-6E8A-4147-A177-3AD203B41FA5}">
                      <a16:colId xmlns:a16="http://schemas.microsoft.com/office/drawing/2014/main" val="694772892"/>
                    </a:ext>
                  </a:extLst>
                </a:gridCol>
                <a:gridCol w="6975244">
                  <a:extLst>
                    <a:ext uri="{9D8B030D-6E8A-4147-A177-3AD203B41FA5}">
                      <a16:colId xmlns:a16="http://schemas.microsoft.com/office/drawing/2014/main" val="1726739505"/>
                    </a:ext>
                  </a:extLst>
                </a:gridCol>
              </a:tblGrid>
              <a:tr h="537497">
                <a:tc>
                  <a:txBody>
                    <a:bodyPr/>
                    <a:lstStyle/>
                    <a:p>
                      <a:pPr marL="12700" marR="5080" lvl="1" indent="-185738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Ⅰ.</a:t>
                      </a:r>
                      <a:endParaRPr lang="ko-KR" altLang="en-US" sz="2000" b="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700" marR="5080" lvl="1" indent="-185738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Dataset Overview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612474"/>
                  </a:ext>
                </a:extLst>
              </a:tr>
              <a:tr h="537497">
                <a:tc>
                  <a:txBody>
                    <a:bodyPr/>
                    <a:lstStyle/>
                    <a:p>
                      <a:pPr marL="12700" marR="5080" lvl="1" indent="-185738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Ⅱ.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700" marR="5080" lvl="1" indent="-185738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Exploratory Data Analysis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8481722"/>
                  </a:ext>
                </a:extLst>
              </a:tr>
              <a:tr h="537497">
                <a:tc>
                  <a:txBody>
                    <a:bodyPr/>
                    <a:lstStyle/>
                    <a:p>
                      <a:pPr marL="12700" marR="5080" lvl="1" indent="-185738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III.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700" marR="5080" lvl="1" indent="-185738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Predictive Modeling (KNN &amp; Naive Bayes)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1305908"/>
                  </a:ext>
                </a:extLst>
              </a:tr>
              <a:tr h="537497">
                <a:tc>
                  <a:txBody>
                    <a:bodyPr/>
                    <a:lstStyle/>
                    <a:p>
                      <a:pPr marL="12700" marR="5080" lvl="1" indent="-185738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IV.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700" marR="5080" lvl="1" indent="-185738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Conclusions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3546442"/>
                  </a:ext>
                </a:extLst>
              </a:tr>
              <a:tr h="537497">
                <a:tc>
                  <a:txBody>
                    <a:bodyPr/>
                    <a:lstStyle/>
                    <a:p>
                      <a:pPr marL="12700" marR="5080" lvl="1" indent="-185738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V.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700" marR="5080" lvl="1" indent="-185738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Appendix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3833752"/>
                  </a:ext>
                </a:extLst>
              </a:tr>
            </a:tbl>
          </a:graphicData>
        </a:graphic>
      </p:graphicFrame>
      <p:sp>
        <p:nvSpPr>
          <p:cNvPr id="3" name="Freeform 48">
            <a:extLst>
              <a:ext uri="{FF2B5EF4-FFF2-40B4-BE49-F238E27FC236}">
                <a16:creationId xmlns:a16="http://schemas.microsoft.com/office/drawing/2014/main" id="{4897D2BA-86A4-33CB-EAC3-FBDB27BC75F5}"/>
              </a:ext>
            </a:extLst>
          </p:cNvPr>
          <p:cNvSpPr>
            <a:spLocks noChangeAspect="1"/>
          </p:cNvSpPr>
          <p:nvPr/>
        </p:nvSpPr>
        <p:spPr bwMode="auto">
          <a:xfrm>
            <a:off x="739362" y="2470487"/>
            <a:ext cx="529689" cy="452901"/>
          </a:xfrm>
          <a:custGeom>
            <a:avLst/>
            <a:gdLst/>
            <a:ahLst/>
            <a:cxnLst>
              <a:cxn ang="0">
                <a:pos x="207" y="2051"/>
              </a:cxn>
              <a:cxn ang="0">
                <a:pos x="502" y="2433"/>
              </a:cxn>
              <a:cxn ang="0">
                <a:pos x="858" y="2991"/>
              </a:cxn>
              <a:cxn ang="0">
                <a:pos x="1017" y="3151"/>
              </a:cxn>
              <a:cxn ang="0">
                <a:pos x="1189" y="3228"/>
              </a:cxn>
              <a:cxn ang="0">
                <a:pos x="1367" y="3299"/>
              </a:cxn>
              <a:cxn ang="0">
                <a:pos x="1698" y="3417"/>
              </a:cxn>
              <a:cxn ang="0">
                <a:pos x="1841" y="3460"/>
              </a:cxn>
              <a:cxn ang="0">
                <a:pos x="1884" y="3348"/>
              </a:cxn>
              <a:cxn ang="0">
                <a:pos x="2042" y="3108"/>
              </a:cxn>
              <a:cxn ang="0">
                <a:pos x="2181" y="2716"/>
              </a:cxn>
              <a:cxn ang="0">
                <a:pos x="2374" y="2396"/>
              </a:cxn>
              <a:cxn ang="0">
                <a:pos x="2501" y="2216"/>
              </a:cxn>
              <a:cxn ang="0">
                <a:pos x="2634" y="2126"/>
              </a:cxn>
              <a:cxn ang="0">
                <a:pos x="2725" y="2021"/>
              </a:cxn>
              <a:cxn ang="0">
                <a:pos x="2985" y="1743"/>
              </a:cxn>
              <a:cxn ang="0">
                <a:pos x="3350" y="1385"/>
              </a:cxn>
              <a:cxn ang="0">
                <a:pos x="3764" y="1076"/>
              </a:cxn>
              <a:cxn ang="0">
                <a:pos x="3975" y="956"/>
              </a:cxn>
              <a:cxn ang="0">
                <a:pos x="4166" y="801"/>
              </a:cxn>
              <a:cxn ang="0">
                <a:pos x="4276" y="746"/>
              </a:cxn>
              <a:cxn ang="0">
                <a:pos x="4452" y="590"/>
              </a:cxn>
              <a:cxn ang="0">
                <a:pos x="4597" y="435"/>
              </a:cxn>
              <a:cxn ang="0">
                <a:pos x="4745" y="341"/>
              </a:cxn>
              <a:cxn ang="0">
                <a:pos x="4873" y="280"/>
              </a:cxn>
              <a:cxn ang="0">
                <a:pos x="4849" y="246"/>
              </a:cxn>
              <a:cxn ang="0">
                <a:pos x="4761" y="283"/>
              </a:cxn>
              <a:cxn ang="0">
                <a:pos x="4662" y="363"/>
              </a:cxn>
              <a:cxn ang="0">
                <a:pos x="4441" y="517"/>
              </a:cxn>
              <a:cxn ang="0">
                <a:pos x="4314" y="546"/>
              </a:cxn>
              <a:cxn ang="0">
                <a:pos x="3938" y="816"/>
              </a:cxn>
              <a:cxn ang="0">
                <a:pos x="4014" y="708"/>
              </a:cxn>
              <a:cxn ang="0">
                <a:pos x="4113" y="626"/>
              </a:cxn>
              <a:cxn ang="0">
                <a:pos x="4233" y="505"/>
              </a:cxn>
              <a:cxn ang="0">
                <a:pos x="4255" y="426"/>
              </a:cxn>
              <a:cxn ang="0">
                <a:pos x="4389" y="289"/>
              </a:cxn>
              <a:cxn ang="0">
                <a:pos x="4204" y="343"/>
              </a:cxn>
              <a:cxn ang="0">
                <a:pos x="4366" y="200"/>
              </a:cxn>
              <a:cxn ang="0">
                <a:pos x="4322" y="169"/>
              </a:cxn>
              <a:cxn ang="0">
                <a:pos x="4208" y="279"/>
              </a:cxn>
              <a:cxn ang="0">
                <a:pos x="4203" y="163"/>
              </a:cxn>
              <a:cxn ang="0">
                <a:pos x="4289" y="48"/>
              </a:cxn>
              <a:cxn ang="0">
                <a:pos x="4191" y="26"/>
              </a:cxn>
              <a:cxn ang="0">
                <a:pos x="4085" y="136"/>
              </a:cxn>
              <a:cxn ang="0">
                <a:pos x="3828" y="287"/>
              </a:cxn>
              <a:cxn ang="0">
                <a:pos x="3122" y="783"/>
              </a:cxn>
              <a:cxn ang="0">
                <a:pos x="3124" y="739"/>
              </a:cxn>
              <a:cxn ang="0">
                <a:pos x="3171" y="677"/>
              </a:cxn>
              <a:cxn ang="0">
                <a:pos x="3862" y="221"/>
              </a:cxn>
              <a:cxn ang="0">
                <a:pos x="3913" y="142"/>
              </a:cxn>
              <a:cxn ang="0">
                <a:pos x="3668" y="242"/>
              </a:cxn>
              <a:cxn ang="0">
                <a:pos x="3225" y="529"/>
              </a:cxn>
              <a:cxn ang="0">
                <a:pos x="2781" y="836"/>
              </a:cxn>
              <a:cxn ang="0">
                <a:pos x="2153" y="1280"/>
              </a:cxn>
              <a:cxn ang="0">
                <a:pos x="1865" y="1621"/>
              </a:cxn>
              <a:cxn ang="0">
                <a:pos x="1577" y="1928"/>
              </a:cxn>
              <a:cxn ang="0">
                <a:pos x="1301" y="2011"/>
              </a:cxn>
              <a:cxn ang="0">
                <a:pos x="1036" y="1486"/>
              </a:cxn>
              <a:cxn ang="0">
                <a:pos x="740" y="1512"/>
              </a:cxn>
              <a:cxn ang="0">
                <a:pos x="512" y="1607"/>
              </a:cxn>
              <a:cxn ang="0">
                <a:pos x="237" y="1696"/>
              </a:cxn>
            </a:cxnLst>
            <a:rect l="0" t="0" r="r" b="b"/>
            <a:pathLst>
              <a:path w="4933" h="3474">
                <a:moveTo>
                  <a:pt x="0" y="1838"/>
                </a:moveTo>
                <a:lnTo>
                  <a:pt x="12" y="1853"/>
                </a:lnTo>
                <a:lnTo>
                  <a:pt x="25" y="1869"/>
                </a:lnTo>
                <a:lnTo>
                  <a:pt x="38" y="1884"/>
                </a:lnTo>
                <a:lnTo>
                  <a:pt x="53" y="1900"/>
                </a:lnTo>
                <a:lnTo>
                  <a:pt x="68" y="1914"/>
                </a:lnTo>
                <a:lnTo>
                  <a:pt x="83" y="1931"/>
                </a:lnTo>
                <a:lnTo>
                  <a:pt x="100" y="1946"/>
                </a:lnTo>
                <a:lnTo>
                  <a:pt x="116" y="1960"/>
                </a:lnTo>
                <a:lnTo>
                  <a:pt x="132" y="1976"/>
                </a:lnTo>
                <a:lnTo>
                  <a:pt x="148" y="1990"/>
                </a:lnTo>
                <a:lnTo>
                  <a:pt x="162" y="2005"/>
                </a:lnTo>
                <a:lnTo>
                  <a:pt x="179" y="2021"/>
                </a:lnTo>
                <a:lnTo>
                  <a:pt x="193" y="2036"/>
                </a:lnTo>
                <a:lnTo>
                  <a:pt x="207" y="2051"/>
                </a:lnTo>
                <a:lnTo>
                  <a:pt x="220" y="2066"/>
                </a:lnTo>
                <a:lnTo>
                  <a:pt x="231" y="2082"/>
                </a:lnTo>
                <a:lnTo>
                  <a:pt x="245" y="2110"/>
                </a:lnTo>
                <a:lnTo>
                  <a:pt x="262" y="2133"/>
                </a:lnTo>
                <a:lnTo>
                  <a:pt x="282" y="2151"/>
                </a:lnTo>
                <a:lnTo>
                  <a:pt x="302" y="2168"/>
                </a:lnTo>
                <a:lnTo>
                  <a:pt x="323" y="2184"/>
                </a:lnTo>
                <a:lnTo>
                  <a:pt x="343" y="2202"/>
                </a:lnTo>
                <a:lnTo>
                  <a:pt x="361" y="2224"/>
                </a:lnTo>
                <a:lnTo>
                  <a:pt x="376" y="2251"/>
                </a:lnTo>
                <a:lnTo>
                  <a:pt x="392" y="2280"/>
                </a:lnTo>
                <a:lnTo>
                  <a:pt x="416" y="2314"/>
                </a:lnTo>
                <a:lnTo>
                  <a:pt x="443" y="2352"/>
                </a:lnTo>
                <a:lnTo>
                  <a:pt x="472" y="2393"/>
                </a:lnTo>
                <a:lnTo>
                  <a:pt x="502" y="2433"/>
                </a:lnTo>
                <a:lnTo>
                  <a:pt x="529" y="2470"/>
                </a:lnTo>
                <a:lnTo>
                  <a:pt x="552" y="2504"/>
                </a:lnTo>
                <a:lnTo>
                  <a:pt x="571" y="2532"/>
                </a:lnTo>
                <a:lnTo>
                  <a:pt x="582" y="2555"/>
                </a:lnTo>
                <a:lnTo>
                  <a:pt x="599" y="2583"/>
                </a:lnTo>
                <a:lnTo>
                  <a:pt x="618" y="2617"/>
                </a:lnTo>
                <a:lnTo>
                  <a:pt x="640" y="2652"/>
                </a:lnTo>
                <a:lnTo>
                  <a:pt x="665" y="2693"/>
                </a:lnTo>
                <a:lnTo>
                  <a:pt x="691" y="2734"/>
                </a:lnTo>
                <a:lnTo>
                  <a:pt x="720" y="2778"/>
                </a:lnTo>
                <a:lnTo>
                  <a:pt x="750" y="2822"/>
                </a:lnTo>
                <a:lnTo>
                  <a:pt x="777" y="2866"/>
                </a:lnTo>
                <a:lnTo>
                  <a:pt x="806" y="2910"/>
                </a:lnTo>
                <a:lnTo>
                  <a:pt x="833" y="2952"/>
                </a:lnTo>
                <a:lnTo>
                  <a:pt x="858" y="2991"/>
                </a:lnTo>
                <a:lnTo>
                  <a:pt x="881" y="3027"/>
                </a:lnTo>
                <a:lnTo>
                  <a:pt x="900" y="3059"/>
                </a:lnTo>
                <a:lnTo>
                  <a:pt x="917" y="3088"/>
                </a:lnTo>
                <a:lnTo>
                  <a:pt x="929" y="3110"/>
                </a:lnTo>
                <a:lnTo>
                  <a:pt x="940" y="3112"/>
                </a:lnTo>
                <a:lnTo>
                  <a:pt x="950" y="3113"/>
                </a:lnTo>
                <a:lnTo>
                  <a:pt x="960" y="3115"/>
                </a:lnTo>
                <a:lnTo>
                  <a:pt x="969" y="3117"/>
                </a:lnTo>
                <a:lnTo>
                  <a:pt x="980" y="3117"/>
                </a:lnTo>
                <a:lnTo>
                  <a:pt x="991" y="3120"/>
                </a:lnTo>
                <a:lnTo>
                  <a:pt x="1000" y="3121"/>
                </a:lnTo>
                <a:lnTo>
                  <a:pt x="1010" y="3123"/>
                </a:lnTo>
                <a:lnTo>
                  <a:pt x="1012" y="3133"/>
                </a:lnTo>
                <a:lnTo>
                  <a:pt x="1015" y="3142"/>
                </a:lnTo>
                <a:lnTo>
                  <a:pt x="1017" y="3151"/>
                </a:lnTo>
                <a:lnTo>
                  <a:pt x="1019" y="3162"/>
                </a:lnTo>
                <a:lnTo>
                  <a:pt x="1029" y="3162"/>
                </a:lnTo>
                <a:lnTo>
                  <a:pt x="1037" y="3164"/>
                </a:lnTo>
                <a:lnTo>
                  <a:pt x="1046" y="3165"/>
                </a:lnTo>
                <a:lnTo>
                  <a:pt x="1055" y="3166"/>
                </a:lnTo>
                <a:lnTo>
                  <a:pt x="1064" y="3169"/>
                </a:lnTo>
                <a:lnTo>
                  <a:pt x="1073" y="3170"/>
                </a:lnTo>
                <a:lnTo>
                  <a:pt x="1083" y="3171"/>
                </a:lnTo>
                <a:lnTo>
                  <a:pt x="1091" y="3172"/>
                </a:lnTo>
                <a:lnTo>
                  <a:pt x="1108" y="3182"/>
                </a:lnTo>
                <a:lnTo>
                  <a:pt x="1125" y="3193"/>
                </a:lnTo>
                <a:lnTo>
                  <a:pt x="1141" y="3201"/>
                </a:lnTo>
                <a:lnTo>
                  <a:pt x="1156" y="3210"/>
                </a:lnTo>
                <a:lnTo>
                  <a:pt x="1172" y="3220"/>
                </a:lnTo>
                <a:lnTo>
                  <a:pt x="1189" y="3228"/>
                </a:lnTo>
                <a:lnTo>
                  <a:pt x="1206" y="3237"/>
                </a:lnTo>
                <a:lnTo>
                  <a:pt x="1222" y="3245"/>
                </a:lnTo>
                <a:lnTo>
                  <a:pt x="1233" y="3246"/>
                </a:lnTo>
                <a:lnTo>
                  <a:pt x="1244" y="3248"/>
                </a:lnTo>
                <a:lnTo>
                  <a:pt x="1255" y="3250"/>
                </a:lnTo>
                <a:lnTo>
                  <a:pt x="1267" y="3251"/>
                </a:lnTo>
                <a:lnTo>
                  <a:pt x="1278" y="3251"/>
                </a:lnTo>
                <a:lnTo>
                  <a:pt x="1289" y="3252"/>
                </a:lnTo>
                <a:lnTo>
                  <a:pt x="1302" y="3253"/>
                </a:lnTo>
                <a:lnTo>
                  <a:pt x="1313" y="3253"/>
                </a:lnTo>
                <a:lnTo>
                  <a:pt x="1321" y="3264"/>
                </a:lnTo>
                <a:lnTo>
                  <a:pt x="1330" y="3276"/>
                </a:lnTo>
                <a:lnTo>
                  <a:pt x="1340" y="3288"/>
                </a:lnTo>
                <a:lnTo>
                  <a:pt x="1348" y="3297"/>
                </a:lnTo>
                <a:lnTo>
                  <a:pt x="1367" y="3299"/>
                </a:lnTo>
                <a:lnTo>
                  <a:pt x="1388" y="3301"/>
                </a:lnTo>
                <a:lnTo>
                  <a:pt x="1407" y="3303"/>
                </a:lnTo>
                <a:lnTo>
                  <a:pt x="1427" y="3303"/>
                </a:lnTo>
                <a:lnTo>
                  <a:pt x="1448" y="3305"/>
                </a:lnTo>
                <a:lnTo>
                  <a:pt x="1467" y="3305"/>
                </a:lnTo>
                <a:lnTo>
                  <a:pt x="1487" y="3307"/>
                </a:lnTo>
                <a:lnTo>
                  <a:pt x="1507" y="3308"/>
                </a:lnTo>
                <a:lnTo>
                  <a:pt x="1531" y="3321"/>
                </a:lnTo>
                <a:lnTo>
                  <a:pt x="1552" y="3334"/>
                </a:lnTo>
                <a:lnTo>
                  <a:pt x="1577" y="3348"/>
                </a:lnTo>
                <a:lnTo>
                  <a:pt x="1600" y="3361"/>
                </a:lnTo>
                <a:lnTo>
                  <a:pt x="1625" y="3377"/>
                </a:lnTo>
                <a:lnTo>
                  <a:pt x="1649" y="3390"/>
                </a:lnTo>
                <a:lnTo>
                  <a:pt x="1673" y="3404"/>
                </a:lnTo>
                <a:lnTo>
                  <a:pt x="1698" y="3417"/>
                </a:lnTo>
                <a:lnTo>
                  <a:pt x="1707" y="3417"/>
                </a:lnTo>
                <a:lnTo>
                  <a:pt x="1717" y="3417"/>
                </a:lnTo>
                <a:lnTo>
                  <a:pt x="1727" y="3417"/>
                </a:lnTo>
                <a:lnTo>
                  <a:pt x="1738" y="3417"/>
                </a:lnTo>
                <a:lnTo>
                  <a:pt x="1748" y="3417"/>
                </a:lnTo>
                <a:lnTo>
                  <a:pt x="1757" y="3417"/>
                </a:lnTo>
                <a:lnTo>
                  <a:pt x="1768" y="3417"/>
                </a:lnTo>
                <a:lnTo>
                  <a:pt x="1778" y="3417"/>
                </a:lnTo>
                <a:lnTo>
                  <a:pt x="1786" y="3426"/>
                </a:lnTo>
                <a:lnTo>
                  <a:pt x="1796" y="3432"/>
                </a:lnTo>
                <a:lnTo>
                  <a:pt x="1806" y="3438"/>
                </a:lnTo>
                <a:lnTo>
                  <a:pt x="1815" y="3444"/>
                </a:lnTo>
                <a:lnTo>
                  <a:pt x="1823" y="3450"/>
                </a:lnTo>
                <a:lnTo>
                  <a:pt x="1832" y="3454"/>
                </a:lnTo>
                <a:lnTo>
                  <a:pt x="1841" y="3460"/>
                </a:lnTo>
                <a:lnTo>
                  <a:pt x="1850" y="3465"/>
                </a:lnTo>
                <a:lnTo>
                  <a:pt x="1877" y="3472"/>
                </a:lnTo>
                <a:lnTo>
                  <a:pt x="1896" y="3474"/>
                </a:lnTo>
                <a:lnTo>
                  <a:pt x="1907" y="3471"/>
                </a:lnTo>
                <a:lnTo>
                  <a:pt x="1911" y="3464"/>
                </a:lnTo>
                <a:lnTo>
                  <a:pt x="1911" y="3454"/>
                </a:lnTo>
                <a:lnTo>
                  <a:pt x="1905" y="3441"/>
                </a:lnTo>
                <a:lnTo>
                  <a:pt x="1898" y="3427"/>
                </a:lnTo>
                <a:lnTo>
                  <a:pt x="1890" y="3412"/>
                </a:lnTo>
                <a:lnTo>
                  <a:pt x="1883" y="3397"/>
                </a:lnTo>
                <a:lnTo>
                  <a:pt x="1874" y="3382"/>
                </a:lnTo>
                <a:lnTo>
                  <a:pt x="1870" y="3370"/>
                </a:lnTo>
                <a:lnTo>
                  <a:pt x="1869" y="3358"/>
                </a:lnTo>
                <a:lnTo>
                  <a:pt x="1873" y="3352"/>
                </a:lnTo>
                <a:lnTo>
                  <a:pt x="1884" y="3348"/>
                </a:lnTo>
                <a:lnTo>
                  <a:pt x="1902" y="3350"/>
                </a:lnTo>
                <a:lnTo>
                  <a:pt x="1929" y="3357"/>
                </a:lnTo>
                <a:lnTo>
                  <a:pt x="1942" y="3334"/>
                </a:lnTo>
                <a:lnTo>
                  <a:pt x="1953" y="3314"/>
                </a:lnTo>
                <a:lnTo>
                  <a:pt x="1964" y="3295"/>
                </a:lnTo>
                <a:lnTo>
                  <a:pt x="1972" y="3275"/>
                </a:lnTo>
                <a:lnTo>
                  <a:pt x="1982" y="3257"/>
                </a:lnTo>
                <a:lnTo>
                  <a:pt x="1991" y="3235"/>
                </a:lnTo>
                <a:lnTo>
                  <a:pt x="2002" y="3214"/>
                </a:lnTo>
                <a:lnTo>
                  <a:pt x="2014" y="3191"/>
                </a:lnTo>
                <a:lnTo>
                  <a:pt x="2015" y="3177"/>
                </a:lnTo>
                <a:lnTo>
                  <a:pt x="2020" y="3162"/>
                </a:lnTo>
                <a:lnTo>
                  <a:pt x="2026" y="3145"/>
                </a:lnTo>
                <a:lnTo>
                  <a:pt x="2033" y="3126"/>
                </a:lnTo>
                <a:lnTo>
                  <a:pt x="2042" y="3108"/>
                </a:lnTo>
                <a:lnTo>
                  <a:pt x="2048" y="3090"/>
                </a:lnTo>
                <a:lnTo>
                  <a:pt x="2052" y="3075"/>
                </a:lnTo>
                <a:lnTo>
                  <a:pt x="2053" y="3061"/>
                </a:lnTo>
                <a:lnTo>
                  <a:pt x="2066" y="3042"/>
                </a:lnTo>
                <a:lnTo>
                  <a:pt x="2079" y="3021"/>
                </a:lnTo>
                <a:lnTo>
                  <a:pt x="2092" y="3002"/>
                </a:lnTo>
                <a:lnTo>
                  <a:pt x="2103" y="2983"/>
                </a:lnTo>
                <a:lnTo>
                  <a:pt x="2114" y="2964"/>
                </a:lnTo>
                <a:lnTo>
                  <a:pt x="2126" y="2945"/>
                </a:lnTo>
                <a:lnTo>
                  <a:pt x="2137" y="2927"/>
                </a:lnTo>
                <a:lnTo>
                  <a:pt x="2149" y="2907"/>
                </a:lnTo>
                <a:lnTo>
                  <a:pt x="2156" y="2853"/>
                </a:lnTo>
                <a:lnTo>
                  <a:pt x="2167" y="2811"/>
                </a:lnTo>
                <a:lnTo>
                  <a:pt x="2178" y="2769"/>
                </a:lnTo>
                <a:lnTo>
                  <a:pt x="2181" y="2716"/>
                </a:lnTo>
                <a:lnTo>
                  <a:pt x="2195" y="2707"/>
                </a:lnTo>
                <a:lnTo>
                  <a:pt x="2209" y="2695"/>
                </a:lnTo>
                <a:lnTo>
                  <a:pt x="2224" y="2682"/>
                </a:lnTo>
                <a:lnTo>
                  <a:pt x="2240" y="2669"/>
                </a:lnTo>
                <a:lnTo>
                  <a:pt x="2255" y="2656"/>
                </a:lnTo>
                <a:lnTo>
                  <a:pt x="2270" y="2642"/>
                </a:lnTo>
                <a:lnTo>
                  <a:pt x="2284" y="2631"/>
                </a:lnTo>
                <a:lnTo>
                  <a:pt x="2297" y="2621"/>
                </a:lnTo>
                <a:lnTo>
                  <a:pt x="2306" y="2569"/>
                </a:lnTo>
                <a:lnTo>
                  <a:pt x="2312" y="2527"/>
                </a:lnTo>
                <a:lnTo>
                  <a:pt x="2317" y="2486"/>
                </a:lnTo>
                <a:lnTo>
                  <a:pt x="2328" y="2431"/>
                </a:lnTo>
                <a:lnTo>
                  <a:pt x="2338" y="2421"/>
                </a:lnTo>
                <a:lnTo>
                  <a:pt x="2355" y="2409"/>
                </a:lnTo>
                <a:lnTo>
                  <a:pt x="2374" y="2396"/>
                </a:lnTo>
                <a:lnTo>
                  <a:pt x="2397" y="2381"/>
                </a:lnTo>
                <a:lnTo>
                  <a:pt x="2420" y="2366"/>
                </a:lnTo>
                <a:lnTo>
                  <a:pt x="2440" y="2352"/>
                </a:lnTo>
                <a:lnTo>
                  <a:pt x="2456" y="2342"/>
                </a:lnTo>
                <a:lnTo>
                  <a:pt x="2465" y="2332"/>
                </a:lnTo>
                <a:lnTo>
                  <a:pt x="2463" y="2317"/>
                </a:lnTo>
                <a:lnTo>
                  <a:pt x="2463" y="2304"/>
                </a:lnTo>
                <a:lnTo>
                  <a:pt x="2468" y="2291"/>
                </a:lnTo>
                <a:lnTo>
                  <a:pt x="2471" y="2278"/>
                </a:lnTo>
                <a:lnTo>
                  <a:pt x="2476" y="2264"/>
                </a:lnTo>
                <a:lnTo>
                  <a:pt x="2479" y="2251"/>
                </a:lnTo>
                <a:lnTo>
                  <a:pt x="2481" y="2235"/>
                </a:lnTo>
                <a:lnTo>
                  <a:pt x="2479" y="2222"/>
                </a:lnTo>
                <a:lnTo>
                  <a:pt x="2490" y="2220"/>
                </a:lnTo>
                <a:lnTo>
                  <a:pt x="2501" y="2216"/>
                </a:lnTo>
                <a:lnTo>
                  <a:pt x="2513" y="2213"/>
                </a:lnTo>
                <a:lnTo>
                  <a:pt x="2525" y="2208"/>
                </a:lnTo>
                <a:lnTo>
                  <a:pt x="2536" y="2204"/>
                </a:lnTo>
                <a:lnTo>
                  <a:pt x="2547" y="2201"/>
                </a:lnTo>
                <a:lnTo>
                  <a:pt x="2558" y="2196"/>
                </a:lnTo>
                <a:lnTo>
                  <a:pt x="2569" y="2193"/>
                </a:lnTo>
                <a:lnTo>
                  <a:pt x="2574" y="2172"/>
                </a:lnTo>
                <a:lnTo>
                  <a:pt x="2581" y="2153"/>
                </a:lnTo>
                <a:lnTo>
                  <a:pt x="2589" y="2133"/>
                </a:lnTo>
                <a:lnTo>
                  <a:pt x="2598" y="2111"/>
                </a:lnTo>
                <a:lnTo>
                  <a:pt x="2606" y="2115"/>
                </a:lnTo>
                <a:lnTo>
                  <a:pt x="2612" y="2117"/>
                </a:lnTo>
                <a:lnTo>
                  <a:pt x="2619" y="2120"/>
                </a:lnTo>
                <a:lnTo>
                  <a:pt x="2627" y="2123"/>
                </a:lnTo>
                <a:lnTo>
                  <a:pt x="2634" y="2126"/>
                </a:lnTo>
                <a:lnTo>
                  <a:pt x="2643" y="2128"/>
                </a:lnTo>
                <a:lnTo>
                  <a:pt x="2651" y="2131"/>
                </a:lnTo>
                <a:lnTo>
                  <a:pt x="2659" y="2133"/>
                </a:lnTo>
                <a:lnTo>
                  <a:pt x="2667" y="2115"/>
                </a:lnTo>
                <a:lnTo>
                  <a:pt x="2673" y="2098"/>
                </a:lnTo>
                <a:lnTo>
                  <a:pt x="2677" y="2080"/>
                </a:lnTo>
                <a:lnTo>
                  <a:pt x="2682" y="2064"/>
                </a:lnTo>
                <a:lnTo>
                  <a:pt x="2687" y="2058"/>
                </a:lnTo>
                <a:lnTo>
                  <a:pt x="2692" y="2053"/>
                </a:lnTo>
                <a:lnTo>
                  <a:pt x="2698" y="2049"/>
                </a:lnTo>
                <a:lnTo>
                  <a:pt x="2704" y="2042"/>
                </a:lnTo>
                <a:lnTo>
                  <a:pt x="2710" y="2038"/>
                </a:lnTo>
                <a:lnTo>
                  <a:pt x="2715" y="2032"/>
                </a:lnTo>
                <a:lnTo>
                  <a:pt x="2721" y="2026"/>
                </a:lnTo>
                <a:lnTo>
                  <a:pt x="2725" y="2021"/>
                </a:lnTo>
                <a:lnTo>
                  <a:pt x="2735" y="2005"/>
                </a:lnTo>
                <a:lnTo>
                  <a:pt x="2746" y="1989"/>
                </a:lnTo>
                <a:lnTo>
                  <a:pt x="2757" y="1972"/>
                </a:lnTo>
                <a:lnTo>
                  <a:pt x="2769" y="1957"/>
                </a:lnTo>
                <a:lnTo>
                  <a:pt x="2781" y="1940"/>
                </a:lnTo>
                <a:lnTo>
                  <a:pt x="2793" y="1925"/>
                </a:lnTo>
                <a:lnTo>
                  <a:pt x="2807" y="1907"/>
                </a:lnTo>
                <a:lnTo>
                  <a:pt x="2821" y="1891"/>
                </a:lnTo>
                <a:lnTo>
                  <a:pt x="2844" y="1871"/>
                </a:lnTo>
                <a:lnTo>
                  <a:pt x="2869" y="1850"/>
                </a:lnTo>
                <a:lnTo>
                  <a:pt x="2892" y="1829"/>
                </a:lnTo>
                <a:lnTo>
                  <a:pt x="2916" y="1809"/>
                </a:lnTo>
                <a:lnTo>
                  <a:pt x="2940" y="1787"/>
                </a:lnTo>
                <a:lnTo>
                  <a:pt x="2963" y="1765"/>
                </a:lnTo>
                <a:lnTo>
                  <a:pt x="2985" y="1743"/>
                </a:lnTo>
                <a:lnTo>
                  <a:pt x="3008" y="1721"/>
                </a:lnTo>
                <a:lnTo>
                  <a:pt x="3030" y="1698"/>
                </a:lnTo>
                <a:lnTo>
                  <a:pt x="3054" y="1676"/>
                </a:lnTo>
                <a:lnTo>
                  <a:pt x="3077" y="1653"/>
                </a:lnTo>
                <a:lnTo>
                  <a:pt x="3100" y="1629"/>
                </a:lnTo>
                <a:lnTo>
                  <a:pt x="3122" y="1605"/>
                </a:lnTo>
                <a:lnTo>
                  <a:pt x="3146" y="1581"/>
                </a:lnTo>
                <a:lnTo>
                  <a:pt x="3171" y="1558"/>
                </a:lnTo>
                <a:lnTo>
                  <a:pt x="3194" y="1534"/>
                </a:lnTo>
                <a:lnTo>
                  <a:pt x="3219" y="1508"/>
                </a:lnTo>
                <a:lnTo>
                  <a:pt x="3244" y="1485"/>
                </a:lnTo>
                <a:lnTo>
                  <a:pt x="3270" y="1460"/>
                </a:lnTo>
                <a:lnTo>
                  <a:pt x="3296" y="1435"/>
                </a:lnTo>
                <a:lnTo>
                  <a:pt x="3322" y="1409"/>
                </a:lnTo>
                <a:lnTo>
                  <a:pt x="3350" y="1385"/>
                </a:lnTo>
                <a:lnTo>
                  <a:pt x="3380" y="1360"/>
                </a:lnTo>
                <a:lnTo>
                  <a:pt x="3409" y="1335"/>
                </a:lnTo>
                <a:lnTo>
                  <a:pt x="3439" y="1309"/>
                </a:lnTo>
                <a:lnTo>
                  <a:pt x="3470" y="1283"/>
                </a:lnTo>
                <a:lnTo>
                  <a:pt x="3501" y="1258"/>
                </a:lnTo>
                <a:lnTo>
                  <a:pt x="3535" y="1231"/>
                </a:lnTo>
                <a:lnTo>
                  <a:pt x="3569" y="1208"/>
                </a:lnTo>
                <a:lnTo>
                  <a:pt x="3604" y="1181"/>
                </a:lnTo>
                <a:lnTo>
                  <a:pt x="3641" y="1156"/>
                </a:lnTo>
                <a:lnTo>
                  <a:pt x="3679" y="1130"/>
                </a:lnTo>
                <a:lnTo>
                  <a:pt x="3695" y="1119"/>
                </a:lnTo>
                <a:lnTo>
                  <a:pt x="3712" y="1107"/>
                </a:lnTo>
                <a:lnTo>
                  <a:pt x="3730" y="1097"/>
                </a:lnTo>
                <a:lnTo>
                  <a:pt x="3746" y="1085"/>
                </a:lnTo>
                <a:lnTo>
                  <a:pt x="3764" y="1076"/>
                </a:lnTo>
                <a:lnTo>
                  <a:pt x="3781" y="1065"/>
                </a:lnTo>
                <a:lnTo>
                  <a:pt x="3799" y="1054"/>
                </a:lnTo>
                <a:lnTo>
                  <a:pt x="3818" y="1045"/>
                </a:lnTo>
                <a:lnTo>
                  <a:pt x="3827" y="1039"/>
                </a:lnTo>
                <a:lnTo>
                  <a:pt x="3839" y="1035"/>
                </a:lnTo>
                <a:lnTo>
                  <a:pt x="3849" y="1030"/>
                </a:lnTo>
                <a:lnTo>
                  <a:pt x="3859" y="1025"/>
                </a:lnTo>
                <a:lnTo>
                  <a:pt x="3869" y="1019"/>
                </a:lnTo>
                <a:lnTo>
                  <a:pt x="3880" y="1015"/>
                </a:lnTo>
                <a:lnTo>
                  <a:pt x="3890" y="1008"/>
                </a:lnTo>
                <a:lnTo>
                  <a:pt x="3901" y="1003"/>
                </a:lnTo>
                <a:lnTo>
                  <a:pt x="3920" y="991"/>
                </a:lnTo>
                <a:lnTo>
                  <a:pt x="3938" y="980"/>
                </a:lnTo>
                <a:lnTo>
                  <a:pt x="3957" y="970"/>
                </a:lnTo>
                <a:lnTo>
                  <a:pt x="3975" y="956"/>
                </a:lnTo>
                <a:lnTo>
                  <a:pt x="3994" y="946"/>
                </a:lnTo>
                <a:lnTo>
                  <a:pt x="4012" y="932"/>
                </a:lnTo>
                <a:lnTo>
                  <a:pt x="4031" y="922"/>
                </a:lnTo>
                <a:lnTo>
                  <a:pt x="4049" y="910"/>
                </a:lnTo>
                <a:lnTo>
                  <a:pt x="4061" y="901"/>
                </a:lnTo>
                <a:lnTo>
                  <a:pt x="4074" y="891"/>
                </a:lnTo>
                <a:lnTo>
                  <a:pt x="4085" y="882"/>
                </a:lnTo>
                <a:lnTo>
                  <a:pt x="4099" y="872"/>
                </a:lnTo>
                <a:lnTo>
                  <a:pt x="4112" y="863"/>
                </a:lnTo>
                <a:lnTo>
                  <a:pt x="4125" y="854"/>
                </a:lnTo>
                <a:lnTo>
                  <a:pt x="4137" y="845"/>
                </a:lnTo>
                <a:lnTo>
                  <a:pt x="4151" y="835"/>
                </a:lnTo>
                <a:lnTo>
                  <a:pt x="4156" y="823"/>
                </a:lnTo>
                <a:lnTo>
                  <a:pt x="4161" y="811"/>
                </a:lnTo>
                <a:lnTo>
                  <a:pt x="4166" y="801"/>
                </a:lnTo>
                <a:lnTo>
                  <a:pt x="4170" y="792"/>
                </a:lnTo>
                <a:lnTo>
                  <a:pt x="4179" y="783"/>
                </a:lnTo>
                <a:lnTo>
                  <a:pt x="4187" y="778"/>
                </a:lnTo>
                <a:lnTo>
                  <a:pt x="4195" y="770"/>
                </a:lnTo>
                <a:lnTo>
                  <a:pt x="4204" y="764"/>
                </a:lnTo>
                <a:lnTo>
                  <a:pt x="4212" y="756"/>
                </a:lnTo>
                <a:lnTo>
                  <a:pt x="4221" y="750"/>
                </a:lnTo>
                <a:lnTo>
                  <a:pt x="4230" y="743"/>
                </a:lnTo>
                <a:lnTo>
                  <a:pt x="4239" y="737"/>
                </a:lnTo>
                <a:lnTo>
                  <a:pt x="4242" y="743"/>
                </a:lnTo>
                <a:lnTo>
                  <a:pt x="4245" y="749"/>
                </a:lnTo>
                <a:lnTo>
                  <a:pt x="4248" y="755"/>
                </a:lnTo>
                <a:lnTo>
                  <a:pt x="4250" y="762"/>
                </a:lnTo>
                <a:lnTo>
                  <a:pt x="4264" y="752"/>
                </a:lnTo>
                <a:lnTo>
                  <a:pt x="4276" y="746"/>
                </a:lnTo>
                <a:lnTo>
                  <a:pt x="4290" y="737"/>
                </a:lnTo>
                <a:lnTo>
                  <a:pt x="4304" y="728"/>
                </a:lnTo>
                <a:lnTo>
                  <a:pt x="4317" y="721"/>
                </a:lnTo>
                <a:lnTo>
                  <a:pt x="4331" y="712"/>
                </a:lnTo>
                <a:lnTo>
                  <a:pt x="4345" y="705"/>
                </a:lnTo>
                <a:lnTo>
                  <a:pt x="4356" y="697"/>
                </a:lnTo>
                <a:lnTo>
                  <a:pt x="4366" y="683"/>
                </a:lnTo>
                <a:lnTo>
                  <a:pt x="4375" y="665"/>
                </a:lnTo>
                <a:lnTo>
                  <a:pt x="4385" y="649"/>
                </a:lnTo>
                <a:lnTo>
                  <a:pt x="4393" y="634"/>
                </a:lnTo>
                <a:lnTo>
                  <a:pt x="4404" y="624"/>
                </a:lnTo>
                <a:lnTo>
                  <a:pt x="4416" y="615"/>
                </a:lnTo>
                <a:lnTo>
                  <a:pt x="4429" y="606"/>
                </a:lnTo>
                <a:lnTo>
                  <a:pt x="4441" y="598"/>
                </a:lnTo>
                <a:lnTo>
                  <a:pt x="4452" y="590"/>
                </a:lnTo>
                <a:lnTo>
                  <a:pt x="4465" y="580"/>
                </a:lnTo>
                <a:lnTo>
                  <a:pt x="4475" y="570"/>
                </a:lnTo>
                <a:lnTo>
                  <a:pt x="4485" y="562"/>
                </a:lnTo>
                <a:lnTo>
                  <a:pt x="4490" y="547"/>
                </a:lnTo>
                <a:lnTo>
                  <a:pt x="4494" y="532"/>
                </a:lnTo>
                <a:lnTo>
                  <a:pt x="4499" y="517"/>
                </a:lnTo>
                <a:lnTo>
                  <a:pt x="4506" y="501"/>
                </a:lnTo>
                <a:lnTo>
                  <a:pt x="4516" y="492"/>
                </a:lnTo>
                <a:lnTo>
                  <a:pt x="4529" y="484"/>
                </a:lnTo>
                <a:lnTo>
                  <a:pt x="4541" y="477"/>
                </a:lnTo>
                <a:lnTo>
                  <a:pt x="4553" y="468"/>
                </a:lnTo>
                <a:lnTo>
                  <a:pt x="4564" y="459"/>
                </a:lnTo>
                <a:lnTo>
                  <a:pt x="4577" y="450"/>
                </a:lnTo>
                <a:lnTo>
                  <a:pt x="4587" y="443"/>
                </a:lnTo>
                <a:lnTo>
                  <a:pt x="4597" y="435"/>
                </a:lnTo>
                <a:lnTo>
                  <a:pt x="4611" y="430"/>
                </a:lnTo>
                <a:lnTo>
                  <a:pt x="4625" y="426"/>
                </a:lnTo>
                <a:lnTo>
                  <a:pt x="4638" y="422"/>
                </a:lnTo>
                <a:lnTo>
                  <a:pt x="4650" y="418"/>
                </a:lnTo>
                <a:lnTo>
                  <a:pt x="4664" y="413"/>
                </a:lnTo>
                <a:lnTo>
                  <a:pt x="4676" y="410"/>
                </a:lnTo>
                <a:lnTo>
                  <a:pt x="4688" y="405"/>
                </a:lnTo>
                <a:lnTo>
                  <a:pt x="4702" y="401"/>
                </a:lnTo>
                <a:lnTo>
                  <a:pt x="4708" y="393"/>
                </a:lnTo>
                <a:lnTo>
                  <a:pt x="4714" y="384"/>
                </a:lnTo>
                <a:lnTo>
                  <a:pt x="4720" y="377"/>
                </a:lnTo>
                <a:lnTo>
                  <a:pt x="4726" y="367"/>
                </a:lnTo>
                <a:lnTo>
                  <a:pt x="4733" y="359"/>
                </a:lnTo>
                <a:lnTo>
                  <a:pt x="4739" y="350"/>
                </a:lnTo>
                <a:lnTo>
                  <a:pt x="4745" y="341"/>
                </a:lnTo>
                <a:lnTo>
                  <a:pt x="4751" y="332"/>
                </a:lnTo>
                <a:lnTo>
                  <a:pt x="4761" y="326"/>
                </a:lnTo>
                <a:lnTo>
                  <a:pt x="4772" y="319"/>
                </a:lnTo>
                <a:lnTo>
                  <a:pt x="4781" y="312"/>
                </a:lnTo>
                <a:lnTo>
                  <a:pt x="4790" y="305"/>
                </a:lnTo>
                <a:lnTo>
                  <a:pt x="4800" y="298"/>
                </a:lnTo>
                <a:lnTo>
                  <a:pt x="4810" y="291"/>
                </a:lnTo>
                <a:lnTo>
                  <a:pt x="4819" y="283"/>
                </a:lnTo>
                <a:lnTo>
                  <a:pt x="4827" y="275"/>
                </a:lnTo>
                <a:lnTo>
                  <a:pt x="4833" y="280"/>
                </a:lnTo>
                <a:lnTo>
                  <a:pt x="4840" y="285"/>
                </a:lnTo>
                <a:lnTo>
                  <a:pt x="4848" y="292"/>
                </a:lnTo>
                <a:lnTo>
                  <a:pt x="4852" y="297"/>
                </a:lnTo>
                <a:lnTo>
                  <a:pt x="4862" y="289"/>
                </a:lnTo>
                <a:lnTo>
                  <a:pt x="4873" y="280"/>
                </a:lnTo>
                <a:lnTo>
                  <a:pt x="4882" y="272"/>
                </a:lnTo>
                <a:lnTo>
                  <a:pt x="4893" y="264"/>
                </a:lnTo>
                <a:lnTo>
                  <a:pt x="4902" y="253"/>
                </a:lnTo>
                <a:lnTo>
                  <a:pt x="4912" y="244"/>
                </a:lnTo>
                <a:lnTo>
                  <a:pt x="4923" y="236"/>
                </a:lnTo>
                <a:lnTo>
                  <a:pt x="4933" y="228"/>
                </a:lnTo>
                <a:lnTo>
                  <a:pt x="4921" y="233"/>
                </a:lnTo>
                <a:lnTo>
                  <a:pt x="4910" y="239"/>
                </a:lnTo>
                <a:lnTo>
                  <a:pt x="4898" y="246"/>
                </a:lnTo>
                <a:lnTo>
                  <a:pt x="4884" y="250"/>
                </a:lnTo>
                <a:lnTo>
                  <a:pt x="4873" y="257"/>
                </a:lnTo>
                <a:lnTo>
                  <a:pt x="4862" y="262"/>
                </a:lnTo>
                <a:lnTo>
                  <a:pt x="4850" y="267"/>
                </a:lnTo>
                <a:lnTo>
                  <a:pt x="4838" y="272"/>
                </a:lnTo>
                <a:lnTo>
                  <a:pt x="4849" y="246"/>
                </a:lnTo>
                <a:lnTo>
                  <a:pt x="4858" y="223"/>
                </a:lnTo>
                <a:lnTo>
                  <a:pt x="4864" y="199"/>
                </a:lnTo>
                <a:lnTo>
                  <a:pt x="4869" y="175"/>
                </a:lnTo>
                <a:lnTo>
                  <a:pt x="4861" y="182"/>
                </a:lnTo>
                <a:lnTo>
                  <a:pt x="4852" y="191"/>
                </a:lnTo>
                <a:lnTo>
                  <a:pt x="4842" y="200"/>
                </a:lnTo>
                <a:lnTo>
                  <a:pt x="4832" y="208"/>
                </a:lnTo>
                <a:lnTo>
                  <a:pt x="4823" y="216"/>
                </a:lnTo>
                <a:lnTo>
                  <a:pt x="4813" y="224"/>
                </a:lnTo>
                <a:lnTo>
                  <a:pt x="4801" y="233"/>
                </a:lnTo>
                <a:lnTo>
                  <a:pt x="4792" y="242"/>
                </a:lnTo>
                <a:lnTo>
                  <a:pt x="4785" y="252"/>
                </a:lnTo>
                <a:lnTo>
                  <a:pt x="4776" y="262"/>
                </a:lnTo>
                <a:lnTo>
                  <a:pt x="4768" y="272"/>
                </a:lnTo>
                <a:lnTo>
                  <a:pt x="4761" y="283"/>
                </a:lnTo>
                <a:lnTo>
                  <a:pt x="4754" y="295"/>
                </a:lnTo>
                <a:lnTo>
                  <a:pt x="4746" y="305"/>
                </a:lnTo>
                <a:lnTo>
                  <a:pt x="4739" y="317"/>
                </a:lnTo>
                <a:lnTo>
                  <a:pt x="4732" y="328"/>
                </a:lnTo>
                <a:lnTo>
                  <a:pt x="4724" y="332"/>
                </a:lnTo>
                <a:lnTo>
                  <a:pt x="4717" y="337"/>
                </a:lnTo>
                <a:lnTo>
                  <a:pt x="4710" y="343"/>
                </a:lnTo>
                <a:lnTo>
                  <a:pt x="4704" y="349"/>
                </a:lnTo>
                <a:lnTo>
                  <a:pt x="4696" y="354"/>
                </a:lnTo>
                <a:lnTo>
                  <a:pt x="4689" y="359"/>
                </a:lnTo>
                <a:lnTo>
                  <a:pt x="4683" y="363"/>
                </a:lnTo>
                <a:lnTo>
                  <a:pt x="4676" y="368"/>
                </a:lnTo>
                <a:lnTo>
                  <a:pt x="4671" y="367"/>
                </a:lnTo>
                <a:lnTo>
                  <a:pt x="4666" y="366"/>
                </a:lnTo>
                <a:lnTo>
                  <a:pt x="4662" y="363"/>
                </a:lnTo>
                <a:lnTo>
                  <a:pt x="4658" y="362"/>
                </a:lnTo>
                <a:lnTo>
                  <a:pt x="4653" y="361"/>
                </a:lnTo>
                <a:lnTo>
                  <a:pt x="4648" y="359"/>
                </a:lnTo>
                <a:lnTo>
                  <a:pt x="4642" y="357"/>
                </a:lnTo>
                <a:lnTo>
                  <a:pt x="4638" y="357"/>
                </a:lnTo>
                <a:lnTo>
                  <a:pt x="4616" y="374"/>
                </a:lnTo>
                <a:lnTo>
                  <a:pt x="4595" y="393"/>
                </a:lnTo>
                <a:lnTo>
                  <a:pt x="4573" y="412"/>
                </a:lnTo>
                <a:lnTo>
                  <a:pt x="4552" y="430"/>
                </a:lnTo>
                <a:lnTo>
                  <a:pt x="4529" y="449"/>
                </a:lnTo>
                <a:lnTo>
                  <a:pt x="4506" y="468"/>
                </a:lnTo>
                <a:lnTo>
                  <a:pt x="4484" y="487"/>
                </a:lnTo>
                <a:lnTo>
                  <a:pt x="4461" y="506"/>
                </a:lnTo>
                <a:lnTo>
                  <a:pt x="4450" y="511"/>
                </a:lnTo>
                <a:lnTo>
                  <a:pt x="4441" y="517"/>
                </a:lnTo>
                <a:lnTo>
                  <a:pt x="4431" y="521"/>
                </a:lnTo>
                <a:lnTo>
                  <a:pt x="4422" y="528"/>
                </a:lnTo>
                <a:lnTo>
                  <a:pt x="4411" y="532"/>
                </a:lnTo>
                <a:lnTo>
                  <a:pt x="4403" y="537"/>
                </a:lnTo>
                <a:lnTo>
                  <a:pt x="4393" y="543"/>
                </a:lnTo>
                <a:lnTo>
                  <a:pt x="4385" y="548"/>
                </a:lnTo>
                <a:lnTo>
                  <a:pt x="4378" y="546"/>
                </a:lnTo>
                <a:lnTo>
                  <a:pt x="4372" y="543"/>
                </a:lnTo>
                <a:lnTo>
                  <a:pt x="4366" y="541"/>
                </a:lnTo>
                <a:lnTo>
                  <a:pt x="4362" y="537"/>
                </a:lnTo>
                <a:lnTo>
                  <a:pt x="4355" y="535"/>
                </a:lnTo>
                <a:lnTo>
                  <a:pt x="4351" y="532"/>
                </a:lnTo>
                <a:lnTo>
                  <a:pt x="4345" y="530"/>
                </a:lnTo>
                <a:lnTo>
                  <a:pt x="4339" y="528"/>
                </a:lnTo>
                <a:lnTo>
                  <a:pt x="4314" y="546"/>
                </a:lnTo>
                <a:lnTo>
                  <a:pt x="4289" y="563"/>
                </a:lnTo>
                <a:lnTo>
                  <a:pt x="4264" y="581"/>
                </a:lnTo>
                <a:lnTo>
                  <a:pt x="4239" y="599"/>
                </a:lnTo>
                <a:lnTo>
                  <a:pt x="4215" y="617"/>
                </a:lnTo>
                <a:lnTo>
                  <a:pt x="4189" y="635"/>
                </a:lnTo>
                <a:lnTo>
                  <a:pt x="4164" y="653"/>
                </a:lnTo>
                <a:lnTo>
                  <a:pt x="4139" y="670"/>
                </a:lnTo>
                <a:lnTo>
                  <a:pt x="4114" y="688"/>
                </a:lnTo>
                <a:lnTo>
                  <a:pt x="4089" y="708"/>
                </a:lnTo>
                <a:lnTo>
                  <a:pt x="4064" y="724"/>
                </a:lnTo>
                <a:lnTo>
                  <a:pt x="4039" y="743"/>
                </a:lnTo>
                <a:lnTo>
                  <a:pt x="4014" y="761"/>
                </a:lnTo>
                <a:lnTo>
                  <a:pt x="3988" y="779"/>
                </a:lnTo>
                <a:lnTo>
                  <a:pt x="3964" y="798"/>
                </a:lnTo>
                <a:lnTo>
                  <a:pt x="3938" y="816"/>
                </a:lnTo>
                <a:lnTo>
                  <a:pt x="3932" y="808"/>
                </a:lnTo>
                <a:lnTo>
                  <a:pt x="3926" y="801"/>
                </a:lnTo>
                <a:lnTo>
                  <a:pt x="3920" y="791"/>
                </a:lnTo>
                <a:lnTo>
                  <a:pt x="3916" y="780"/>
                </a:lnTo>
                <a:lnTo>
                  <a:pt x="3926" y="773"/>
                </a:lnTo>
                <a:lnTo>
                  <a:pt x="3934" y="766"/>
                </a:lnTo>
                <a:lnTo>
                  <a:pt x="3944" y="756"/>
                </a:lnTo>
                <a:lnTo>
                  <a:pt x="3953" y="748"/>
                </a:lnTo>
                <a:lnTo>
                  <a:pt x="3963" y="739"/>
                </a:lnTo>
                <a:lnTo>
                  <a:pt x="3972" y="731"/>
                </a:lnTo>
                <a:lnTo>
                  <a:pt x="3982" y="721"/>
                </a:lnTo>
                <a:lnTo>
                  <a:pt x="3993" y="713"/>
                </a:lnTo>
                <a:lnTo>
                  <a:pt x="4000" y="711"/>
                </a:lnTo>
                <a:lnTo>
                  <a:pt x="4007" y="708"/>
                </a:lnTo>
                <a:lnTo>
                  <a:pt x="4014" y="708"/>
                </a:lnTo>
                <a:lnTo>
                  <a:pt x="4023" y="705"/>
                </a:lnTo>
                <a:lnTo>
                  <a:pt x="4031" y="702"/>
                </a:lnTo>
                <a:lnTo>
                  <a:pt x="4038" y="699"/>
                </a:lnTo>
                <a:lnTo>
                  <a:pt x="4047" y="696"/>
                </a:lnTo>
                <a:lnTo>
                  <a:pt x="4054" y="694"/>
                </a:lnTo>
                <a:lnTo>
                  <a:pt x="4058" y="687"/>
                </a:lnTo>
                <a:lnTo>
                  <a:pt x="4063" y="680"/>
                </a:lnTo>
                <a:lnTo>
                  <a:pt x="4069" y="674"/>
                </a:lnTo>
                <a:lnTo>
                  <a:pt x="4074" y="666"/>
                </a:lnTo>
                <a:lnTo>
                  <a:pt x="4078" y="659"/>
                </a:lnTo>
                <a:lnTo>
                  <a:pt x="4083" y="652"/>
                </a:lnTo>
                <a:lnTo>
                  <a:pt x="4089" y="644"/>
                </a:lnTo>
                <a:lnTo>
                  <a:pt x="4094" y="636"/>
                </a:lnTo>
                <a:lnTo>
                  <a:pt x="4104" y="632"/>
                </a:lnTo>
                <a:lnTo>
                  <a:pt x="4113" y="626"/>
                </a:lnTo>
                <a:lnTo>
                  <a:pt x="4123" y="621"/>
                </a:lnTo>
                <a:lnTo>
                  <a:pt x="4133" y="615"/>
                </a:lnTo>
                <a:lnTo>
                  <a:pt x="4141" y="609"/>
                </a:lnTo>
                <a:lnTo>
                  <a:pt x="4151" y="604"/>
                </a:lnTo>
                <a:lnTo>
                  <a:pt x="4161" y="598"/>
                </a:lnTo>
                <a:lnTo>
                  <a:pt x="4170" y="593"/>
                </a:lnTo>
                <a:lnTo>
                  <a:pt x="4177" y="579"/>
                </a:lnTo>
                <a:lnTo>
                  <a:pt x="4185" y="566"/>
                </a:lnTo>
                <a:lnTo>
                  <a:pt x="4191" y="552"/>
                </a:lnTo>
                <a:lnTo>
                  <a:pt x="4199" y="537"/>
                </a:lnTo>
                <a:lnTo>
                  <a:pt x="4205" y="530"/>
                </a:lnTo>
                <a:lnTo>
                  <a:pt x="4212" y="524"/>
                </a:lnTo>
                <a:lnTo>
                  <a:pt x="4219" y="517"/>
                </a:lnTo>
                <a:lnTo>
                  <a:pt x="4226" y="511"/>
                </a:lnTo>
                <a:lnTo>
                  <a:pt x="4233" y="505"/>
                </a:lnTo>
                <a:lnTo>
                  <a:pt x="4241" y="499"/>
                </a:lnTo>
                <a:lnTo>
                  <a:pt x="4249" y="492"/>
                </a:lnTo>
                <a:lnTo>
                  <a:pt x="4256" y="486"/>
                </a:lnTo>
                <a:lnTo>
                  <a:pt x="4250" y="484"/>
                </a:lnTo>
                <a:lnTo>
                  <a:pt x="4245" y="481"/>
                </a:lnTo>
                <a:lnTo>
                  <a:pt x="4239" y="479"/>
                </a:lnTo>
                <a:lnTo>
                  <a:pt x="4233" y="475"/>
                </a:lnTo>
                <a:lnTo>
                  <a:pt x="4228" y="473"/>
                </a:lnTo>
                <a:lnTo>
                  <a:pt x="4221" y="469"/>
                </a:lnTo>
                <a:lnTo>
                  <a:pt x="4216" y="466"/>
                </a:lnTo>
                <a:lnTo>
                  <a:pt x="4210" y="461"/>
                </a:lnTo>
                <a:lnTo>
                  <a:pt x="4221" y="453"/>
                </a:lnTo>
                <a:lnTo>
                  <a:pt x="4232" y="444"/>
                </a:lnTo>
                <a:lnTo>
                  <a:pt x="4243" y="436"/>
                </a:lnTo>
                <a:lnTo>
                  <a:pt x="4255" y="426"/>
                </a:lnTo>
                <a:lnTo>
                  <a:pt x="4267" y="418"/>
                </a:lnTo>
                <a:lnTo>
                  <a:pt x="4278" y="410"/>
                </a:lnTo>
                <a:lnTo>
                  <a:pt x="4289" y="401"/>
                </a:lnTo>
                <a:lnTo>
                  <a:pt x="4300" y="392"/>
                </a:lnTo>
                <a:lnTo>
                  <a:pt x="4306" y="386"/>
                </a:lnTo>
                <a:lnTo>
                  <a:pt x="4314" y="381"/>
                </a:lnTo>
                <a:lnTo>
                  <a:pt x="4322" y="374"/>
                </a:lnTo>
                <a:lnTo>
                  <a:pt x="4327" y="367"/>
                </a:lnTo>
                <a:lnTo>
                  <a:pt x="4336" y="357"/>
                </a:lnTo>
                <a:lnTo>
                  <a:pt x="4347" y="346"/>
                </a:lnTo>
                <a:lnTo>
                  <a:pt x="4354" y="334"/>
                </a:lnTo>
                <a:lnTo>
                  <a:pt x="4362" y="323"/>
                </a:lnTo>
                <a:lnTo>
                  <a:pt x="4371" y="311"/>
                </a:lnTo>
                <a:lnTo>
                  <a:pt x="4380" y="300"/>
                </a:lnTo>
                <a:lnTo>
                  <a:pt x="4389" y="289"/>
                </a:lnTo>
                <a:lnTo>
                  <a:pt x="4397" y="277"/>
                </a:lnTo>
                <a:lnTo>
                  <a:pt x="4375" y="288"/>
                </a:lnTo>
                <a:lnTo>
                  <a:pt x="4356" y="297"/>
                </a:lnTo>
                <a:lnTo>
                  <a:pt x="4335" y="306"/>
                </a:lnTo>
                <a:lnTo>
                  <a:pt x="4316" y="315"/>
                </a:lnTo>
                <a:lnTo>
                  <a:pt x="4294" y="326"/>
                </a:lnTo>
                <a:lnTo>
                  <a:pt x="4274" y="335"/>
                </a:lnTo>
                <a:lnTo>
                  <a:pt x="4252" y="347"/>
                </a:lnTo>
                <a:lnTo>
                  <a:pt x="4232" y="357"/>
                </a:lnTo>
                <a:lnTo>
                  <a:pt x="4228" y="354"/>
                </a:lnTo>
                <a:lnTo>
                  <a:pt x="4224" y="351"/>
                </a:lnTo>
                <a:lnTo>
                  <a:pt x="4218" y="350"/>
                </a:lnTo>
                <a:lnTo>
                  <a:pt x="4214" y="348"/>
                </a:lnTo>
                <a:lnTo>
                  <a:pt x="4208" y="347"/>
                </a:lnTo>
                <a:lnTo>
                  <a:pt x="4204" y="343"/>
                </a:lnTo>
                <a:lnTo>
                  <a:pt x="4200" y="343"/>
                </a:lnTo>
                <a:lnTo>
                  <a:pt x="4195" y="342"/>
                </a:lnTo>
                <a:lnTo>
                  <a:pt x="4201" y="336"/>
                </a:lnTo>
                <a:lnTo>
                  <a:pt x="4208" y="330"/>
                </a:lnTo>
                <a:lnTo>
                  <a:pt x="4214" y="324"/>
                </a:lnTo>
                <a:lnTo>
                  <a:pt x="4219" y="317"/>
                </a:lnTo>
                <a:lnTo>
                  <a:pt x="4226" y="310"/>
                </a:lnTo>
                <a:lnTo>
                  <a:pt x="4232" y="304"/>
                </a:lnTo>
                <a:lnTo>
                  <a:pt x="4239" y="298"/>
                </a:lnTo>
                <a:lnTo>
                  <a:pt x="4247" y="292"/>
                </a:lnTo>
                <a:lnTo>
                  <a:pt x="4266" y="277"/>
                </a:lnTo>
                <a:lnTo>
                  <a:pt x="4287" y="259"/>
                </a:lnTo>
                <a:lnTo>
                  <a:pt x="4312" y="239"/>
                </a:lnTo>
                <a:lnTo>
                  <a:pt x="4339" y="219"/>
                </a:lnTo>
                <a:lnTo>
                  <a:pt x="4366" y="200"/>
                </a:lnTo>
                <a:lnTo>
                  <a:pt x="4391" y="181"/>
                </a:lnTo>
                <a:lnTo>
                  <a:pt x="4413" y="165"/>
                </a:lnTo>
                <a:lnTo>
                  <a:pt x="4430" y="150"/>
                </a:lnTo>
                <a:lnTo>
                  <a:pt x="4434" y="126"/>
                </a:lnTo>
                <a:lnTo>
                  <a:pt x="4431" y="115"/>
                </a:lnTo>
                <a:lnTo>
                  <a:pt x="4424" y="115"/>
                </a:lnTo>
                <a:lnTo>
                  <a:pt x="4414" y="121"/>
                </a:lnTo>
                <a:lnTo>
                  <a:pt x="4402" y="129"/>
                </a:lnTo>
                <a:lnTo>
                  <a:pt x="4391" y="137"/>
                </a:lnTo>
                <a:lnTo>
                  <a:pt x="4383" y="143"/>
                </a:lnTo>
                <a:lnTo>
                  <a:pt x="4375" y="142"/>
                </a:lnTo>
                <a:lnTo>
                  <a:pt x="4366" y="149"/>
                </a:lnTo>
                <a:lnTo>
                  <a:pt x="4353" y="155"/>
                </a:lnTo>
                <a:lnTo>
                  <a:pt x="4337" y="163"/>
                </a:lnTo>
                <a:lnTo>
                  <a:pt x="4322" y="169"/>
                </a:lnTo>
                <a:lnTo>
                  <a:pt x="4306" y="177"/>
                </a:lnTo>
                <a:lnTo>
                  <a:pt x="4290" y="182"/>
                </a:lnTo>
                <a:lnTo>
                  <a:pt x="4276" y="191"/>
                </a:lnTo>
                <a:lnTo>
                  <a:pt x="4266" y="199"/>
                </a:lnTo>
                <a:lnTo>
                  <a:pt x="4261" y="208"/>
                </a:lnTo>
                <a:lnTo>
                  <a:pt x="4258" y="218"/>
                </a:lnTo>
                <a:lnTo>
                  <a:pt x="4255" y="229"/>
                </a:lnTo>
                <a:lnTo>
                  <a:pt x="4252" y="239"/>
                </a:lnTo>
                <a:lnTo>
                  <a:pt x="4247" y="244"/>
                </a:lnTo>
                <a:lnTo>
                  <a:pt x="4242" y="250"/>
                </a:lnTo>
                <a:lnTo>
                  <a:pt x="4236" y="257"/>
                </a:lnTo>
                <a:lnTo>
                  <a:pt x="4230" y="262"/>
                </a:lnTo>
                <a:lnTo>
                  <a:pt x="4221" y="268"/>
                </a:lnTo>
                <a:lnTo>
                  <a:pt x="4216" y="273"/>
                </a:lnTo>
                <a:lnTo>
                  <a:pt x="4208" y="279"/>
                </a:lnTo>
                <a:lnTo>
                  <a:pt x="4201" y="284"/>
                </a:lnTo>
                <a:lnTo>
                  <a:pt x="4195" y="277"/>
                </a:lnTo>
                <a:lnTo>
                  <a:pt x="4191" y="270"/>
                </a:lnTo>
                <a:lnTo>
                  <a:pt x="4185" y="264"/>
                </a:lnTo>
                <a:lnTo>
                  <a:pt x="4177" y="257"/>
                </a:lnTo>
                <a:lnTo>
                  <a:pt x="4172" y="249"/>
                </a:lnTo>
                <a:lnTo>
                  <a:pt x="4164" y="243"/>
                </a:lnTo>
                <a:lnTo>
                  <a:pt x="4158" y="237"/>
                </a:lnTo>
                <a:lnTo>
                  <a:pt x="4153" y="231"/>
                </a:lnTo>
                <a:lnTo>
                  <a:pt x="4161" y="217"/>
                </a:lnTo>
                <a:lnTo>
                  <a:pt x="4168" y="205"/>
                </a:lnTo>
                <a:lnTo>
                  <a:pt x="4175" y="191"/>
                </a:lnTo>
                <a:lnTo>
                  <a:pt x="4185" y="177"/>
                </a:lnTo>
                <a:lnTo>
                  <a:pt x="4195" y="171"/>
                </a:lnTo>
                <a:lnTo>
                  <a:pt x="4203" y="163"/>
                </a:lnTo>
                <a:lnTo>
                  <a:pt x="4211" y="155"/>
                </a:lnTo>
                <a:lnTo>
                  <a:pt x="4219" y="148"/>
                </a:lnTo>
                <a:lnTo>
                  <a:pt x="4229" y="140"/>
                </a:lnTo>
                <a:lnTo>
                  <a:pt x="4237" y="132"/>
                </a:lnTo>
                <a:lnTo>
                  <a:pt x="4245" y="125"/>
                </a:lnTo>
                <a:lnTo>
                  <a:pt x="4252" y="118"/>
                </a:lnTo>
                <a:lnTo>
                  <a:pt x="4259" y="109"/>
                </a:lnTo>
                <a:lnTo>
                  <a:pt x="4264" y="101"/>
                </a:lnTo>
                <a:lnTo>
                  <a:pt x="4270" y="92"/>
                </a:lnTo>
                <a:lnTo>
                  <a:pt x="4275" y="84"/>
                </a:lnTo>
                <a:lnTo>
                  <a:pt x="4281" y="74"/>
                </a:lnTo>
                <a:lnTo>
                  <a:pt x="4286" y="66"/>
                </a:lnTo>
                <a:lnTo>
                  <a:pt x="4292" y="56"/>
                </a:lnTo>
                <a:lnTo>
                  <a:pt x="4298" y="47"/>
                </a:lnTo>
                <a:lnTo>
                  <a:pt x="4289" y="48"/>
                </a:lnTo>
                <a:lnTo>
                  <a:pt x="4279" y="51"/>
                </a:lnTo>
                <a:lnTo>
                  <a:pt x="4270" y="53"/>
                </a:lnTo>
                <a:lnTo>
                  <a:pt x="4259" y="53"/>
                </a:lnTo>
                <a:lnTo>
                  <a:pt x="4249" y="56"/>
                </a:lnTo>
                <a:lnTo>
                  <a:pt x="4239" y="57"/>
                </a:lnTo>
                <a:lnTo>
                  <a:pt x="4229" y="60"/>
                </a:lnTo>
                <a:lnTo>
                  <a:pt x="4218" y="61"/>
                </a:lnTo>
                <a:lnTo>
                  <a:pt x="4221" y="44"/>
                </a:lnTo>
                <a:lnTo>
                  <a:pt x="4226" y="30"/>
                </a:lnTo>
                <a:lnTo>
                  <a:pt x="4228" y="15"/>
                </a:lnTo>
                <a:lnTo>
                  <a:pt x="4230" y="0"/>
                </a:lnTo>
                <a:lnTo>
                  <a:pt x="4219" y="6"/>
                </a:lnTo>
                <a:lnTo>
                  <a:pt x="4210" y="12"/>
                </a:lnTo>
                <a:lnTo>
                  <a:pt x="4200" y="18"/>
                </a:lnTo>
                <a:lnTo>
                  <a:pt x="4191" y="26"/>
                </a:lnTo>
                <a:lnTo>
                  <a:pt x="4181" y="33"/>
                </a:lnTo>
                <a:lnTo>
                  <a:pt x="4172" y="41"/>
                </a:lnTo>
                <a:lnTo>
                  <a:pt x="4164" y="48"/>
                </a:lnTo>
                <a:lnTo>
                  <a:pt x="4154" y="56"/>
                </a:lnTo>
                <a:lnTo>
                  <a:pt x="4149" y="64"/>
                </a:lnTo>
                <a:lnTo>
                  <a:pt x="4143" y="74"/>
                </a:lnTo>
                <a:lnTo>
                  <a:pt x="4137" y="84"/>
                </a:lnTo>
                <a:lnTo>
                  <a:pt x="4133" y="94"/>
                </a:lnTo>
                <a:lnTo>
                  <a:pt x="4127" y="104"/>
                </a:lnTo>
                <a:lnTo>
                  <a:pt x="4122" y="115"/>
                </a:lnTo>
                <a:lnTo>
                  <a:pt x="4116" y="125"/>
                </a:lnTo>
                <a:lnTo>
                  <a:pt x="4112" y="136"/>
                </a:lnTo>
                <a:lnTo>
                  <a:pt x="4102" y="136"/>
                </a:lnTo>
                <a:lnTo>
                  <a:pt x="4094" y="136"/>
                </a:lnTo>
                <a:lnTo>
                  <a:pt x="4085" y="136"/>
                </a:lnTo>
                <a:lnTo>
                  <a:pt x="4078" y="136"/>
                </a:lnTo>
                <a:lnTo>
                  <a:pt x="4069" y="136"/>
                </a:lnTo>
                <a:lnTo>
                  <a:pt x="4061" y="136"/>
                </a:lnTo>
                <a:lnTo>
                  <a:pt x="4052" y="136"/>
                </a:lnTo>
                <a:lnTo>
                  <a:pt x="4044" y="135"/>
                </a:lnTo>
                <a:lnTo>
                  <a:pt x="4030" y="146"/>
                </a:lnTo>
                <a:lnTo>
                  <a:pt x="4014" y="157"/>
                </a:lnTo>
                <a:lnTo>
                  <a:pt x="4000" y="169"/>
                </a:lnTo>
                <a:lnTo>
                  <a:pt x="3985" y="179"/>
                </a:lnTo>
                <a:lnTo>
                  <a:pt x="3970" y="190"/>
                </a:lnTo>
                <a:lnTo>
                  <a:pt x="3955" y="202"/>
                </a:lnTo>
                <a:lnTo>
                  <a:pt x="3941" y="212"/>
                </a:lnTo>
                <a:lnTo>
                  <a:pt x="3924" y="223"/>
                </a:lnTo>
                <a:lnTo>
                  <a:pt x="3877" y="257"/>
                </a:lnTo>
                <a:lnTo>
                  <a:pt x="3828" y="287"/>
                </a:lnTo>
                <a:lnTo>
                  <a:pt x="3781" y="314"/>
                </a:lnTo>
                <a:lnTo>
                  <a:pt x="3733" y="339"/>
                </a:lnTo>
                <a:lnTo>
                  <a:pt x="3685" y="365"/>
                </a:lnTo>
                <a:lnTo>
                  <a:pt x="3638" y="390"/>
                </a:lnTo>
                <a:lnTo>
                  <a:pt x="3589" y="415"/>
                </a:lnTo>
                <a:lnTo>
                  <a:pt x="3542" y="439"/>
                </a:lnTo>
                <a:lnTo>
                  <a:pt x="3495" y="467"/>
                </a:lnTo>
                <a:lnTo>
                  <a:pt x="3448" y="497"/>
                </a:lnTo>
                <a:lnTo>
                  <a:pt x="3400" y="529"/>
                </a:lnTo>
                <a:lnTo>
                  <a:pt x="3353" y="563"/>
                </a:lnTo>
                <a:lnTo>
                  <a:pt x="3307" y="604"/>
                </a:lnTo>
                <a:lnTo>
                  <a:pt x="3261" y="649"/>
                </a:lnTo>
                <a:lnTo>
                  <a:pt x="3214" y="698"/>
                </a:lnTo>
                <a:lnTo>
                  <a:pt x="3166" y="754"/>
                </a:lnTo>
                <a:lnTo>
                  <a:pt x="3122" y="783"/>
                </a:lnTo>
                <a:lnTo>
                  <a:pt x="3088" y="806"/>
                </a:lnTo>
                <a:lnTo>
                  <a:pt x="3063" y="823"/>
                </a:lnTo>
                <a:lnTo>
                  <a:pt x="3046" y="832"/>
                </a:lnTo>
                <a:lnTo>
                  <a:pt x="3038" y="835"/>
                </a:lnTo>
                <a:lnTo>
                  <a:pt x="3036" y="834"/>
                </a:lnTo>
                <a:lnTo>
                  <a:pt x="3038" y="829"/>
                </a:lnTo>
                <a:lnTo>
                  <a:pt x="3045" y="820"/>
                </a:lnTo>
                <a:lnTo>
                  <a:pt x="3055" y="810"/>
                </a:lnTo>
                <a:lnTo>
                  <a:pt x="3066" y="798"/>
                </a:lnTo>
                <a:lnTo>
                  <a:pt x="3080" y="785"/>
                </a:lnTo>
                <a:lnTo>
                  <a:pt x="3094" y="773"/>
                </a:lnTo>
                <a:lnTo>
                  <a:pt x="3105" y="762"/>
                </a:lnTo>
                <a:lnTo>
                  <a:pt x="3115" y="750"/>
                </a:lnTo>
                <a:lnTo>
                  <a:pt x="3122" y="743"/>
                </a:lnTo>
                <a:lnTo>
                  <a:pt x="3124" y="739"/>
                </a:lnTo>
                <a:lnTo>
                  <a:pt x="3147" y="727"/>
                </a:lnTo>
                <a:lnTo>
                  <a:pt x="3165" y="717"/>
                </a:lnTo>
                <a:lnTo>
                  <a:pt x="3178" y="708"/>
                </a:lnTo>
                <a:lnTo>
                  <a:pt x="3186" y="702"/>
                </a:lnTo>
                <a:lnTo>
                  <a:pt x="3191" y="698"/>
                </a:lnTo>
                <a:lnTo>
                  <a:pt x="3194" y="694"/>
                </a:lnTo>
                <a:lnTo>
                  <a:pt x="3191" y="692"/>
                </a:lnTo>
                <a:lnTo>
                  <a:pt x="3188" y="691"/>
                </a:lnTo>
                <a:lnTo>
                  <a:pt x="3184" y="691"/>
                </a:lnTo>
                <a:lnTo>
                  <a:pt x="3180" y="691"/>
                </a:lnTo>
                <a:lnTo>
                  <a:pt x="3175" y="690"/>
                </a:lnTo>
                <a:lnTo>
                  <a:pt x="3171" y="688"/>
                </a:lnTo>
                <a:lnTo>
                  <a:pt x="3168" y="686"/>
                </a:lnTo>
                <a:lnTo>
                  <a:pt x="3168" y="683"/>
                </a:lnTo>
                <a:lnTo>
                  <a:pt x="3171" y="677"/>
                </a:lnTo>
                <a:lnTo>
                  <a:pt x="3176" y="670"/>
                </a:lnTo>
                <a:lnTo>
                  <a:pt x="3184" y="661"/>
                </a:lnTo>
                <a:lnTo>
                  <a:pt x="3196" y="649"/>
                </a:lnTo>
                <a:lnTo>
                  <a:pt x="3214" y="635"/>
                </a:lnTo>
                <a:lnTo>
                  <a:pt x="3236" y="618"/>
                </a:lnTo>
                <a:lnTo>
                  <a:pt x="3264" y="598"/>
                </a:lnTo>
                <a:lnTo>
                  <a:pt x="3299" y="574"/>
                </a:lnTo>
                <a:lnTo>
                  <a:pt x="3339" y="546"/>
                </a:lnTo>
                <a:lnTo>
                  <a:pt x="3387" y="515"/>
                </a:lnTo>
                <a:lnTo>
                  <a:pt x="3444" y="477"/>
                </a:lnTo>
                <a:lnTo>
                  <a:pt x="3507" y="437"/>
                </a:lnTo>
                <a:lnTo>
                  <a:pt x="3581" y="392"/>
                </a:lnTo>
                <a:lnTo>
                  <a:pt x="3664" y="339"/>
                </a:lnTo>
                <a:lnTo>
                  <a:pt x="3757" y="284"/>
                </a:lnTo>
                <a:lnTo>
                  <a:pt x="3862" y="221"/>
                </a:lnTo>
                <a:lnTo>
                  <a:pt x="3976" y="153"/>
                </a:lnTo>
                <a:lnTo>
                  <a:pt x="4003" y="135"/>
                </a:lnTo>
                <a:lnTo>
                  <a:pt x="4025" y="118"/>
                </a:lnTo>
                <a:lnTo>
                  <a:pt x="4043" y="101"/>
                </a:lnTo>
                <a:lnTo>
                  <a:pt x="4056" y="86"/>
                </a:lnTo>
                <a:lnTo>
                  <a:pt x="4064" y="72"/>
                </a:lnTo>
                <a:lnTo>
                  <a:pt x="4069" y="62"/>
                </a:lnTo>
                <a:lnTo>
                  <a:pt x="4069" y="55"/>
                </a:lnTo>
                <a:lnTo>
                  <a:pt x="4064" y="53"/>
                </a:lnTo>
                <a:lnTo>
                  <a:pt x="4039" y="57"/>
                </a:lnTo>
                <a:lnTo>
                  <a:pt x="4012" y="70"/>
                </a:lnTo>
                <a:lnTo>
                  <a:pt x="3985" y="90"/>
                </a:lnTo>
                <a:lnTo>
                  <a:pt x="3958" y="109"/>
                </a:lnTo>
                <a:lnTo>
                  <a:pt x="3934" y="128"/>
                </a:lnTo>
                <a:lnTo>
                  <a:pt x="3913" y="142"/>
                </a:lnTo>
                <a:lnTo>
                  <a:pt x="3896" y="146"/>
                </a:lnTo>
                <a:lnTo>
                  <a:pt x="3884" y="135"/>
                </a:lnTo>
                <a:lnTo>
                  <a:pt x="3870" y="157"/>
                </a:lnTo>
                <a:lnTo>
                  <a:pt x="3868" y="165"/>
                </a:lnTo>
                <a:lnTo>
                  <a:pt x="3870" y="163"/>
                </a:lnTo>
                <a:lnTo>
                  <a:pt x="3874" y="154"/>
                </a:lnTo>
                <a:lnTo>
                  <a:pt x="3871" y="146"/>
                </a:lnTo>
                <a:lnTo>
                  <a:pt x="3858" y="146"/>
                </a:lnTo>
                <a:lnTo>
                  <a:pt x="3826" y="155"/>
                </a:lnTo>
                <a:lnTo>
                  <a:pt x="3772" y="181"/>
                </a:lnTo>
                <a:lnTo>
                  <a:pt x="3755" y="191"/>
                </a:lnTo>
                <a:lnTo>
                  <a:pt x="3735" y="202"/>
                </a:lnTo>
                <a:lnTo>
                  <a:pt x="3714" y="213"/>
                </a:lnTo>
                <a:lnTo>
                  <a:pt x="3691" y="228"/>
                </a:lnTo>
                <a:lnTo>
                  <a:pt x="3668" y="242"/>
                </a:lnTo>
                <a:lnTo>
                  <a:pt x="3643" y="257"/>
                </a:lnTo>
                <a:lnTo>
                  <a:pt x="3616" y="273"/>
                </a:lnTo>
                <a:lnTo>
                  <a:pt x="3589" y="291"/>
                </a:lnTo>
                <a:lnTo>
                  <a:pt x="3561" y="308"/>
                </a:lnTo>
                <a:lnTo>
                  <a:pt x="3532" y="326"/>
                </a:lnTo>
                <a:lnTo>
                  <a:pt x="3503" y="346"/>
                </a:lnTo>
                <a:lnTo>
                  <a:pt x="3472" y="365"/>
                </a:lnTo>
                <a:lnTo>
                  <a:pt x="3443" y="384"/>
                </a:lnTo>
                <a:lnTo>
                  <a:pt x="3412" y="405"/>
                </a:lnTo>
                <a:lnTo>
                  <a:pt x="3380" y="425"/>
                </a:lnTo>
                <a:lnTo>
                  <a:pt x="3349" y="446"/>
                </a:lnTo>
                <a:lnTo>
                  <a:pt x="3318" y="467"/>
                </a:lnTo>
                <a:lnTo>
                  <a:pt x="3285" y="487"/>
                </a:lnTo>
                <a:lnTo>
                  <a:pt x="3256" y="508"/>
                </a:lnTo>
                <a:lnTo>
                  <a:pt x="3225" y="529"/>
                </a:lnTo>
                <a:lnTo>
                  <a:pt x="3195" y="548"/>
                </a:lnTo>
                <a:lnTo>
                  <a:pt x="3165" y="570"/>
                </a:lnTo>
                <a:lnTo>
                  <a:pt x="3138" y="588"/>
                </a:lnTo>
                <a:lnTo>
                  <a:pt x="3109" y="608"/>
                </a:lnTo>
                <a:lnTo>
                  <a:pt x="3082" y="626"/>
                </a:lnTo>
                <a:lnTo>
                  <a:pt x="3057" y="644"/>
                </a:lnTo>
                <a:lnTo>
                  <a:pt x="3032" y="661"/>
                </a:lnTo>
                <a:lnTo>
                  <a:pt x="3008" y="677"/>
                </a:lnTo>
                <a:lnTo>
                  <a:pt x="2985" y="694"/>
                </a:lnTo>
                <a:lnTo>
                  <a:pt x="2965" y="708"/>
                </a:lnTo>
                <a:lnTo>
                  <a:pt x="2946" y="721"/>
                </a:lnTo>
                <a:lnTo>
                  <a:pt x="2928" y="733"/>
                </a:lnTo>
                <a:lnTo>
                  <a:pt x="2879" y="768"/>
                </a:lnTo>
                <a:lnTo>
                  <a:pt x="2829" y="803"/>
                </a:lnTo>
                <a:lnTo>
                  <a:pt x="2781" y="836"/>
                </a:lnTo>
                <a:lnTo>
                  <a:pt x="2732" y="868"/>
                </a:lnTo>
                <a:lnTo>
                  <a:pt x="2684" y="901"/>
                </a:lnTo>
                <a:lnTo>
                  <a:pt x="2637" y="932"/>
                </a:lnTo>
                <a:lnTo>
                  <a:pt x="2590" y="963"/>
                </a:lnTo>
                <a:lnTo>
                  <a:pt x="2544" y="994"/>
                </a:lnTo>
                <a:lnTo>
                  <a:pt x="2499" y="1025"/>
                </a:lnTo>
                <a:lnTo>
                  <a:pt x="2455" y="1057"/>
                </a:lnTo>
                <a:lnTo>
                  <a:pt x="2410" y="1087"/>
                </a:lnTo>
                <a:lnTo>
                  <a:pt x="2367" y="1117"/>
                </a:lnTo>
                <a:lnTo>
                  <a:pt x="2324" y="1146"/>
                </a:lnTo>
                <a:lnTo>
                  <a:pt x="2281" y="1177"/>
                </a:lnTo>
                <a:lnTo>
                  <a:pt x="2240" y="1208"/>
                </a:lnTo>
                <a:lnTo>
                  <a:pt x="2199" y="1237"/>
                </a:lnTo>
                <a:lnTo>
                  <a:pt x="2175" y="1258"/>
                </a:lnTo>
                <a:lnTo>
                  <a:pt x="2153" y="1280"/>
                </a:lnTo>
                <a:lnTo>
                  <a:pt x="2132" y="1303"/>
                </a:lnTo>
                <a:lnTo>
                  <a:pt x="2111" y="1326"/>
                </a:lnTo>
                <a:lnTo>
                  <a:pt x="2092" y="1349"/>
                </a:lnTo>
                <a:lnTo>
                  <a:pt x="2072" y="1372"/>
                </a:lnTo>
                <a:lnTo>
                  <a:pt x="2055" y="1396"/>
                </a:lnTo>
                <a:lnTo>
                  <a:pt x="2036" y="1419"/>
                </a:lnTo>
                <a:lnTo>
                  <a:pt x="2017" y="1443"/>
                </a:lnTo>
                <a:lnTo>
                  <a:pt x="2001" y="1466"/>
                </a:lnTo>
                <a:lnTo>
                  <a:pt x="1982" y="1490"/>
                </a:lnTo>
                <a:lnTo>
                  <a:pt x="1964" y="1512"/>
                </a:lnTo>
                <a:lnTo>
                  <a:pt x="1945" y="1536"/>
                </a:lnTo>
                <a:lnTo>
                  <a:pt x="1927" y="1556"/>
                </a:lnTo>
                <a:lnTo>
                  <a:pt x="1907" y="1578"/>
                </a:lnTo>
                <a:lnTo>
                  <a:pt x="1888" y="1599"/>
                </a:lnTo>
                <a:lnTo>
                  <a:pt x="1865" y="1621"/>
                </a:lnTo>
                <a:lnTo>
                  <a:pt x="1841" y="1647"/>
                </a:lnTo>
                <a:lnTo>
                  <a:pt x="1817" y="1679"/>
                </a:lnTo>
                <a:lnTo>
                  <a:pt x="1792" y="1714"/>
                </a:lnTo>
                <a:lnTo>
                  <a:pt x="1768" y="1747"/>
                </a:lnTo>
                <a:lnTo>
                  <a:pt x="1744" y="1778"/>
                </a:lnTo>
                <a:lnTo>
                  <a:pt x="1722" y="1805"/>
                </a:lnTo>
                <a:lnTo>
                  <a:pt x="1703" y="1824"/>
                </a:lnTo>
                <a:lnTo>
                  <a:pt x="1675" y="1845"/>
                </a:lnTo>
                <a:lnTo>
                  <a:pt x="1657" y="1860"/>
                </a:lnTo>
                <a:lnTo>
                  <a:pt x="1643" y="1869"/>
                </a:lnTo>
                <a:lnTo>
                  <a:pt x="1634" y="1876"/>
                </a:lnTo>
                <a:lnTo>
                  <a:pt x="1624" y="1882"/>
                </a:lnTo>
                <a:lnTo>
                  <a:pt x="1613" y="1893"/>
                </a:lnTo>
                <a:lnTo>
                  <a:pt x="1598" y="1906"/>
                </a:lnTo>
                <a:lnTo>
                  <a:pt x="1577" y="1928"/>
                </a:lnTo>
                <a:lnTo>
                  <a:pt x="1555" y="1962"/>
                </a:lnTo>
                <a:lnTo>
                  <a:pt x="1537" y="1996"/>
                </a:lnTo>
                <a:lnTo>
                  <a:pt x="1519" y="2034"/>
                </a:lnTo>
                <a:lnTo>
                  <a:pt x="1504" y="2073"/>
                </a:lnTo>
                <a:lnTo>
                  <a:pt x="1487" y="2109"/>
                </a:lnTo>
                <a:lnTo>
                  <a:pt x="1471" y="2146"/>
                </a:lnTo>
                <a:lnTo>
                  <a:pt x="1457" y="2183"/>
                </a:lnTo>
                <a:lnTo>
                  <a:pt x="1440" y="2216"/>
                </a:lnTo>
                <a:lnTo>
                  <a:pt x="1425" y="2187"/>
                </a:lnTo>
                <a:lnTo>
                  <a:pt x="1406" y="2158"/>
                </a:lnTo>
                <a:lnTo>
                  <a:pt x="1388" y="2128"/>
                </a:lnTo>
                <a:lnTo>
                  <a:pt x="1367" y="2098"/>
                </a:lnTo>
                <a:lnTo>
                  <a:pt x="1345" y="2070"/>
                </a:lnTo>
                <a:lnTo>
                  <a:pt x="1323" y="2040"/>
                </a:lnTo>
                <a:lnTo>
                  <a:pt x="1301" y="2011"/>
                </a:lnTo>
                <a:lnTo>
                  <a:pt x="1278" y="1982"/>
                </a:lnTo>
                <a:lnTo>
                  <a:pt x="1255" y="1952"/>
                </a:lnTo>
                <a:lnTo>
                  <a:pt x="1234" y="1922"/>
                </a:lnTo>
                <a:lnTo>
                  <a:pt x="1214" y="1894"/>
                </a:lnTo>
                <a:lnTo>
                  <a:pt x="1196" y="1864"/>
                </a:lnTo>
                <a:lnTo>
                  <a:pt x="1178" y="1835"/>
                </a:lnTo>
                <a:lnTo>
                  <a:pt x="1163" y="1806"/>
                </a:lnTo>
                <a:lnTo>
                  <a:pt x="1150" y="1776"/>
                </a:lnTo>
                <a:lnTo>
                  <a:pt x="1141" y="1748"/>
                </a:lnTo>
                <a:lnTo>
                  <a:pt x="1125" y="1708"/>
                </a:lnTo>
                <a:lnTo>
                  <a:pt x="1109" y="1665"/>
                </a:lnTo>
                <a:lnTo>
                  <a:pt x="1090" y="1621"/>
                </a:lnTo>
                <a:lnTo>
                  <a:pt x="1072" y="1576"/>
                </a:lnTo>
                <a:lnTo>
                  <a:pt x="1053" y="1531"/>
                </a:lnTo>
                <a:lnTo>
                  <a:pt x="1036" y="1486"/>
                </a:lnTo>
                <a:lnTo>
                  <a:pt x="1019" y="1443"/>
                </a:lnTo>
                <a:lnTo>
                  <a:pt x="1006" y="1401"/>
                </a:lnTo>
                <a:lnTo>
                  <a:pt x="982" y="1410"/>
                </a:lnTo>
                <a:lnTo>
                  <a:pt x="961" y="1421"/>
                </a:lnTo>
                <a:lnTo>
                  <a:pt x="938" y="1429"/>
                </a:lnTo>
                <a:lnTo>
                  <a:pt x="917" y="1438"/>
                </a:lnTo>
                <a:lnTo>
                  <a:pt x="894" y="1447"/>
                </a:lnTo>
                <a:lnTo>
                  <a:pt x="873" y="1454"/>
                </a:lnTo>
                <a:lnTo>
                  <a:pt x="850" y="1462"/>
                </a:lnTo>
                <a:lnTo>
                  <a:pt x="828" y="1472"/>
                </a:lnTo>
                <a:lnTo>
                  <a:pt x="811" y="1480"/>
                </a:lnTo>
                <a:lnTo>
                  <a:pt x="793" y="1487"/>
                </a:lnTo>
                <a:lnTo>
                  <a:pt x="775" y="1496"/>
                </a:lnTo>
                <a:lnTo>
                  <a:pt x="758" y="1505"/>
                </a:lnTo>
                <a:lnTo>
                  <a:pt x="740" y="1512"/>
                </a:lnTo>
                <a:lnTo>
                  <a:pt x="724" y="1521"/>
                </a:lnTo>
                <a:lnTo>
                  <a:pt x="706" y="1528"/>
                </a:lnTo>
                <a:lnTo>
                  <a:pt x="689" y="1537"/>
                </a:lnTo>
                <a:lnTo>
                  <a:pt x="672" y="1545"/>
                </a:lnTo>
                <a:lnTo>
                  <a:pt x="654" y="1553"/>
                </a:lnTo>
                <a:lnTo>
                  <a:pt x="638" y="1561"/>
                </a:lnTo>
                <a:lnTo>
                  <a:pt x="621" y="1570"/>
                </a:lnTo>
                <a:lnTo>
                  <a:pt x="604" y="1576"/>
                </a:lnTo>
                <a:lnTo>
                  <a:pt x="588" y="1585"/>
                </a:lnTo>
                <a:lnTo>
                  <a:pt x="571" y="1593"/>
                </a:lnTo>
                <a:lnTo>
                  <a:pt x="555" y="1601"/>
                </a:lnTo>
                <a:lnTo>
                  <a:pt x="551" y="1601"/>
                </a:lnTo>
                <a:lnTo>
                  <a:pt x="543" y="1601"/>
                </a:lnTo>
                <a:lnTo>
                  <a:pt x="529" y="1603"/>
                </a:lnTo>
                <a:lnTo>
                  <a:pt x="512" y="1607"/>
                </a:lnTo>
                <a:lnTo>
                  <a:pt x="493" y="1611"/>
                </a:lnTo>
                <a:lnTo>
                  <a:pt x="470" y="1617"/>
                </a:lnTo>
                <a:lnTo>
                  <a:pt x="447" y="1625"/>
                </a:lnTo>
                <a:lnTo>
                  <a:pt x="422" y="1632"/>
                </a:lnTo>
                <a:lnTo>
                  <a:pt x="397" y="1638"/>
                </a:lnTo>
                <a:lnTo>
                  <a:pt x="374" y="1645"/>
                </a:lnTo>
                <a:lnTo>
                  <a:pt x="352" y="1653"/>
                </a:lnTo>
                <a:lnTo>
                  <a:pt x="334" y="1657"/>
                </a:lnTo>
                <a:lnTo>
                  <a:pt x="316" y="1661"/>
                </a:lnTo>
                <a:lnTo>
                  <a:pt x="305" y="1665"/>
                </a:lnTo>
                <a:lnTo>
                  <a:pt x="298" y="1665"/>
                </a:lnTo>
                <a:lnTo>
                  <a:pt x="295" y="1663"/>
                </a:lnTo>
                <a:lnTo>
                  <a:pt x="275" y="1674"/>
                </a:lnTo>
                <a:lnTo>
                  <a:pt x="257" y="1685"/>
                </a:lnTo>
                <a:lnTo>
                  <a:pt x="237" y="1696"/>
                </a:lnTo>
                <a:lnTo>
                  <a:pt x="220" y="1708"/>
                </a:lnTo>
                <a:lnTo>
                  <a:pt x="199" y="1718"/>
                </a:lnTo>
                <a:lnTo>
                  <a:pt x="181" y="1728"/>
                </a:lnTo>
                <a:lnTo>
                  <a:pt x="161" y="1739"/>
                </a:lnTo>
                <a:lnTo>
                  <a:pt x="143" y="1750"/>
                </a:lnTo>
                <a:lnTo>
                  <a:pt x="124" y="1761"/>
                </a:lnTo>
                <a:lnTo>
                  <a:pt x="106" y="1773"/>
                </a:lnTo>
                <a:lnTo>
                  <a:pt x="88" y="1783"/>
                </a:lnTo>
                <a:lnTo>
                  <a:pt x="70" y="1794"/>
                </a:lnTo>
                <a:lnTo>
                  <a:pt x="53" y="1805"/>
                </a:lnTo>
                <a:lnTo>
                  <a:pt x="35" y="1816"/>
                </a:lnTo>
                <a:lnTo>
                  <a:pt x="18" y="1827"/>
                </a:lnTo>
                <a:lnTo>
                  <a:pt x="0" y="1838"/>
                </a:lnTo>
                <a:close/>
              </a:path>
            </a:pathLst>
          </a:custGeom>
          <a:solidFill>
            <a:srgbClr val="C00000"/>
          </a:solidFill>
          <a:ln w="9525">
            <a:noFill/>
            <a:round/>
            <a:headEnd/>
            <a:tailEnd/>
          </a:ln>
        </p:spPr>
        <p:txBody>
          <a:bodyPr lIns="36000" tIns="36000" rIns="36000" bIns="36000" anchor="ctr" anchorCtr="0"/>
          <a:lstStyle/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endParaRPr kumimoji="1" lang="ko-KR" altLang="en-US" sz="1100" b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000000"/>
              </a:solidFill>
              <a:latin typeface="하나 M" panose="02020603020101020101" pitchFamily="18" charset="-127"/>
              <a:ea typeface="하나 M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F6A3AC-FAFE-74AD-109D-18B347352E4E}"/>
              </a:ext>
            </a:extLst>
          </p:cNvPr>
          <p:cNvSpPr txBox="1"/>
          <p:nvPr/>
        </p:nvSpPr>
        <p:spPr>
          <a:xfrm>
            <a:off x="7741920" y="2179320"/>
            <a:ext cx="0" cy="0"/>
          </a:xfrm>
          <a:prstGeom prst="rect">
            <a:avLst/>
          </a:prstGeom>
          <a:noFill/>
        </p:spPr>
        <p:txBody>
          <a:bodyPr wrap="none" lIns="54610" tIns="54610" rIns="54610" bIns="54610" rtlCol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900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1082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8F423-E718-44FC-98EF-2F2AD5832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6A8178A8-B1A6-3F67-5F37-887033FBD775}"/>
              </a:ext>
            </a:extLst>
          </p:cNvPr>
          <p:cNvSpPr/>
          <p:nvPr/>
        </p:nvSpPr>
        <p:spPr>
          <a:xfrm>
            <a:off x="2780006" y="3532989"/>
            <a:ext cx="6637044" cy="180257"/>
          </a:xfrm>
          <a:prstGeom prst="roundRect">
            <a:avLst>
              <a:gd name="adj" fmla="val 3190"/>
            </a:avLst>
          </a:prstGeom>
          <a:solidFill>
            <a:srgbClr val="E4F6FF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 anchorCtr="0"/>
          <a:lstStyle/>
          <a:p>
            <a:r>
              <a:rPr lang="en-US" altLang="ko-KR" sz="1000" b="1">
                <a:solidFill>
                  <a:srgbClr val="00338D"/>
                </a:solidFill>
                <a:latin typeface="Aptos" panose="020B0004020202020204" pitchFamily="34" charset="0"/>
              </a:rPr>
              <a:t>Variable Classification</a:t>
            </a:r>
            <a:endParaRPr lang="ko-KR" altLang="en-US" sz="1000" b="1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201F4E38-4E50-8385-1D7D-2F9C0FCB9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126" y="946206"/>
            <a:ext cx="8928100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buClr>
                <a:srgbClr val="00338D"/>
              </a:buClr>
              <a:buSzPct val="90000"/>
            </a:pPr>
            <a:r>
              <a:rPr lang="en-US" altLang="ko-KR" sz="1100" b="1">
                <a:ln>
                  <a:solidFill>
                    <a:schemeClr val="accent1">
                      <a:alpha val="0"/>
                    </a:schemeClr>
                  </a:solidFill>
                </a:ln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aims to identify key factors associated with employee attrition, develop predictive models to identify employees at risk of leaving, and estimate potential cost savings through targeted retention incentives.</a:t>
            </a:r>
          </a:p>
        </p:txBody>
      </p:sp>
      <p:sp>
        <p:nvSpPr>
          <p:cNvPr id="3" name="Rectangle 39">
            <a:extLst>
              <a:ext uri="{FF2B5EF4-FFF2-40B4-BE49-F238E27FC236}">
                <a16:creationId xmlns:a16="http://schemas.microsoft.com/office/drawing/2014/main" id="{4CB06777-47C9-793F-B9ED-DC81610C0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65693"/>
            <a:ext cx="8928100" cy="3560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marL="342900" indent="-342900" eaLnBrk="0" fontAlgn="b" hangingPunct="0">
              <a:lnSpc>
                <a:spcPts val="3300"/>
              </a:lnSpc>
              <a:buClr>
                <a:srgbClr val="1F497D"/>
              </a:buClr>
              <a:defRPr/>
            </a:pPr>
            <a:r>
              <a:rPr lang="en-US" altLang="ko-KR" sz="2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&amp; Data Summary</a:t>
            </a:r>
            <a:endParaRPr lang="en-US" altLang="ko-KR" sz="14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139ACA-3F4C-B36B-B4FA-C65391B4762C}"/>
              </a:ext>
            </a:extLst>
          </p:cNvPr>
          <p:cNvSpPr txBox="1"/>
          <p:nvPr/>
        </p:nvSpPr>
        <p:spPr>
          <a:xfrm>
            <a:off x="6936782" y="526127"/>
            <a:ext cx="2610897" cy="235193"/>
          </a:xfrm>
          <a:prstGeom prst="rect">
            <a:avLst/>
          </a:prstGeom>
          <a:noFill/>
        </p:spPr>
        <p:txBody>
          <a:bodyPr wrap="square" lIns="54610" tIns="54610" rIns="54610" bIns="54610" rtlCol="0">
            <a:noAutofit/>
          </a:bodyPr>
          <a:lstStyle/>
          <a:p>
            <a:pPr marL="0" indent="0" algn="r">
              <a:spcAft>
                <a:spcPts val="600"/>
              </a:spcAft>
              <a:buNone/>
            </a:pPr>
            <a:r>
              <a:rPr lang="en-US" altLang="ko-KR" sz="1000" b="1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Overview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BF33E67-1D2E-A798-E3DF-39D7506228D8}"/>
              </a:ext>
            </a:extLst>
          </p:cNvPr>
          <p:cNvSpPr/>
          <p:nvPr/>
        </p:nvSpPr>
        <p:spPr>
          <a:xfrm>
            <a:off x="585453" y="3713247"/>
            <a:ext cx="2113296" cy="1908180"/>
          </a:xfrm>
          <a:prstGeom prst="rect">
            <a:avLst/>
          </a:prstGeom>
          <a:solidFill>
            <a:srgbClr val="F2F9FF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66F932F-4B8A-7CB6-D47D-74BEA8C81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068783"/>
              </p:ext>
            </p:extLst>
          </p:nvPr>
        </p:nvGraphicFramePr>
        <p:xfrm>
          <a:off x="908904" y="3716352"/>
          <a:ext cx="1789332" cy="1901376"/>
        </p:xfrm>
        <a:graphic>
          <a:graphicData uri="http://schemas.openxmlformats.org/drawingml/2006/table">
            <a:tbl>
              <a:tblPr/>
              <a:tblGrid>
                <a:gridCol w="833625">
                  <a:extLst>
                    <a:ext uri="{9D8B030D-6E8A-4147-A177-3AD203B41FA5}">
                      <a16:colId xmlns:a16="http://schemas.microsoft.com/office/drawing/2014/main" val="1952291369"/>
                    </a:ext>
                  </a:extLst>
                </a:gridCol>
                <a:gridCol w="955707">
                  <a:extLst>
                    <a:ext uri="{9D8B030D-6E8A-4147-A177-3AD203B41FA5}">
                      <a16:colId xmlns:a16="http://schemas.microsoft.com/office/drawing/2014/main" val="2111351344"/>
                    </a:ext>
                  </a:extLst>
                </a:gridCol>
              </a:tblGrid>
              <a:tr h="3168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err="1">
                          <a:solidFill>
                            <a:srgbClr val="005EB8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Client</a:t>
                      </a:r>
                      <a:endParaRPr lang="ko-KR" sz="700" b="0" i="0" u="none" strike="noStrike">
                        <a:solidFill>
                          <a:srgbClr val="005EB8"/>
                        </a:solidFill>
                        <a:effectLst/>
                        <a:latin typeface="Aptos" panose="020B00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1" i="0" u="none" strike="noStrike" err="1">
                          <a:solidFill>
                            <a:srgbClr val="005EB8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Frito</a:t>
                      </a:r>
                      <a:r>
                        <a:rPr lang="ko-KR" sz="700" b="1" i="0" u="none" strike="noStrike">
                          <a:solidFill>
                            <a:srgbClr val="005EB8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700" b="1" i="0" u="none" strike="noStrike" err="1">
                          <a:solidFill>
                            <a:srgbClr val="005EB8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Lay</a:t>
                      </a:r>
                      <a:endParaRPr lang="ko-KR" sz="700" b="1" i="0" u="none" strike="noStrike">
                        <a:solidFill>
                          <a:srgbClr val="005EB8"/>
                        </a:solidFill>
                        <a:effectLst/>
                        <a:latin typeface="Aptos" panose="020B00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525723"/>
                  </a:ext>
                </a:extLst>
              </a:tr>
              <a:tr h="3168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err="1">
                          <a:solidFill>
                            <a:srgbClr val="005EB8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Analytics</a:t>
                      </a:r>
                      <a:r>
                        <a:rPr lang="ko-KR" sz="700" b="0" i="0" u="none" strike="noStrike">
                          <a:solidFill>
                            <a:srgbClr val="005EB8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700" b="0" i="0" u="none" strike="noStrike" err="1">
                          <a:solidFill>
                            <a:srgbClr val="005EB8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Partner</a:t>
                      </a:r>
                      <a:endParaRPr lang="ko-KR" sz="700" b="0" i="0" u="none" strike="noStrike">
                        <a:solidFill>
                          <a:srgbClr val="005EB8"/>
                        </a:solidFill>
                        <a:effectLst/>
                        <a:latin typeface="Aptos" panose="020B00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1" i="0" u="none" strike="noStrike" err="1">
                          <a:solidFill>
                            <a:srgbClr val="005EB8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DDSAnalytics</a:t>
                      </a:r>
                      <a:endParaRPr lang="ko-KR" sz="700" b="1" i="0" u="none" strike="noStrike">
                        <a:solidFill>
                          <a:srgbClr val="005EB8"/>
                        </a:solidFill>
                        <a:effectLst/>
                        <a:latin typeface="Aptos" panose="020B00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835966"/>
                  </a:ext>
                </a:extLst>
              </a:tr>
              <a:tr h="3168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err="1">
                          <a:solidFill>
                            <a:srgbClr val="005EB8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Total</a:t>
                      </a:r>
                      <a:r>
                        <a:rPr lang="ko-KR" sz="700" b="0" i="0" u="none" strike="noStrike">
                          <a:solidFill>
                            <a:srgbClr val="005EB8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700" b="0" i="0" u="none" strike="noStrike" err="1">
                          <a:solidFill>
                            <a:srgbClr val="005EB8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Observations</a:t>
                      </a:r>
                      <a:endParaRPr lang="ko-KR" sz="700" b="0" i="0" u="none" strike="noStrike">
                        <a:solidFill>
                          <a:srgbClr val="005EB8"/>
                        </a:solidFill>
                        <a:effectLst/>
                        <a:latin typeface="Aptos" panose="020B00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1" i="0" u="none" strike="noStrike">
                          <a:solidFill>
                            <a:srgbClr val="005EB8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870</a:t>
                      </a:r>
                    </a:p>
                  </a:txBody>
                  <a:tcPr marL="36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890769"/>
                  </a:ext>
                </a:extLst>
              </a:tr>
              <a:tr h="3168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err="1">
                          <a:solidFill>
                            <a:srgbClr val="005EB8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Total</a:t>
                      </a:r>
                      <a:r>
                        <a:rPr lang="ko-KR" sz="700" b="0" i="0" u="none" strike="noStrike">
                          <a:solidFill>
                            <a:srgbClr val="005EB8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700" b="0" i="0" u="none" strike="noStrike" err="1">
                          <a:solidFill>
                            <a:srgbClr val="005EB8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Variables</a:t>
                      </a:r>
                      <a:endParaRPr lang="ko-KR" sz="700" b="0" i="0" u="none" strike="noStrike">
                        <a:solidFill>
                          <a:srgbClr val="005EB8"/>
                        </a:solidFill>
                        <a:effectLst/>
                        <a:latin typeface="Aptos" panose="020B00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1" i="0" u="none" strike="noStrike" dirty="0">
                          <a:solidFill>
                            <a:srgbClr val="005EB8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36</a:t>
                      </a:r>
                    </a:p>
                  </a:txBody>
                  <a:tcPr marL="36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021456"/>
                  </a:ext>
                </a:extLst>
              </a:tr>
              <a:tr h="3168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err="1">
                          <a:solidFill>
                            <a:srgbClr val="005EB8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Identifier</a:t>
                      </a:r>
                      <a:endParaRPr lang="ko-KR" sz="700" b="0" i="0" u="none" strike="noStrike">
                        <a:solidFill>
                          <a:srgbClr val="005EB8"/>
                        </a:solidFill>
                        <a:effectLst/>
                        <a:latin typeface="Aptos" panose="020B00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700" b="1" i="0" u="none" strike="noStrike">
                          <a:solidFill>
                            <a:srgbClr val="005EB8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ID, </a:t>
                      </a:r>
                      <a:r>
                        <a:rPr lang="en-US" altLang="ko-KR" sz="700" b="1" i="0" u="none" strike="noStrike" err="1">
                          <a:solidFill>
                            <a:srgbClr val="005EB8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EmployeeNumber</a:t>
                      </a:r>
                      <a:endParaRPr lang="ko-KR" sz="700" b="1" i="0" u="none" strike="noStrike">
                        <a:solidFill>
                          <a:srgbClr val="005EB8"/>
                        </a:solidFill>
                        <a:effectLst/>
                        <a:latin typeface="Aptos" panose="020B00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04602"/>
                  </a:ext>
                </a:extLst>
              </a:tr>
              <a:tr h="3168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5EB8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Target</a:t>
                      </a:r>
                    </a:p>
                  </a:txBody>
                  <a:tcPr marL="36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1" i="0" u="none" strike="noStrike" dirty="0" err="1">
                          <a:solidFill>
                            <a:srgbClr val="005EB8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Attrition</a:t>
                      </a:r>
                      <a:r>
                        <a:rPr lang="en-US" altLang="ko-KR" sz="700" b="1" i="0" u="none" strike="noStrike" dirty="0">
                          <a:solidFill>
                            <a:srgbClr val="005EB8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 (Y/N)</a:t>
                      </a:r>
                      <a:endParaRPr lang="ko-KR" sz="700" b="1" i="0" u="none" strike="noStrike" dirty="0">
                        <a:solidFill>
                          <a:srgbClr val="005EB8"/>
                        </a:solidFill>
                        <a:effectLst/>
                        <a:latin typeface="Aptos" panose="020B00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9806388"/>
                  </a:ext>
                </a:extLst>
              </a:tr>
            </a:tbl>
          </a:graphicData>
        </a:graphic>
      </p:graphicFrame>
      <p:grpSp>
        <p:nvGrpSpPr>
          <p:cNvPr id="36" name="그룹 35">
            <a:extLst>
              <a:ext uri="{FF2B5EF4-FFF2-40B4-BE49-F238E27FC236}">
                <a16:creationId xmlns:a16="http://schemas.microsoft.com/office/drawing/2014/main" id="{6E5A9C3D-8405-4C11-F932-16EFEF1C460B}"/>
              </a:ext>
            </a:extLst>
          </p:cNvPr>
          <p:cNvGrpSpPr/>
          <p:nvPr/>
        </p:nvGrpSpPr>
        <p:grpSpPr>
          <a:xfrm>
            <a:off x="632401" y="3790967"/>
            <a:ext cx="180000" cy="180000"/>
            <a:chOff x="5612775" y="4155263"/>
            <a:chExt cx="252000" cy="252000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CE1519A9-A6E1-808F-B092-A4F0D8A8CBFE}"/>
                </a:ext>
              </a:extLst>
            </p:cNvPr>
            <p:cNvSpPr/>
            <p:nvPr/>
          </p:nvSpPr>
          <p:spPr>
            <a:xfrm>
              <a:off x="5612775" y="4155263"/>
              <a:ext cx="252000" cy="252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/>
            <a:lstStyle/>
            <a:p>
              <a:pPr algn="ctr"/>
              <a:endParaRPr lang="ko-KR" altLang="en-US" sz="900" err="1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pic>
          <p:nvPicPr>
            <p:cNvPr id="23" name="그래픽 22" descr="건물 단색으로 채워진">
              <a:extLst>
                <a:ext uri="{FF2B5EF4-FFF2-40B4-BE49-F238E27FC236}">
                  <a16:creationId xmlns:a16="http://schemas.microsoft.com/office/drawing/2014/main" id="{9C645ADC-4D88-3FE7-24C7-23D48EF111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48775" y="4191263"/>
              <a:ext cx="180000" cy="180000"/>
            </a:xfrm>
            <a:prstGeom prst="rect">
              <a:avLst/>
            </a:prstGeom>
          </p:spPr>
        </p:pic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37FCD0A4-7417-105B-2257-D92016E91BAC}"/>
              </a:ext>
            </a:extLst>
          </p:cNvPr>
          <p:cNvGrpSpPr/>
          <p:nvPr/>
        </p:nvGrpSpPr>
        <p:grpSpPr>
          <a:xfrm>
            <a:off x="632401" y="4105935"/>
            <a:ext cx="180000" cy="180000"/>
            <a:chOff x="1752455" y="4481734"/>
            <a:chExt cx="252000" cy="252000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BEF660F2-BB0E-D97D-C3C8-B81B479C2918}"/>
                </a:ext>
              </a:extLst>
            </p:cNvPr>
            <p:cNvSpPr/>
            <p:nvPr/>
          </p:nvSpPr>
          <p:spPr>
            <a:xfrm>
              <a:off x="1752455" y="4481734"/>
              <a:ext cx="252000" cy="252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/>
            <a:lstStyle/>
            <a:p>
              <a:pPr algn="ctr"/>
              <a:endParaRPr lang="ko-KR" altLang="en-US" sz="900" err="1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pic>
          <p:nvPicPr>
            <p:cNvPr id="53" name="그래픽 52" descr="관리 단색으로 채워진">
              <a:extLst>
                <a:ext uri="{FF2B5EF4-FFF2-40B4-BE49-F238E27FC236}">
                  <a16:creationId xmlns:a16="http://schemas.microsoft.com/office/drawing/2014/main" id="{D3D2AD77-5A85-B90E-048A-9685590B9E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788455" y="4517734"/>
              <a:ext cx="180000" cy="180000"/>
            </a:xfrm>
            <a:prstGeom prst="rect">
              <a:avLst/>
            </a:prstGeom>
          </p:spPr>
        </p:pic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9B57F142-E8CE-C9B5-FF73-901CA10FFCE9}"/>
              </a:ext>
            </a:extLst>
          </p:cNvPr>
          <p:cNvGrpSpPr/>
          <p:nvPr/>
        </p:nvGrpSpPr>
        <p:grpSpPr>
          <a:xfrm>
            <a:off x="632401" y="5365809"/>
            <a:ext cx="180000" cy="180000"/>
            <a:chOff x="600726" y="5661388"/>
            <a:chExt cx="252000" cy="252000"/>
          </a:xfrm>
        </p:grpSpPr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CD264F6A-56D7-CA7C-7C9A-26F96F2C9C6F}"/>
                </a:ext>
              </a:extLst>
            </p:cNvPr>
            <p:cNvSpPr/>
            <p:nvPr/>
          </p:nvSpPr>
          <p:spPr>
            <a:xfrm>
              <a:off x="600726" y="5661388"/>
              <a:ext cx="252000" cy="252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/>
            <a:lstStyle/>
            <a:p>
              <a:pPr algn="ctr"/>
              <a:endParaRPr lang="ko-KR" altLang="en-US" sz="900" err="1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pic>
          <p:nvPicPr>
            <p:cNvPr id="56" name="그래픽 55" descr="과녁 단색으로 채워진">
              <a:extLst>
                <a:ext uri="{FF2B5EF4-FFF2-40B4-BE49-F238E27FC236}">
                  <a16:creationId xmlns:a16="http://schemas.microsoft.com/office/drawing/2014/main" id="{2ECBCA3A-1F5C-2803-C36C-428BBC203A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36726" y="5697388"/>
              <a:ext cx="180000" cy="180000"/>
            </a:xfrm>
            <a:prstGeom prst="rect">
              <a:avLst/>
            </a:prstGeom>
          </p:spPr>
        </p:pic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8B7EB27C-F486-F56F-6727-9E9512178EC9}"/>
              </a:ext>
            </a:extLst>
          </p:cNvPr>
          <p:cNvGrpSpPr/>
          <p:nvPr/>
        </p:nvGrpSpPr>
        <p:grpSpPr>
          <a:xfrm>
            <a:off x="632401" y="4420903"/>
            <a:ext cx="180000" cy="180000"/>
            <a:chOff x="600726" y="4776647"/>
            <a:chExt cx="252000" cy="252000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09DBBA03-A1FF-EB2B-63A1-9A714D46903D}"/>
                </a:ext>
              </a:extLst>
            </p:cNvPr>
            <p:cNvSpPr/>
            <p:nvPr/>
          </p:nvSpPr>
          <p:spPr>
            <a:xfrm>
              <a:off x="600726" y="4776647"/>
              <a:ext cx="252000" cy="252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/>
            <a:lstStyle/>
            <a:p>
              <a:pPr algn="ctr"/>
              <a:endParaRPr lang="ko-KR" altLang="en-US" sz="900" err="1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pic>
          <p:nvPicPr>
            <p:cNvPr id="58" name="그래픽 57" descr="데이터베이스 단색으로 채워진">
              <a:extLst>
                <a:ext uri="{FF2B5EF4-FFF2-40B4-BE49-F238E27FC236}">
                  <a16:creationId xmlns:a16="http://schemas.microsoft.com/office/drawing/2014/main" id="{BD8CDEAE-6917-9DB4-4216-87182F1E1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36726" y="4812647"/>
              <a:ext cx="180000" cy="180000"/>
            </a:xfrm>
            <a:prstGeom prst="rect">
              <a:avLst/>
            </a:prstGeom>
          </p:spPr>
        </p:pic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9633CB3F-8C81-A798-E5FC-CEEF6361F4DB}"/>
              </a:ext>
            </a:extLst>
          </p:cNvPr>
          <p:cNvGrpSpPr/>
          <p:nvPr/>
        </p:nvGrpSpPr>
        <p:grpSpPr>
          <a:xfrm>
            <a:off x="632401" y="4735871"/>
            <a:ext cx="180000" cy="180000"/>
            <a:chOff x="600726" y="5071560"/>
            <a:chExt cx="252000" cy="252000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A591A7CF-2106-40A6-EB49-063B688BD0F7}"/>
                </a:ext>
              </a:extLst>
            </p:cNvPr>
            <p:cNvSpPr/>
            <p:nvPr/>
          </p:nvSpPr>
          <p:spPr>
            <a:xfrm>
              <a:off x="600726" y="5071560"/>
              <a:ext cx="252000" cy="252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/>
            <a:lstStyle/>
            <a:p>
              <a:pPr algn="ctr"/>
              <a:endParaRPr lang="ko-KR" altLang="en-US" sz="900" err="1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pic>
          <p:nvPicPr>
            <p:cNvPr id="60" name="그래픽 59" descr="벤 다이어그램 단색으로 채워진">
              <a:extLst>
                <a:ext uri="{FF2B5EF4-FFF2-40B4-BE49-F238E27FC236}">
                  <a16:creationId xmlns:a16="http://schemas.microsoft.com/office/drawing/2014/main" id="{331CF02A-70C0-7F56-8BFA-FCCCD709B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36726" y="5108806"/>
              <a:ext cx="180000" cy="180000"/>
            </a:xfrm>
            <a:prstGeom prst="rect">
              <a:avLst/>
            </a:prstGeom>
          </p:spPr>
        </p:pic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6C243F3C-D98D-156F-A448-4EF5F894FF71}"/>
              </a:ext>
            </a:extLst>
          </p:cNvPr>
          <p:cNvGrpSpPr/>
          <p:nvPr/>
        </p:nvGrpSpPr>
        <p:grpSpPr>
          <a:xfrm>
            <a:off x="632401" y="5050839"/>
            <a:ext cx="180000" cy="180000"/>
            <a:chOff x="600726" y="5366473"/>
            <a:chExt cx="252000" cy="252000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F36BF27D-2B95-80F3-6AF3-ABC5F87D84E2}"/>
                </a:ext>
              </a:extLst>
            </p:cNvPr>
            <p:cNvSpPr/>
            <p:nvPr/>
          </p:nvSpPr>
          <p:spPr>
            <a:xfrm>
              <a:off x="600726" y="5366473"/>
              <a:ext cx="252000" cy="252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/>
            <a:lstStyle/>
            <a:p>
              <a:pPr algn="ctr"/>
              <a:endParaRPr lang="ko-KR" altLang="en-US" sz="900" err="1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pic>
          <p:nvPicPr>
            <p:cNvPr id="65" name="그래픽 64" descr="오래된 열쇠 단색으로 채워진">
              <a:extLst>
                <a:ext uri="{FF2B5EF4-FFF2-40B4-BE49-F238E27FC236}">
                  <a16:creationId xmlns:a16="http://schemas.microsoft.com/office/drawing/2014/main" id="{4C4030BA-5C91-52F3-1B63-2C24F80555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36726" y="5402473"/>
              <a:ext cx="180000" cy="180000"/>
            </a:xfrm>
            <a:prstGeom prst="rect">
              <a:avLst/>
            </a:prstGeom>
          </p:spPr>
        </p:pic>
      </p:grp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1B5B0F82-E33C-8C64-EA37-7A17FCB5599D}"/>
              </a:ext>
            </a:extLst>
          </p:cNvPr>
          <p:cNvSpPr/>
          <p:nvPr/>
        </p:nvSpPr>
        <p:spPr>
          <a:xfrm>
            <a:off x="2822573" y="3786537"/>
            <a:ext cx="2282828" cy="1796379"/>
          </a:xfrm>
          <a:prstGeom prst="roundRect">
            <a:avLst>
              <a:gd name="adj" fmla="val 4988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7D0FE4F0-4A33-8A9A-207E-A9B883AA03C3}"/>
              </a:ext>
            </a:extLst>
          </p:cNvPr>
          <p:cNvSpPr/>
          <p:nvPr/>
        </p:nvSpPr>
        <p:spPr>
          <a:xfrm>
            <a:off x="2832546" y="4173937"/>
            <a:ext cx="2386822" cy="12764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 anchorCtr="0"/>
          <a:lstStyle/>
          <a:p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Age, </a:t>
            </a:r>
            <a:r>
              <a:rPr lang="en-US" altLang="ko-KR" sz="1000" dirty="0" err="1">
                <a:solidFill>
                  <a:srgbClr val="00338D"/>
                </a:solidFill>
                <a:latin typeface="Aptos" panose="020B0004020202020204" pitchFamily="34" charset="0"/>
              </a:rPr>
              <a:t>DailyRate</a:t>
            </a: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, </a:t>
            </a:r>
            <a:r>
              <a:rPr lang="en-US" altLang="ko-KR" sz="1000" dirty="0" err="1">
                <a:solidFill>
                  <a:srgbClr val="00338D"/>
                </a:solidFill>
                <a:latin typeface="Aptos" panose="020B0004020202020204" pitchFamily="34" charset="0"/>
              </a:rPr>
              <a:t>DistanceFromHome</a:t>
            </a: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, </a:t>
            </a:r>
            <a:r>
              <a:rPr lang="en-US" altLang="ko-KR" sz="1000" dirty="0" err="1">
                <a:solidFill>
                  <a:srgbClr val="00338D"/>
                </a:solidFill>
                <a:latin typeface="Aptos" panose="020B0004020202020204" pitchFamily="34" charset="0"/>
              </a:rPr>
              <a:t>HourlyRate</a:t>
            </a: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, </a:t>
            </a:r>
            <a:r>
              <a:rPr lang="en-US" altLang="ko-KR" sz="1000" dirty="0" err="1">
                <a:solidFill>
                  <a:srgbClr val="00338D"/>
                </a:solidFill>
                <a:latin typeface="Aptos" panose="020B0004020202020204" pitchFamily="34" charset="0"/>
              </a:rPr>
              <a:t>MonthlyIncome</a:t>
            </a: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, </a:t>
            </a:r>
            <a:r>
              <a:rPr lang="en-US" altLang="ko-KR" sz="1000" dirty="0" err="1">
                <a:solidFill>
                  <a:srgbClr val="00338D"/>
                </a:solidFill>
                <a:latin typeface="Aptos" panose="020B0004020202020204" pitchFamily="34" charset="0"/>
              </a:rPr>
              <a:t>MonthlyRate</a:t>
            </a: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, </a:t>
            </a:r>
            <a:r>
              <a:rPr lang="en-US" altLang="ko-KR" sz="1000" dirty="0" err="1">
                <a:solidFill>
                  <a:srgbClr val="00338D"/>
                </a:solidFill>
                <a:latin typeface="Aptos" panose="020B0004020202020204" pitchFamily="34" charset="0"/>
              </a:rPr>
              <a:t>NumCompaniesWorked</a:t>
            </a: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, </a:t>
            </a:r>
            <a:r>
              <a:rPr lang="en-US" altLang="ko-KR" sz="1000" dirty="0" err="1">
                <a:solidFill>
                  <a:srgbClr val="00338D"/>
                </a:solidFill>
                <a:latin typeface="Aptos" panose="020B0004020202020204" pitchFamily="34" charset="0"/>
              </a:rPr>
              <a:t>PercentSalaryHike</a:t>
            </a: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, </a:t>
            </a:r>
            <a:r>
              <a:rPr lang="en-US" altLang="ko-KR" sz="1000" dirty="0" err="1">
                <a:solidFill>
                  <a:srgbClr val="00338D"/>
                </a:solidFill>
                <a:latin typeface="Aptos" panose="020B0004020202020204" pitchFamily="34" charset="0"/>
              </a:rPr>
              <a:t>TotalWorkingYears</a:t>
            </a: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, </a:t>
            </a:r>
            <a:r>
              <a:rPr lang="en-US" altLang="ko-KR" sz="1000" dirty="0" err="1">
                <a:solidFill>
                  <a:srgbClr val="00338D"/>
                </a:solidFill>
                <a:latin typeface="Aptos" panose="020B0004020202020204" pitchFamily="34" charset="0"/>
              </a:rPr>
              <a:t>TrainingTimeLastYear</a:t>
            </a: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, </a:t>
            </a:r>
            <a:r>
              <a:rPr lang="en-US" altLang="ko-KR" sz="1000" dirty="0" err="1">
                <a:solidFill>
                  <a:srgbClr val="00338D"/>
                </a:solidFill>
                <a:latin typeface="Aptos" panose="020B0004020202020204" pitchFamily="34" charset="0"/>
              </a:rPr>
              <a:t>YearsAtCompany</a:t>
            </a: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, </a:t>
            </a:r>
            <a:r>
              <a:rPr lang="en-US" altLang="ko-KR" sz="1000" dirty="0" err="1">
                <a:solidFill>
                  <a:srgbClr val="00338D"/>
                </a:solidFill>
                <a:latin typeface="Aptos" panose="020B0004020202020204" pitchFamily="34" charset="0"/>
              </a:rPr>
              <a:t>YearsInCurrentRole</a:t>
            </a: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, </a:t>
            </a:r>
            <a:r>
              <a:rPr lang="en-US" altLang="ko-KR" sz="1000" dirty="0" err="1">
                <a:solidFill>
                  <a:srgbClr val="00338D"/>
                </a:solidFill>
                <a:latin typeface="Aptos" panose="020B0004020202020204" pitchFamily="34" charset="0"/>
              </a:rPr>
              <a:t>YearsSinceLastPromotion</a:t>
            </a: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, </a:t>
            </a:r>
            <a:r>
              <a:rPr lang="en-US" altLang="ko-KR" sz="1000" dirty="0" err="1">
                <a:solidFill>
                  <a:srgbClr val="00338D"/>
                </a:solidFill>
                <a:latin typeface="Aptos" panose="020B0004020202020204" pitchFamily="34" charset="0"/>
              </a:rPr>
              <a:t>YearsWithCurrManager</a:t>
            </a:r>
            <a:endParaRPr lang="ko-KR" altLang="en-US" sz="1000" dirty="0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B55CCD48-97DC-C1E9-6879-BA886F6A9B33}"/>
              </a:ext>
            </a:extLst>
          </p:cNvPr>
          <p:cNvSpPr/>
          <p:nvPr/>
        </p:nvSpPr>
        <p:spPr>
          <a:xfrm>
            <a:off x="5147642" y="3786537"/>
            <a:ext cx="1674421" cy="1796379"/>
          </a:xfrm>
          <a:prstGeom prst="roundRect">
            <a:avLst>
              <a:gd name="adj" fmla="val 4988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A2D9E80E-824F-D8F5-A01C-03E33B331C15}"/>
              </a:ext>
            </a:extLst>
          </p:cNvPr>
          <p:cNvSpPr/>
          <p:nvPr/>
        </p:nvSpPr>
        <p:spPr>
          <a:xfrm>
            <a:off x="6859366" y="3786537"/>
            <a:ext cx="1259875" cy="1796379"/>
          </a:xfrm>
          <a:prstGeom prst="roundRect">
            <a:avLst>
              <a:gd name="adj" fmla="val 4988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E0D94461-525E-3284-6E0F-B71A0482A99E}"/>
              </a:ext>
            </a:extLst>
          </p:cNvPr>
          <p:cNvSpPr/>
          <p:nvPr/>
        </p:nvSpPr>
        <p:spPr>
          <a:xfrm>
            <a:off x="8168776" y="3786537"/>
            <a:ext cx="1197473" cy="1796379"/>
          </a:xfrm>
          <a:prstGeom prst="roundRect">
            <a:avLst>
              <a:gd name="adj" fmla="val 4988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06290273-DA1D-1C51-6955-536B09C41D9B}"/>
              </a:ext>
            </a:extLst>
          </p:cNvPr>
          <p:cNvSpPr/>
          <p:nvPr/>
        </p:nvSpPr>
        <p:spPr>
          <a:xfrm>
            <a:off x="2860572" y="3824641"/>
            <a:ext cx="2186091" cy="349295"/>
          </a:xfrm>
          <a:prstGeom prst="roundRect">
            <a:avLst>
              <a:gd name="adj" fmla="val 18819"/>
            </a:avLst>
          </a:prstGeom>
          <a:solidFill>
            <a:srgbClr val="43B02A">
              <a:alpha val="30000"/>
            </a:srgb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r>
              <a:rPr lang="en-US" altLang="ko-KR" sz="900" b="1">
                <a:solidFill>
                  <a:srgbClr val="009A44"/>
                </a:solidFill>
                <a:latin typeface="Aptos" panose="020B0004020202020204" pitchFamily="34" charset="0"/>
              </a:rPr>
              <a:t>        Numerical</a:t>
            </a:r>
            <a:endParaRPr lang="ko-KR" altLang="en-US" sz="900" b="1" err="1">
              <a:solidFill>
                <a:srgbClr val="009A44"/>
              </a:solidFill>
              <a:latin typeface="Aptos" panose="020B0004020202020204" pitchFamily="34" charset="0"/>
            </a:endParaRP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F1BF6BA1-1E06-3140-2C45-17137FB5D8F0}"/>
              </a:ext>
            </a:extLst>
          </p:cNvPr>
          <p:cNvSpPr/>
          <p:nvPr/>
        </p:nvSpPr>
        <p:spPr>
          <a:xfrm>
            <a:off x="5195739" y="3824641"/>
            <a:ext cx="1577808" cy="349295"/>
          </a:xfrm>
          <a:prstGeom prst="roundRect">
            <a:avLst>
              <a:gd name="adj" fmla="val 18819"/>
            </a:avLst>
          </a:prstGeom>
          <a:solidFill>
            <a:schemeClr val="accent2">
              <a:alpha val="3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r>
              <a:rPr lang="en-US" altLang="ko-KR" sz="900" b="1">
                <a:solidFill>
                  <a:srgbClr val="002060"/>
                </a:solidFill>
                <a:latin typeface="Aptos" panose="020B0004020202020204" pitchFamily="34" charset="0"/>
              </a:rPr>
              <a:t>        </a:t>
            </a:r>
            <a:r>
              <a:rPr lang="en-US" altLang="ko-KR" sz="900" b="1">
                <a:solidFill>
                  <a:srgbClr val="7030A0"/>
                </a:solidFill>
                <a:latin typeface="Aptos" panose="020B0004020202020204" pitchFamily="34" charset="0"/>
              </a:rPr>
              <a:t>Ordinal</a:t>
            </a:r>
            <a:endParaRPr lang="ko-KR" altLang="en-US" sz="900" b="1" err="1">
              <a:solidFill>
                <a:srgbClr val="7030A0"/>
              </a:solidFill>
              <a:latin typeface="Aptos" panose="020B0004020202020204" pitchFamily="34" charset="0"/>
            </a:endParaRP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10329A33-FCA9-AB1C-68AF-FB8D02C077CC}"/>
              </a:ext>
            </a:extLst>
          </p:cNvPr>
          <p:cNvSpPr/>
          <p:nvPr/>
        </p:nvSpPr>
        <p:spPr>
          <a:xfrm>
            <a:off x="6903321" y="3824641"/>
            <a:ext cx="1180495" cy="349295"/>
          </a:xfrm>
          <a:prstGeom prst="roundRect">
            <a:avLst>
              <a:gd name="adj" fmla="val 18819"/>
            </a:avLst>
          </a:prstGeom>
          <a:solidFill>
            <a:schemeClr val="accent5">
              <a:lumMod val="60000"/>
              <a:lumOff val="40000"/>
              <a:alpha val="3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r>
              <a:rPr lang="en-US" altLang="ko-KR" sz="900" b="1">
                <a:solidFill>
                  <a:schemeClr val="accent5"/>
                </a:solidFill>
                <a:latin typeface="Aptos" panose="020B0004020202020204" pitchFamily="34" charset="0"/>
              </a:rPr>
              <a:t>        Nominal</a:t>
            </a:r>
            <a:endParaRPr lang="ko-KR" altLang="en-US" sz="900" b="1" err="1">
              <a:solidFill>
                <a:schemeClr val="accent5"/>
              </a:solidFill>
              <a:latin typeface="Aptos" panose="020B0004020202020204" pitchFamily="34" charset="0"/>
            </a:endParaRP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583E7A4F-227D-B5F7-65DE-74A4FCBEB1F3}"/>
              </a:ext>
            </a:extLst>
          </p:cNvPr>
          <p:cNvSpPr/>
          <p:nvPr/>
        </p:nvSpPr>
        <p:spPr>
          <a:xfrm>
            <a:off x="8212340" y="3824641"/>
            <a:ext cx="1104088" cy="349295"/>
          </a:xfrm>
          <a:prstGeom prst="roundRect">
            <a:avLst>
              <a:gd name="adj" fmla="val 18819"/>
            </a:avLst>
          </a:prstGeom>
          <a:solidFill>
            <a:schemeClr val="tx2">
              <a:lumMod val="60000"/>
              <a:lumOff val="40000"/>
              <a:alpha val="3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r>
              <a:rPr lang="en-US" altLang="ko-KR" sz="900" b="1">
                <a:solidFill>
                  <a:srgbClr val="002060"/>
                </a:solidFill>
                <a:latin typeface="Aptos" panose="020B0004020202020204" pitchFamily="34" charset="0"/>
              </a:rPr>
              <a:t>        </a:t>
            </a:r>
            <a:r>
              <a:rPr lang="en-US" altLang="ko-KR" sz="900" b="1">
                <a:solidFill>
                  <a:schemeClr val="tx2"/>
                </a:solidFill>
                <a:latin typeface="Aptos" panose="020B0004020202020204" pitchFamily="34" charset="0"/>
              </a:rPr>
              <a:t>Constant</a:t>
            </a:r>
            <a:endParaRPr lang="ko-KR" altLang="en-US" sz="900" b="1" err="1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D4595537-5C34-F939-0C38-0C8622352E95}"/>
              </a:ext>
            </a:extLst>
          </p:cNvPr>
          <p:cNvGrpSpPr/>
          <p:nvPr/>
        </p:nvGrpSpPr>
        <p:grpSpPr>
          <a:xfrm>
            <a:off x="2903157" y="3910547"/>
            <a:ext cx="180000" cy="180000"/>
            <a:chOff x="3001307" y="4374192"/>
            <a:chExt cx="180000" cy="180000"/>
          </a:xfrm>
        </p:grpSpPr>
        <p:sp>
          <p:nvSpPr>
            <p:cNvPr id="92" name="타원 91">
              <a:extLst>
                <a:ext uri="{FF2B5EF4-FFF2-40B4-BE49-F238E27FC236}">
                  <a16:creationId xmlns:a16="http://schemas.microsoft.com/office/drawing/2014/main" id="{E3A69DBA-A969-F86F-6DCD-D9F3FB898293}"/>
                </a:ext>
              </a:extLst>
            </p:cNvPr>
            <p:cNvSpPr/>
            <p:nvPr/>
          </p:nvSpPr>
          <p:spPr>
            <a:xfrm>
              <a:off x="3001307" y="4374192"/>
              <a:ext cx="180000" cy="180000"/>
            </a:xfrm>
            <a:prstGeom prst="ellipse">
              <a:avLst/>
            </a:prstGeom>
            <a:solidFill>
              <a:srgbClr val="009A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/>
            <a:lstStyle/>
            <a:p>
              <a:pPr algn="ctr"/>
              <a:endParaRPr lang="ko-KR" altLang="en-US" sz="900" err="1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9DEB1292-72C1-03B6-A199-C0530E60906F}"/>
                </a:ext>
              </a:extLst>
            </p:cNvPr>
            <p:cNvSpPr/>
            <p:nvPr/>
          </p:nvSpPr>
          <p:spPr>
            <a:xfrm>
              <a:off x="3001307" y="4374192"/>
              <a:ext cx="18000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100" b="1">
                  <a:solidFill>
                    <a:schemeClr val="bg1"/>
                  </a:solidFill>
                  <a:latin typeface="Aptos" panose="020B0004020202020204" pitchFamily="34" charset="0"/>
                </a:rPr>
                <a:t>14</a:t>
              </a:r>
              <a:endParaRPr lang="ko-KR" altLang="en-US" sz="1400" b="1" err="1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B314B04F-CC11-688C-7C43-CF663F8607BF}"/>
              </a:ext>
            </a:extLst>
          </p:cNvPr>
          <p:cNvGrpSpPr/>
          <p:nvPr/>
        </p:nvGrpSpPr>
        <p:grpSpPr>
          <a:xfrm>
            <a:off x="5234344" y="3910547"/>
            <a:ext cx="180000" cy="180000"/>
            <a:chOff x="5446210" y="4374041"/>
            <a:chExt cx="180000" cy="180000"/>
          </a:xfrm>
        </p:grpSpPr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7CD020CA-F96E-DDF7-06EB-73E7CB8F0FBB}"/>
                </a:ext>
              </a:extLst>
            </p:cNvPr>
            <p:cNvSpPr/>
            <p:nvPr/>
          </p:nvSpPr>
          <p:spPr>
            <a:xfrm>
              <a:off x="5446210" y="4374041"/>
              <a:ext cx="180000" cy="180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/>
            <a:lstStyle/>
            <a:p>
              <a:pPr algn="ctr"/>
              <a:endParaRPr lang="ko-KR" altLang="en-US" sz="900" err="1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3C87F06E-07CF-7ADE-ECCA-75F611C97A2F}"/>
                </a:ext>
              </a:extLst>
            </p:cNvPr>
            <p:cNvSpPr/>
            <p:nvPr/>
          </p:nvSpPr>
          <p:spPr>
            <a:xfrm>
              <a:off x="5446210" y="4374041"/>
              <a:ext cx="18000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100" b="1">
                  <a:solidFill>
                    <a:schemeClr val="bg1"/>
                  </a:solidFill>
                  <a:latin typeface="Aptos" panose="020B0004020202020204" pitchFamily="34" charset="0"/>
                </a:rPr>
                <a:t>10</a:t>
              </a:r>
              <a:endParaRPr lang="ko-KR" altLang="en-US" sz="1400" b="1" err="1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</p:grp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AB863104-4298-0E95-D58C-17DD3F79075B}"/>
              </a:ext>
            </a:extLst>
          </p:cNvPr>
          <p:cNvGrpSpPr/>
          <p:nvPr/>
        </p:nvGrpSpPr>
        <p:grpSpPr>
          <a:xfrm>
            <a:off x="6949936" y="3910547"/>
            <a:ext cx="180000" cy="180000"/>
            <a:chOff x="7161099" y="4374192"/>
            <a:chExt cx="180000" cy="180000"/>
          </a:xfrm>
        </p:grpSpPr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D74F09BF-42D4-0DCC-27C9-02D21C8373C0}"/>
                </a:ext>
              </a:extLst>
            </p:cNvPr>
            <p:cNvSpPr/>
            <p:nvPr/>
          </p:nvSpPr>
          <p:spPr>
            <a:xfrm>
              <a:off x="7161099" y="4374192"/>
              <a:ext cx="180000" cy="180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/>
            <a:lstStyle/>
            <a:p>
              <a:pPr algn="ctr"/>
              <a:endParaRPr lang="ko-KR" altLang="en-US" sz="900" err="1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850C606D-F559-5A66-62AC-12CD4EF5F4E5}"/>
                </a:ext>
              </a:extLst>
            </p:cNvPr>
            <p:cNvSpPr/>
            <p:nvPr/>
          </p:nvSpPr>
          <p:spPr>
            <a:xfrm>
              <a:off x="7161099" y="4374192"/>
              <a:ext cx="18000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100" b="1">
                  <a:solidFill>
                    <a:schemeClr val="bg1"/>
                  </a:solidFill>
                  <a:latin typeface="Aptos" panose="020B0004020202020204" pitchFamily="34" charset="0"/>
                </a:rPr>
                <a:t>6</a:t>
              </a:r>
              <a:endParaRPr lang="ko-KR" altLang="en-US" sz="1400" b="1" err="1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D66B8608-3D5A-81DF-C814-AB9DE79D0DCB}"/>
              </a:ext>
            </a:extLst>
          </p:cNvPr>
          <p:cNvGrpSpPr/>
          <p:nvPr/>
        </p:nvGrpSpPr>
        <p:grpSpPr>
          <a:xfrm>
            <a:off x="8258122" y="3910547"/>
            <a:ext cx="180000" cy="180000"/>
            <a:chOff x="8461990" y="4374192"/>
            <a:chExt cx="180000" cy="180000"/>
          </a:xfrm>
        </p:grpSpPr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EA1A8096-0322-C2BF-D02B-5F042C2254BE}"/>
                </a:ext>
              </a:extLst>
            </p:cNvPr>
            <p:cNvSpPr/>
            <p:nvPr/>
          </p:nvSpPr>
          <p:spPr>
            <a:xfrm>
              <a:off x="8461990" y="4374192"/>
              <a:ext cx="180000" cy="18000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/>
            <a:lstStyle/>
            <a:p>
              <a:pPr algn="ctr"/>
              <a:endParaRPr lang="ko-KR" altLang="en-US" sz="900" err="1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A55B2464-9A43-CCEB-5B12-5B1CC5AC831A}"/>
                </a:ext>
              </a:extLst>
            </p:cNvPr>
            <p:cNvSpPr/>
            <p:nvPr/>
          </p:nvSpPr>
          <p:spPr>
            <a:xfrm>
              <a:off x="8461990" y="4374192"/>
              <a:ext cx="18000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100" b="1">
                  <a:solidFill>
                    <a:schemeClr val="bg1"/>
                  </a:solidFill>
                  <a:latin typeface="Aptos" panose="020B0004020202020204" pitchFamily="34" charset="0"/>
                </a:rPr>
                <a:t>3</a:t>
              </a:r>
              <a:endParaRPr lang="ko-KR" altLang="en-US" sz="1400" b="1" err="1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</p:grp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21784304-B46B-6B2D-A260-8C41439E9191}"/>
              </a:ext>
            </a:extLst>
          </p:cNvPr>
          <p:cNvSpPr/>
          <p:nvPr/>
        </p:nvSpPr>
        <p:spPr>
          <a:xfrm>
            <a:off x="5147642" y="4173937"/>
            <a:ext cx="1674421" cy="12764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 anchorCtr="0"/>
          <a:lstStyle/>
          <a:p>
            <a:r>
              <a:rPr lang="en-US" altLang="ko-KR" sz="1000" err="1">
                <a:solidFill>
                  <a:srgbClr val="00338D"/>
                </a:solidFill>
                <a:latin typeface="Aptos" panose="020B0004020202020204" pitchFamily="34" charset="0"/>
              </a:rPr>
              <a:t>BusinessTravel</a:t>
            </a:r>
            <a:r>
              <a:rPr lang="en-US" altLang="ko-KR" sz="1000">
                <a:solidFill>
                  <a:srgbClr val="00338D"/>
                </a:solidFill>
                <a:latin typeface="Aptos" panose="020B0004020202020204" pitchFamily="34" charset="0"/>
              </a:rPr>
              <a:t>,</a:t>
            </a:r>
            <a:r>
              <a:rPr lang="ko-KR" altLang="en-US" sz="1000">
                <a:solidFill>
                  <a:srgbClr val="00338D"/>
                </a:solidFill>
                <a:latin typeface="Aptos" panose="020B0004020202020204" pitchFamily="34" charset="0"/>
              </a:rPr>
              <a:t> </a:t>
            </a:r>
            <a:r>
              <a:rPr lang="en-US" altLang="ko-KR" sz="1000">
                <a:solidFill>
                  <a:srgbClr val="00338D"/>
                </a:solidFill>
                <a:latin typeface="Aptos" panose="020B0004020202020204" pitchFamily="34" charset="0"/>
              </a:rPr>
              <a:t>Education, </a:t>
            </a:r>
            <a:r>
              <a:rPr lang="en-US" altLang="ko-KR" sz="1000" err="1">
                <a:solidFill>
                  <a:srgbClr val="00338D"/>
                </a:solidFill>
                <a:latin typeface="Aptos" panose="020B0004020202020204" pitchFamily="34" charset="0"/>
              </a:rPr>
              <a:t>EnvironmentSatisfaction</a:t>
            </a:r>
            <a:r>
              <a:rPr lang="en-US" altLang="ko-KR" sz="1000">
                <a:solidFill>
                  <a:srgbClr val="00338D"/>
                </a:solidFill>
                <a:latin typeface="Aptos" panose="020B0004020202020204" pitchFamily="34" charset="0"/>
              </a:rPr>
              <a:t>, </a:t>
            </a:r>
            <a:r>
              <a:rPr lang="en-US" altLang="ko-KR" sz="1000" err="1">
                <a:solidFill>
                  <a:srgbClr val="00338D"/>
                </a:solidFill>
                <a:latin typeface="Aptos" panose="020B0004020202020204" pitchFamily="34" charset="0"/>
              </a:rPr>
              <a:t>JobInvolvement</a:t>
            </a:r>
            <a:r>
              <a:rPr lang="en-US" altLang="ko-KR" sz="1000">
                <a:solidFill>
                  <a:srgbClr val="00338D"/>
                </a:solidFill>
                <a:latin typeface="Aptos" panose="020B0004020202020204" pitchFamily="34" charset="0"/>
              </a:rPr>
              <a:t>, </a:t>
            </a:r>
            <a:r>
              <a:rPr lang="en-US" altLang="ko-KR" sz="1000" err="1">
                <a:solidFill>
                  <a:srgbClr val="00338D"/>
                </a:solidFill>
                <a:latin typeface="Aptos" panose="020B0004020202020204" pitchFamily="34" charset="0"/>
              </a:rPr>
              <a:t>JobLevel</a:t>
            </a:r>
            <a:r>
              <a:rPr lang="en-US" altLang="ko-KR" sz="1000">
                <a:solidFill>
                  <a:srgbClr val="00338D"/>
                </a:solidFill>
                <a:latin typeface="Aptos" panose="020B0004020202020204" pitchFamily="34" charset="0"/>
              </a:rPr>
              <a:t>, </a:t>
            </a:r>
            <a:r>
              <a:rPr lang="en-US" altLang="ko-KR" sz="1000" err="1">
                <a:solidFill>
                  <a:srgbClr val="00338D"/>
                </a:solidFill>
                <a:latin typeface="Aptos" panose="020B0004020202020204" pitchFamily="34" charset="0"/>
              </a:rPr>
              <a:t>JobSatisfaction</a:t>
            </a:r>
            <a:r>
              <a:rPr lang="en-US" altLang="ko-KR" sz="1000">
                <a:solidFill>
                  <a:srgbClr val="00338D"/>
                </a:solidFill>
                <a:latin typeface="Aptos" panose="020B0004020202020204" pitchFamily="34" charset="0"/>
              </a:rPr>
              <a:t>, </a:t>
            </a:r>
            <a:r>
              <a:rPr lang="en-US" altLang="ko-KR" sz="1000" err="1">
                <a:solidFill>
                  <a:srgbClr val="00338D"/>
                </a:solidFill>
                <a:latin typeface="Aptos" panose="020B0004020202020204" pitchFamily="34" charset="0"/>
              </a:rPr>
              <a:t>PerformanceRating</a:t>
            </a:r>
            <a:r>
              <a:rPr lang="en-US" altLang="ko-KR" sz="1000">
                <a:solidFill>
                  <a:srgbClr val="00338D"/>
                </a:solidFill>
                <a:latin typeface="Aptos" panose="020B0004020202020204" pitchFamily="34" charset="0"/>
              </a:rPr>
              <a:t>, </a:t>
            </a:r>
            <a:r>
              <a:rPr lang="en-US" altLang="ko-KR" sz="1000" err="1">
                <a:solidFill>
                  <a:srgbClr val="00338D"/>
                </a:solidFill>
                <a:latin typeface="Aptos" panose="020B0004020202020204" pitchFamily="34" charset="0"/>
              </a:rPr>
              <a:t>RelationshipSatisfaction</a:t>
            </a:r>
            <a:r>
              <a:rPr lang="en-US" altLang="ko-KR" sz="1000">
                <a:solidFill>
                  <a:srgbClr val="00338D"/>
                </a:solidFill>
                <a:latin typeface="Aptos" panose="020B0004020202020204" pitchFamily="34" charset="0"/>
              </a:rPr>
              <a:t>, </a:t>
            </a:r>
            <a:r>
              <a:rPr lang="en-US" altLang="ko-KR" sz="1000" err="1">
                <a:solidFill>
                  <a:srgbClr val="00338D"/>
                </a:solidFill>
                <a:latin typeface="Aptos" panose="020B0004020202020204" pitchFamily="34" charset="0"/>
              </a:rPr>
              <a:t>StockOptionLevel</a:t>
            </a:r>
            <a:r>
              <a:rPr lang="en-US" altLang="ko-KR" sz="1000">
                <a:solidFill>
                  <a:srgbClr val="00338D"/>
                </a:solidFill>
                <a:latin typeface="Aptos" panose="020B0004020202020204" pitchFamily="34" charset="0"/>
              </a:rPr>
              <a:t>, </a:t>
            </a:r>
            <a:r>
              <a:rPr lang="en-US" altLang="ko-KR" sz="1000" err="1">
                <a:solidFill>
                  <a:srgbClr val="00338D"/>
                </a:solidFill>
                <a:latin typeface="Aptos" panose="020B0004020202020204" pitchFamily="34" charset="0"/>
              </a:rPr>
              <a:t>WorkLifeBalance</a:t>
            </a:r>
            <a:endParaRPr lang="en-US" altLang="ko-KR" sz="1000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95A60015-5C6B-DF1B-38E2-7ADEC2BAA1D8}"/>
              </a:ext>
            </a:extLst>
          </p:cNvPr>
          <p:cNvSpPr/>
          <p:nvPr/>
        </p:nvSpPr>
        <p:spPr>
          <a:xfrm>
            <a:off x="6863159" y="4173937"/>
            <a:ext cx="1252620" cy="12764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 anchorCtr="0"/>
          <a:lstStyle/>
          <a:p>
            <a:r>
              <a:rPr lang="en-US" altLang="ko-KR" sz="1000">
                <a:solidFill>
                  <a:srgbClr val="00338D"/>
                </a:solidFill>
                <a:latin typeface="Aptos" panose="020B0004020202020204" pitchFamily="34" charset="0"/>
              </a:rPr>
              <a:t>Department, </a:t>
            </a:r>
            <a:r>
              <a:rPr lang="en-US" altLang="ko-KR" sz="1000" err="1">
                <a:solidFill>
                  <a:srgbClr val="00338D"/>
                </a:solidFill>
                <a:latin typeface="Aptos" panose="020B0004020202020204" pitchFamily="34" charset="0"/>
              </a:rPr>
              <a:t>EducationField</a:t>
            </a:r>
            <a:r>
              <a:rPr lang="en-US" altLang="ko-KR" sz="1000">
                <a:solidFill>
                  <a:srgbClr val="00338D"/>
                </a:solidFill>
                <a:latin typeface="Aptos" panose="020B0004020202020204" pitchFamily="34" charset="0"/>
              </a:rPr>
              <a:t>, Gender, </a:t>
            </a:r>
            <a:r>
              <a:rPr lang="en-US" altLang="ko-KR" sz="1000" err="1">
                <a:solidFill>
                  <a:srgbClr val="00338D"/>
                </a:solidFill>
                <a:latin typeface="Aptos" panose="020B0004020202020204" pitchFamily="34" charset="0"/>
              </a:rPr>
              <a:t>JobRole</a:t>
            </a:r>
            <a:r>
              <a:rPr lang="en-US" altLang="ko-KR" sz="1000">
                <a:solidFill>
                  <a:srgbClr val="00338D"/>
                </a:solidFill>
                <a:latin typeface="Aptos" panose="020B0004020202020204" pitchFamily="34" charset="0"/>
              </a:rPr>
              <a:t>, </a:t>
            </a:r>
            <a:r>
              <a:rPr lang="en-US" altLang="ko-KR" sz="1000" err="1">
                <a:solidFill>
                  <a:srgbClr val="00338D"/>
                </a:solidFill>
                <a:latin typeface="Aptos" panose="020B0004020202020204" pitchFamily="34" charset="0"/>
              </a:rPr>
              <a:t>MaritalStatus</a:t>
            </a:r>
            <a:r>
              <a:rPr lang="en-US" altLang="ko-KR" sz="1000">
                <a:solidFill>
                  <a:srgbClr val="00338D"/>
                </a:solidFill>
                <a:latin typeface="Aptos" panose="020B0004020202020204" pitchFamily="34" charset="0"/>
              </a:rPr>
              <a:t>, </a:t>
            </a:r>
            <a:r>
              <a:rPr lang="en-US" altLang="ko-KR" sz="1000" err="1">
                <a:solidFill>
                  <a:srgbClr val="00338D"/>
                </a:solidFill>
                <a:latin typeface="Aptos" panose="020B0004020202020204" pitchFamily="34" charset="0"/>
              </a:rPr>
              <a:t>OverTime</a:t>
            </a:r>
            <a:endParaRPr lang="en-US" altLang="ko-KR" sz="1000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7668C12F-0455-8249-C902-59F1148853F7}"/>
              </a:ext>
            </a:extLst>
          </p:cNvPr>
          <p:cNvSpPr/>
          <p:nvPr/>
        </p:nvSpPr>
        <p:spPr>
          <a:xfrm>
            <a:off x="8162394" y="4173937"/>
            <a:ext cx="1203855" cy="12764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 anchorCtr="0"/>
          <a:lstStyle/>
          <a:p>
            <a:r>
              <a:rPr lang="en-US" altLang="ko-KR" sz="1000" err="1">
                <a:solidFill>
                  <a:srgbClr val="00338D"/>
                </a:solidFill>
                <a:latin typeface="Aptos" panose="020B0004020202020204" pitchFamily="34" charset="0"/>
              </a:rPr>
              <a:t>EmployeeCount</a:t>
            </a:r>
            <a:r>
              <a:rPr lang="en-US" altLang="ko-KR" sz="1000">
                <a:solidFill>
                  <a:srgbClr val="00338D"/>
                </a:solidFill>
                <a:latin typeface="Aptos" panose="020B0004020202020204" pitchFamily="34" charset="0"/>
              </a:rPr>
              <a:t>, </a:t>
            </a:r>
            <a:r>
              <a:rPr lang="en-US" altLang="ko-KR" sz="1000" err="1">
                <a:solidFill>
                  <a:srgbClr val="00338D"/>
                </a:solidFill>
                <a:latin typeface="Aptos" panose="020B0004020202020204" pitchFamily="34" charset="0"/>
              </a:rPr>
              <a:t>StandardHours</a:t>
            </a:r>
            <a:r>
              <a:rPr lang="en-US" altLang="ko-KR" sz="1000">
                <a:solidFill>
                  <a:srgbClr val="00338D"/>
                </a:solidFill>
                <a:latin typeface="Aptos" panose="020B0004020202020204" pitchFamily="34" charset="0"/>
              </a:rPr>
              <a:t>, Over18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204FC4-5518-75F4-7222-B7225578B062}"/>
              </a:ext>
            </a:extLst>
          </p:cNvPr>
          <p:cNvSpPr txBox="1"/>
          <p:nvPr/>
        </p:nvSpPr>
        <p:spPr>
          <a:xfrm>
            <a:off x="704949" y="3248047"/>
            <a:ext cx="8712101" cy="223009"/>
          </a:xfrm>
          <a:prstGeom prst="rect">
            <a:avLst/>
          </a:prstGeom>
          <a:solidFill>
            <a:srgbClr val="00338D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ko-KR" sz="12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ko-KR" altLang="en-US" sz="12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2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ko-KR" altLang="en-US" sz="1200" b="1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B2ECD4B-F4EF-79B8-7395-5CB4988613D1}"/>
              </a:ext>
            </a:extLst>
          </p:cNvPr>
          <p:cNvSpPr/>
          <p:nvPr/>
        </p:nvSpPr>
        <p:spPr>
          <a:xfrm>
            <a:off x="488949" y="3247437"/>
            <a:ext cx="216000" cy="223618"/>
          </a:xfrm>
          <a:prstGeom prst="rect">
            <a:avLst/>
          </a:prstGeom>
          <a:solidFill>
            <a:srgbClr val="002060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altLang="ko-KR" sz="13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1300" b="1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2739A17D-0743-5BC4-815C-1D0BCF766866}"/>
              </a:ext>
            </a:extLst>
          </p:cNvPr>
          <p:cNvGrpSpPr/>
          <p:nvPr/>
        </p:nvGrpSpPr>
        <p:grpSpPr>
          <a:xfrm>
            <a:off x="488948" y="1422400"/>
            <a:ext cx="8928102" cy="1723795"/>
            <a:chOff x="488948" y="1422400"/>
            <a:chExt cx="8928102" cy="172379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EC46B69-F216-BB9A-8016-BC3BA6904D03}"/>
                </a:ext>
              </a:extLst>
            </p:cNvPr>
            <p:cNvSpPr txBox="1"/>
            <p:nvPr/>
          </p:nvSpPr>
          <p:spPr>
            <a:xfrm>
              <a:off x="704949" y="1422400"/>
              <a:ext cx="8712101" cy="220063"/>
            </a:xfrm>
            <a:prstGeom prst="rect">
              <a:avLst/>
            </a:prstGeom>
            <a:solidFill>
              <a:srgbClr val="00338D"/>
            </a:solidFill>
            <a:ln w="3175">
              <a:solidFill>
                <a:srgbClr val="0091DA"/>
              </a:solidFill>
            </a:ln>
          </p:spPr>
          <p:txBody>
            <a:bodyPr wrap="none" lIns="72000" tIns="0" rIns="0" bIns="0" rtlCol="0" anchor="ctr" anchorCtr="0">
              <a:no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sz="1200" b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ptos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Overview</a:t>
              </a:r>
              <a:endParaRPr lang="ko-KR" altLang="en-US" sz="12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KoPub돋움체 Medium" panose="00000600000000000000" pitchFamily="2" charset="-127"/>
                <a:cs typeface="Calibri" panose="020F0502020204030204" pitchFamily="34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AEE000D-5733-CF53-BBB6-81ECC7671B9E}"/>
                </a:ext>
              </a:extLst>
            </p:cNvPr>
            <p:cNvSpPr/>
            <p:nvPr/>
          </p:nvSpPr>
          <p:spPr>
            <a:xfrm>
              <a:off x="488949" y="1422400"/>
              <a:ext cx="216000" cy="220062"/>
            </a:xfrm>
            <a:prstGeom prst="rect">
              <a:avLst/>
            </a:prstGeom>
            <a:solidFill>
              <a:srgbClr val="002060"/>
            </a:solidFill>
            <a:ln w="3175">
              <a:solidFill>
                <a:srgbClr val="0091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/>
            <a:lstStyle/>
            <a:p>
              <a:pPr algn="ctr"/>
              <a:r>
                <a:rPr lang="en-US" altLang="ko-KR" sz="1300" b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ptos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lang="ko-KR" altLang="en-US" sz="13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KoPub돋움체 Medium" panose="00000600000000000000" pitchFamily="2" charset="-127"/>
                <a:cs typeface="Calibri" panose="020F0502020204030204" pitchFamily="34" charset="0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3C40B57B-0059-27BC-36C2-D8C73D3F1333}"/>
                </a:ext>
              </a:extLst>
            </p:cNvPr>
            <p:cNvSpPr/>
            <p:nvPr/>
          </p:nvSpPr>
          <p:spPr>
            <a:xfrm>
              <a:off x="488948" y="1646525"/>
              <a:ext cx="8928099" cy="1499670"/>
            </a:xfrm>
            <a:prstGeom prst="rect">
              <a:avLst/>
            </a:prstGeom>
            <a:noFill/>
            <a:ln w="3175">
              <a:solidFill>
                <a:srgbClr val="0091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8000" tIns="0" rIns="0" bIns="0" rtlCol="0" anchor="ctr"/>
            <a:lstStyle/>
            <a:p>
              <a:endParaRPr lang="ko-KR" altLang="en-US" sz="1000" err="1">
                <a:solidFill>
                  <a:srgbClr val="002060"/>
                </a:solidFill>
                <a:latin typeface="Aptos" panose="020B000402020202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548629BA-7768-1B8B-AD26-4563072FAA18}"/>
                </a:ext>
              </a:extLst>
            </p:cNvPr>
            <p:cNvSpPr/>
            <p:nvPr/>
          </p:nvSpPr>
          <p:spPr>
            <a:xfrm>
              <a:off x="589570" y="2541613"/>
              <a:ext cx="1339379" cy="312028"/>
            </a:xfrm>
            <a:prstGeom prst="roundRect">
              <a:avLst/>
            </a:prstGeom>
            <a:solidFill>
              <a:srgbClr val="E6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/>
            <a:lstStyle/>
            <a:p>
              <a:pPr algn="ctr"/>
              <a:endParaRPr lang="ko-KR" altLang="en-US" sz="900" err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F87164F1-A220-5868-4F64-D9D8EF7453E1}"/>
                </a:ext>
              </a:extLst>
            </p:cNvPr>
            <p:cNvSpPr/>
            <p:nvPr/>
          </p:nvSpPr>
          <p:spPr>
            <a:xfrm>
              <a:off x="1963875" y="2541613"/>
              <a:ext cx="7352554" cy="312028"/>
            </a:xfrm>
            <a:prstGeom prst="round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/>
            <a:lstStyle/>
            <a:p>
              <a:pPr algn="ctr"/>
              <a:endParaRPr lang="ko-KR" altLang="en-US" sz="900" err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B9B93C0-8BEB-11C2-E7CC-9C7F5B9A3776}"/>
                </a:ext>
              </a:extLst>
            </p:cNvPr>
            <p:cNvSpPr txBox="1"/>
            <p:nvPr/>
          </p:nvSpPr>
          <p:spPr>
            <a:xfrm>
              <a:off x="523876" y="2891469"/>
              <a:ext cx="1439999" cy="192902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altLang="ko-KR" sz="1000" b="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Aptos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Attritions (16.1%)</a:t>
              </a:r>
              <a:endParaRPr lang="ko-KR" altLang="en-US" sz="1000" b="1">
                <a:ln>
                  <a:solidFill>
                    <a:schemeClr val="accent1">
                      <a:alpha val="0"/>
                    </a:schemeClr>
                  </a:solidFill>
                </a:ln>
                <a:latin typeface="Aptos" panose="020B0004020202020204" pitchFamily="34" charset="0"/>
                <a:ea typeface="KoPub돋움체 Medium" panose="00000600000000000000" pitchFamily="2" charset="-127"/>
                <a:cs typeface="Calibri" panose="020F050202020403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CE02D0B-79C8-1CE5-0771-B80BD847275F}"/>
                </a:ext>
              </a:extLst>
            </p:cNvPr>
            <p:cNvSpPr txBox="1"/>
            <p:nvPr/>
          </p:nvSpPr>
          <p:spPr>
            <a:xfrm>
              <a:off x="1863254" y="2891469"/>
              <a:ext cx="7453174" cy="192902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noAutofit/>
            </a:bodyPr>
            <a:lstStyle/>
            <a:p>
              <a:pPr algn="r">
                <a:spcAft>
                  <a:spcPts val="600"/>
                </a:spcAft>
              </a:pPr>
              <a:r>
                <a:rPr lang="en-US" altLang="ko-KR" sz="1000" b="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Aptos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Non-Attritions (83.9%)</a:t>
              </a:r>
              <a:endParaRPr lang="ko-KR" altLang="en-US" sz="1000" b="1">
                <a:ln>
                  <a:solidFill>
                    <a:schemeClr val="accent1">
                      <a:alpha val="0"/>
                    </a:schemeClr>
                  </a:solidFill>
                </a:ln>
                <a:latin typeface="Aptos" panose="020B0004020202020204" pitchFamily="34" charset="0"/>
                <a:ea typeface="KoPub돋움체 Medium" panose="00000600000000000000" pitchFamily="2" charset="-127"/>
                <a:cs typeface="Calibri" panose="020F0502020204030204" pitchFamily="34" charset="0"/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29A1A43A-9FEA-02D9-AA3B-7A685D2F93E9}"/>
                </a:ext>
              </a:extLst>
            </p:cNvPr>
            <p:cNvSpPr/>
            <p:nvPr/>
          </p:nvSpPr>
          <p:spPr>
            <a:xfrm>
              <a:off x="7840341" y="2945918"/>
              <a:ext cx="108000" cy="10800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/>
            <a:lstStyle/>
            <a:p>
              <a:pPr algn="ctr"/>
              <a:endParaRPr lang="ko-KR" altLang="en-US" sz="900" err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984A2A63-646D-7142-EE5D-6DB2C9588C4E}"/>
                </a:ext>
              </a:extLst>
            </p:cNvPr>
            <p:cNvSpPr/>
            <p:nvPr/>
          </p:nvSpPr>
          <p:spPr>
            <a:xfrm>
              <a:off x="612712" y="2945918"/>
              <a:ext cx="108000" cy="108000"/>
            </a:xfrm>
            <a:prstGeom prst="ellipse">
              <a:avLst/>
            </a:prstGeom>
            <a:solidFill>
              <a:srgbClr val="E6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/>
            <a:lstStyle/>
            <a:p>
              <a:pPr algn="ctr"/>
              <a:endParaRPr lang="ko-KR" altLang="en-US" sz="900" err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9A2F8E0A-6783-1049-C118-C0145A8DE924}"/>
                </a:ext>
              </a:extLst>
            </p:cNvPr>
            <p:cNvSpPr/>
            <p:nvPr/>
          </p:nvSpPr>
          <p:spPr>
            <a:xfrm>
              <a:off x="589572" y="1737525"/>
              <a:ext cx="2808000" cy="718182"/>
            </a:xfrm>
            <a:prstGeom prst="roundRect">
              <a:avLst/>
            </a:prstGeom>
            <a:solidFill>
              <a:schemeClr val="bg1">
                <a:lumMod val="85000"/>
                <a:alpha val="20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8000" tIns="0" rIns="0" bIns="0" rtlCol="0" anchor="ctr"/>
            <a:lstStyle/>
            <a:p>
              <a:r>
                <a:rPr lang="en-US" altLang="ko-KR" sz="1200" b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2060"/>
                  </a:solidFill>
                  <a:latin typeface="Aptos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Total Employees</a:t>
              </a:r>
            </a:p>
            <a:p>
              <a:r>
                <a:rPr lang="en-US" altLang="ko-KR" b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5EB8"/>
                  </a:solidFill>
                  <a:latin typeface="Aptos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870</a:t>
              </a:r>
            </a:p>
            <a:p>
              <a:r>
                <a:rPr lang="en-US" altLang="ko-KR" sz="900" b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2060"/>
                  </a:solidFill>
                  <a:latin typeface="Aptos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100%</a:t>
              </a:r>
              <a:endParaRPr lang="ko-KR" altLang="en-US" sz="1000" err="1">
                <a:solidFill>
                  <a:srgbClr val="002060"/>
                </a:solidFill>
                <a:latin typeface="Aptos" panose="020B000402020202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30" name="그래픽 29" descr="남자 집단 단색으로 채워진">
              <a:extLst>
                <a:ext uri="{FF2B5EF4-FFF2-40B4-BE49-F238E27FC236}">
                  <a16:creationId xmlns:a16="http://schemas.microsoft.com/office/drawing/2014/main" id="{E01FD72B-A440-CD3C-E7C0-EC17C41E2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77166" y="1816357"/>
              <a:ext cx="560517" cy="560517"/>
            </a:xfrm>
            <a:prstGeom prst="rect">
              <a:avLst/>
            </a:prstGeom>
          </p:spPr>
        </p:pic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BDC87C76-DEFB-3DAB-423E-2635CCCD3CE1}"/>
                </a:ext>
              </a:extLst>
            </p:cNvPr>
            <p:cNvSpPr/>
            <p:nvPr/>
          </p:nvSpPr>
          <p:spPr>
            <a:xfrm>
              <a:off x="6508428" y="1737525"/>
              <a:ext cx="2808000" cy="71818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  <a:alpha val="20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8000" tIns="0" rIns="0" bIns="0" rtlCol="0" anchor="ctr"/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2060"/>
                  </a:solidFill>
                  <a:latin typeface="Aptos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Employees who stayed</a:t>
              </a:r>
              <a:b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2060"/>
                  </a:solidFill>
                  <a:latin typeface="Aptos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ko-KR" sz="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2060"/>
                  </a:solidFill>
                  <a:latin typeface="Aptos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(Non-Attritions)</a:t>
              </a:r>
              <a:endPara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206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n-US" altLang="ko-KR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5EB8"/>
                  </a:solidFill>
                  <a:latin typeface="Aptos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730</a:t>
              </a:r>
            </a:p>
            <a:p>
              <a:r>
                <a:rPr lang="en-US" altLang="ko-KR" sz="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2060"/>
                  </a:solidFill>
                  <a:latin typeface="Aptos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83.9%</a:t>
              </a:r>
              <a:endParaRPr lang="ko-KR" altLang="en-US" sz="900" dirty="0">
                <a:solidFill>
                  <a:srgbClr val="002060"/>
                </a:solidFill>
                <a:latin typeface="Aptos" panose="020B000402020202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33" name="그래픽 32" descr="먹고 있는 사람 단색으로 채워진">
              <a:extLst>
                <a:ext uri="{FF2B5EF4-FFF2-40B4-BE49-F238E27FC236}">
                  <a16:creationId xmlns:a16="http://schemas.microsoft.com/office/drawing/2014/main" id="{9A45EB17-1066-9E0D-0260-8E82D68F8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694134" y="1816357"/>
              <a:ext cx="560517" cy="560517"/>
            </a:xfrm>
            <a:prstGeom prst="rect">
              <a:avLst/>
            </a:prstGeom>
          </p:spPr>
        </p:pic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159D8572-58F1-6B31-4C6C-1C6EFBD63615}"/>
                </a:ext>
              </a:extLst>
            </p:cNvPr>
            <p:cNvSpPr/>
            <p:nvPr/>
          </p:nvSpPr>
          <p:spPr>
            <a:xfrm>
              <a:off x="3549000" y="1737525"/>
              <a:ext cx="2808000" cy="718182"/>
            </a:xfrm>
            <a:prstGeom prst="roundRect">
              <a:avLst/>
            </a:prstGeom>
            <a:solidFill>
              <a:srgbClr val="FFD5D5">
                <a:alpha val="20000"/>
              </a:srgb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8000" tIns="0" rIns="0" bIns="0" rtlCol="0" anchor="ctr"/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2060"/>
                  </a:solidFill>
                  <a:latin typeface="Aptos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Employees who left</a:t>
              </a:r>
              <a:b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2060"/>
                  </a:solidFill>
                  <a:latin typeface="Aptos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ko-KR" sz="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2060"/>
                  </a:solidFill>
                  <a:latin typeface="Aptos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(Attritions)</a:t>
              </a:r>
            </a:p>
            <a:p>
              <a:r>
                <a:rPr lang="en-US" altLang="ko-KR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C00000"/>
                  </a:solidFill>
                  <a:latin typeface="Aptos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140</a:t>
              </a:r>
            </a:p>
            <a:p>
              <a:r>
                <a:rPr lang="en-US" altLang="ko-KR" sz="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2060"/>
                  </a:solidFill>
                  <a:latin typeface="Aptos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16.1%</a:t>
              </a:r>
              <a:endParaRPr lang="ko-KR" altLang="en-US" sz="900" dirty="0">
                <a:solidFill>
                  <a:srgbClr val="002060"/>
                </a:solidFill>
                <a:latin typeface="Aptos" panose="020B000402020202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35" name="그래픽 34" descr="스케이팅 단색으로 채워진">
              <a:extLst>
                <a:ext uri="{FF2B5EF4-FFF2-40B4-BE49-F238E27FC236}">
                  <a16:creationId xmlns:a16="http://schemas.microsoft.com/office/drawing/2014/main" id="{F6C4576B-BC80-9FF2-1A8B-F32F7FF4B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3730528" y="1816357"/>
              <a:ext cx="560517" cy="560517"/>
            </a:xfrm>
            <a:prstGeom prst="rect">
              <a:avLst/>
            </a:prstGeom>
          </p:spPr>
        </p:pic>
        <p:sp>
          <p:nvSpPr>
            <p:cNvPr id="17" name="화살표: 오른쪽 16">
              <a:extLst>
                <a:ext uri="{FF2B5EF4-FFF2-40B4-BE49-F238E27FC236}">
                  <a16:creationId xmlns:a16="http://schemas.microsoft.com/office/drawing/2014/main" id="{DB6287AC-0D38-E2EB-50BE-352597437898}"/>
                </a:ext>
              </a:extLst>
            </p:cNvPr>
            <p:cNvSpPr/>
            <p:nvPr/>
          </p:nvSpPr>
          <p:spPr>
            <a:xfrm>
              <a:off x="4283982" y="2003948"/>
              <a:ext cx="164968" cy="185335"/>
            </a:xfrm>
            <a:prstGeom prst="right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/>
            <a:lstStyle/>
            <a:p>
              <a:pPr algn="ctr"/>
              <a:endParaRPr lang="ko-KR" altLang="en-US" sz="900" err="1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</p:grp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4F9AA6F-0D07-1FAF-6E48-4AF0BF31E016}"/>
              </a:ext>
            </a:extLst>
          </p:cNvPr>
          <p:cNvSpPr/>
          <p:nvPr/>
        </p:nvSpPr>
        <p:spPr>
          <a:xfrm>
            <a:off x="488948" y="3471075"/>
            <a:ext cx="8928099" cy="2212109"/>
          </a:xfrm>
          <a:prstGeom prst="rect">
            <a:avLst/>
          </a:prstGeom>
          <a:noFill/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8000" tIns="0" rIns="0" bIns="0" rtlCol="0" anchor="ctr"/>
          <a:lstStyle/>
          <a:p>
            <a:endParaRPr lang="ko-KR" altLang="en-US" sz="1000" err="1">
              <a:solidFill>
                <a:srgbClr val="002060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A91354B-FC77-D406-E435-D343A32359F3}"/>
              </a:ext>
            </a:extLst>
          </p:cNvPr>
          <p:cNvSpPr/>
          <p:nvPr/>
        </p:nvSpPr>
        <p:spPr>
          <a:xfrm>
            <a:off x="585450" y="3532440"/>
            <a:ext cx="2113298" cy="183913"/>
          </a:xfrm>
          <a:prstGeom prst="rect">
            <a:avLst/>
          </a:prstGeom>
          <a:solidFill>
            <a:srgbClr val="E4F6FF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r>
              <a:rPr lang="en-US" altLang="ko-KR" sz="1000" b="1">
                <a:solidFill>
                  <a:srgbClr val="00338D"/>
                </a:solidFill>
                <a:latin typeface="Aptos" panose="020B0004020202020204" pitchFamily="34" charset="0"/>
              </a:rPr>
              <a:t>Information</a:t>
            </a:r>
            <a:endParaRPr lang="ko-KR" altLang="en-US" sz="1000" b="1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B7238BF-EFBE-FB53-E2CD-D071616C2176}"/>
              </a:ext>
            </a:extLst>
          </p:cNvPr>
          <p:cNvSpPr/>
          <p:nvPr/>
        </p:nvSpPr>
        <p:spPr>
          <a:xfrm>
            <a:off x="2780007" y="3713265"/>
            <a:ext cx="6637043" cy="1904463"/>
          </a:xfrm>
          <a:prstGeom prst="rect">
            <a:avLst/>
          </a:prstGeom>
          <a:noFill/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endParaRPr lang="ko-KR" altLang="en-US" sz="1000" b="1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pic>
        <p:nvPicPr>
          <p:cNvPr id="42" name="그래픽 41" descr="단일 톱니바퀴 단색으로 채워진">
            <a:extLst>
              <a:ext uri="{FF2B5EF4-FFF2-40B4-BE49-F238E27FC236}">
                <a16:creationId xmlns:a16="http://schemas.microsoft.com/office/drawing/2014/main" id="{FE330DDA-4BFE-8608-B957-F4089B4D348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113288" y="3908269"/>
            <a:ext cx="180000" cy="180000"/>
          </a:xfrm>
          <a:prstGeom prst="rect">
            <a:avLst/>
          </a:prstGeom>
        </p:spPr>
      </p:pic>
      <p:pic>
        <p:nvPicPr>
          <p:cNvPr id="45" name="그래픽 44" descr="햄버거 메뉴 아이콘 단색으로 채워진">
            <a:extLst>
              <a:ext uri="{FF2B5EF4-FFF2-40B4-BE49-F238E27FC236}">
                <a16:creationId xmlns:a16="http://schemas.microsoft.com/office/drawing/2014/main" id="{C69C3D22-F85A-1455-FA41-1DDAE832041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563554" y="3908479"/>
            <a:ext cx="180000" cy="180000"/>
          </a:xfrm>
          <a:prstGeom prst="rect">
            <a:avLst/>
          </a:prstGeom>
        </p:spPr>
      </p:pic>
      <p:pic>
        <p:nvPicPr>
          <p:cNvPr id="48" name="그래픽 47" descr="공유 단색으로 채워진">
            <a:extLst>
              <a:ext uri="{FF2B5EF4-FFF2-40B4-BE49-F238E27FC236}">
                <a16:creationId xmlns:a16="http://schemas.microsoft.com/office/drawing/2014/main" id="{2BA3FD29-CEF2-381E-1A07-7A22F0294C0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861554" y="3920646"/>
            <a:ext cx="180000" cy="180000"/>
          </a:xfrm>
          <a:prstGeom prst="rect">
            <a:avLst/>
          </a:prstGeom>
        </p:spPr>
      </p:pic>
      <p:pic>
        <p:nvPicPr>
          <p:cNvPr id="51" name="그래픽 50" descr="신호 단색으로 채워진">
            <a:extLst>
              <a:ext uri="{FF2B5EF4-FFF2-40B4-BE49-F238E27FC236}">
                <a16:creationId xmlns:a16="http://schemas.microsoft.com/office/drawing/2014/main" id="{EE9BBE38-1AAC-E9EF-29A5-D70C628B0CF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802062" y="3916547"/>
            <a:ext cx="180000" cy="180000"/>
          </a:xfrm>
          <a:prstGeom prst="rect">
            <a:avLst/>
          </a:prstGeom>
        </p:spPr>
      </p:pic>
      <p:grpSp>
        <p:nvGrpSpPr>
          <p:cNvPr id="94" name="그룹 93">
            <a:extLst>
              <a:ext uri="{FF2B5EF4-FFF2-40B4-BE49-F238E27FC236}">
                <a16:creationId xmlns:a16="http://schemas.microsoft.com/office/drawing/2014/main" id="{135EC0F6-23AA-3093-7D5F-F027DDAB2C4C}"/>
              </a:ext>
            </a:extLst>
          </p:cNvPr>
          <p:cNvGrpSpPr/>
          <p:nvPr/>
        </p:nvGrpSpPr>
        <p:grpSpPr>
          <a:xfrm>
            <a:off x="488948" y="5811354"/>
            <a:ext cx="8928099" cy="390763"/>
            <a:chOff x="488948" y="5811354"/>
            <a:chExt cx="8928099" cy="390763"/>
          </a:xfrm>
        </p:grpSpPr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3DF5A5C0-2B40-64EB-F8E6-20D54F9803AA}"/>
                </a:ext>
              </a:extLst>
            </p:cNvPr>
            <p:cNvSpPr/>
            <p:nvPr/>
          </p:nvSpPr>
          <p:spPr>
            <a:xfrm>
              <a:off x="488948" y="5811354"/>
              <a:ext cx="8928099" cy="382485"/>
            </a:xfrm>
            <a:prstGeom prst="roundRect">
              <a:avLst/>
            </a:prstGeom>
            <a:solidFill>
              <a:srgbClr val="F2F9FF"/>
            </a:solidFill>
            <a:ln w="3175">
              <a:solidFill>
                <a:srgbClr val="0091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8000" tIns="0" rIns="0" bIns="0" rtlCol="0" anchor="ctr"/>
            <a:lstStyle/>
            <a:p>
              <a:endParaRPr lang="ko-KR" altLang="en-US" sz="1000" err="1">
                <a:solidFill>
                  <a:srgbClr val="002060"/>
                </a:solidFill>
                <a:latin typeface="Aptos" panose="020B000402020202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5271C09A-F4EC-CA06-0326-9D2DCC3EC157}"/>
                </a:ext>
              </a:extLst>
            </p:cNvPr>
            <p:cNvSpPr/>
            <p:nvPr/>
          </p:nvSpPr>
          <p:spPr>
            <a:xfrm>
              <a:off x="1545732" y="5819633"/>
              <a:ext cx="1060646" cy="37420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/>
            <a:lstStyle/>
            <a:p>
              <a:r>
                <a:rPr lang="en-US" altLang="ko-KR" sz="1200" b="1">
                  <a:solidFill>
                    <a:srgbClr val="00338D"/>
                  </a:solidFill>
                  <a:latin typeface="Aptos" panose="020B0004020202020204" pitchFamily="34" charset="0"/>
                </a:rPr>
                <a:t>Key Takeaway</a:t>
              </a:r>
              <a:endParaRPr lang="ko-KR" altLang="en-US" sz="1200" b="1" err="1">
                <a:solidFill>
                  <a:srgbClr val="00338D"/>
                </a:solidFill>
                <a:latin typeface="Aptos" panose="020B0004020202020204" pitchFamily="34" charset="0"/>
              </a:endParaRPr>
            </a:p>
          </p:txBody>
        </p: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06085435-7DC5-5A3E-3E1C-913122F6613E}"/>
                </a:ext>
              </a:extLst>
            </p:cNvPr>
            <p:cNvGrpSpPr/>
            <p:nvPr/>
          </p:nvGrpSpPr>
          <p:grpSpPr>
            <a:xfrm>
              <a:off x="774712" y="5912596"/>
              <a:ext cx="294241" cy="180000"/>
              <a:chOff x="774712" y="5942789"/>
              <a:chExt cx="294241" cy="180000"/>
            </a:xfrm>
          </p:grpSpPr>
          <p:sp>
            <p:nvSpPr>
              <p:cNvPr id="75" name="Freeform 372">
                <a:extLst>
                  <a:ext uri="{FF2B5EF4-FFF2-40B4-BE49-F238E27FC236}">
                    <a16:creationId xmlns:a16="http://schemas.microsoft.com/office/drawing/2014/main" id="{3023A3F1-E455-2DCC-33A9-27BC040758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0953" y="5942789"/>
                <a:ext cx="108000" cy="180000"/>
              </a:xfrm>
              <a:custGeom>
                <a:avLst/>
                <a:gdLst>
                  <a:gd name="T0" fmla="*/ 135 w 135"/>
                  <a:gd name="T1" fmla="*/ 99 h 198"/>
                  <a:gd name="T2" fmla="*/ 36 w 135"/>
                  <a:gd name="T3" fmla="*/ 0 h 198"/>
                  <a:gd name="T4" fmla="*/ 0 w 135"/>
                  <a:gd name="T5" fmla="*/ 33 h 198"/>
                  <a:gd name="T6" fmla="*/ 64 w 135"/>
                  <a:gd name="T7" fmla="*/ 99 h 198"/>
                  <a:gd name="T8" fmla="*/ 0 w 135"/>
                  <a:gd name="T9" fmla="*/ 163 h 198"/>
                  <a:gd name="T10" fmla="*/ 36 w 135"/>
                  <a:gd name="T11" fmla="*/ 198 h 198"/>
                  <a:gd name="T12" fmla="*/ 135 w 135"/>
                  <a:gd name="T13" fmla="*/ 99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5" h="198">
                    <a:moveTo>
                      <a:pt x="135" y="99"/>
                    </a:moveTo>
                    <a:lnTo>
                      <a:pt x="36" y="0"/>
                    </a:lnTo>
                    <a:lnTo>
                      <a:pt x="0" y="33"/>
                    </a:lnTo>
                    <a:lnTo>
                      <a:pt x="64" y="99"/>
                    </a:lnTo>
                    <a:lnTo>
                      <a:pt x="0" y="163"/>
                    </a:lnTo>
                    <a:lnTo>
                      <a:pt x="36" y="198"/>
                    </a:lnTo>
                    <a:lnTo>
                      <a:pt x="135" y="99"/>
                    </a:lnTo>
                    <a:close/>
                  </a:path>
                </a:pathLst>
              </a:custGeom>
              <a:solidFill>
                <a:srgbClr val="00338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76" name="Freeform 372">
                <a:extLst>
                  <a:ext uri="{FF2B5EF4-FFF2-40B4-BE49-F238E27FC236}">
                    <a16:creationId xmlns:a16="http://schemas.microsoft.com/office/drawing/2014/main" id="{2AEB876C-6954-C2C0-4B1E-575E84ED6F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7833" y="5942789"/>
                <a:ext cx="108000" cy="180000"/>
              </a:xfrm>
              <a:custGeom>
                <a:avLst/>
                <a:gdLst>
                  <a:gd name="T0" fmla="*/ 135 w 135"/>
                  <a:gd name="T1" fmla="*/ 99 h 198"/>
                  <a:gd name="T2" fmla="*/ 36 w 135"/>
                  <a:gd name="T3" fmla="*/ 0 h 198"/>
                  <a:gd name="T4" fmla="*/ 0 w 135"/>
                  <a:gd name="T5" fmla="*/ 33 h 198"/>
                  <a:gd name="T6" fmla="*/ 64 w 135"/>
                  <a:gd name="T7" fmla="*/ 99 h 198"/>
                  <a:gd name="T8" fmla="*/ 0 w 135"/>
                  <a:gd name="T9" fmla="*/ 163 h 198"/>
                  <a:gd name="T10" fmla="*/ 36 w 135"/>
                  <a:gd name="T11" fmla="*/ 198 h 198"/>
                  <a:gd name="T12" fmla="*/ 135 w 135"/>
                  <a:gd name="T13" fmla="*/ 99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5" h="198">
                    <a:moveTo>
                      <a:pt x="135" y="99"/>
                    </a:moveTo>
                    <a:lnTo>
                      <a:pt x="36" y="0"/>
                    </a:lnTo>
                    <a:lnTo>
                      <a:pt x="0" y="33"/>
                    </a:lnTo>
                    <a:lnTo>
                      <a:pt x="64" y="99"/>
                    </a:lnTo>
                    <a:lnTo>
                      <a:pt x="0" y="163"/>
                    </a:lnTo>
                    <a:lnTo>
                      <a:pt x="36" y="198"/>
                    </a:lnTo>
                    <a:lnTo>
                      <a:pt x="135" y="99"/>
                    </a:lnTo>
                    <a:close/>
                  </a:path>
                </a:pathLst>
              </a:custGeom>
              <a:solidFill>
                <a:srgbClr val="005EB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77" name="Freeform 372">
                <a:extLst>
                  <a:ext uri="{FF2B5EF4-FFF2-40B4-BE49-F238E27FC236}">
                    <a16:creationId xmlns:a16="http://schemas.microsoft.com/office/drawing/2014/main" id="{B01B781E-005F-A5AB-8BA7-4A7F4B504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712" y="5942789"/>
                <a:ext cx="108000" cy="180000"/>
              </a:xfrm>
              <a:custGeom>
                <a:avLst/>
                <a:gdLst>
                  <a:gd name="T0" fmla="*/ 135 w 135"/>
                  <a:gd name="T1" fmla="*/ 99 h 198"/>
                  <a:gd name="T2" fmla="*/ 36 w 135"/>
                  <a:gd name="T3" fmla="*/ 0 h 198"/>
                  <a:gd name="T4" fmla="*/ 0 w 135"/>
                  <a:gd name="T5" fmla="*/ 33 h 198"/>
                  <a:gd name="T6" fmla="*/ 64 w 135"/>
                  <a:gd name="T7" fmla="*/ 99 h 198"/>
                  <a:gd name="T8" fmla="*/ 0 w 135"/>
                  <a:gd name="T9" fmla="*/ 163 h 198"/>
                  <a:gd name="T10" fmla="*/ 36 w 135"/>
                  <a:gd name="T11" fmla="*/ 198 h 198"/>
                  <a:gd name="T12" fmla="*/ 135 w 135"/>
                  <a:gd name="T13" fmla="*/ 99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5" h="198">
                    <a:moveTo>
                      <a:pt x="135" y="99"/>
                    </a:moveTo>
                    <a:lnTo>
                      <a:pt x="36" y="0"/>
                    </a:lnTo>
                    <a:lnTo>
                      <a:pt x="0" y="33"/>
                    </a:lnTo>
                    <a:lnTo>
                      <a:pt x="64" y="99"/>
                    </a:lnTo>
                    <a:lnTo>
                      <a:pt x="0" y="163"/>
                    </a:lnTo>
                    <a:lnTo>
                      <a:pt x="36" y="198"/>
                    </a:lnTo>
                    <a:lnTo>
                      <a:pt x="135" y="99"/>
                    </a:lnTo>
                    <a:close/>
                  </a:path>
                </a:pathLst>
              </a:custGeom>
              <a:solidFill>
                <a:srgbClr val="0091DA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</p:grp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718D277D-DA8D-2D65-024D-68106D1440E1}"/>
                </a:ext>
              </a:extLst>
            </p:cNvPr>
            <p:cNvCxnSpPr>
              <a:cxnSpLocks/>
            </p:cNvCxnSpPr>
            <p:nvPr/>
          </p:nvCxnSpPr>
          <p:spPr>
            <a:xfrm>
              <a:off x="3083157" y="5894596"/>
              <a:ext cx="0" cy="216000"/>
            </a:xfrm>
            <a:prstGeom prst="line">
              <a:avLst/>
            </a:prstGeom>
            <a:ln w="19050">
              <a:solidFill>
                <a:srgbClr val="005E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00D65AB1-DD6E-F222-DEB5-98FCEC5766FE}"/>
                </a:ext>
              </a:extLst>
            </p:cNvPr>
            <p:cNvSpPr/>
            <p:nvPr/>
          </p:nvSpPr>
          <p:spPr>
            <a:xfrm>
              <a:off x="3448052" y="5819633"/>
              <a:ext cx="5918190" cy="3824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/>
            <a:lstStyle/>
            <a:p>
              <a:r>
                <a:rPr lang="en-US" altLang="ko-KR" sz="1050" dirty="0">
                  <a:solidFill>
                    <a:srgbClr val="00338D"/>
                  </a:solidFill>
                  <a:latin typeface="Aptos" panose="020B0004020202020204" pitchFamily="34" charset="0"/>
                </a:rPr>
                <a:t>This data set includes </a:t>
              </a:r>
              <a:r>
                <a:rPr lang="en-US" altLang="ko-KR" sz="1050" b="1" dirty="0">
                  <a:solidFill>
                    <a:srgbClr val="00338D"/>
                  </a:solidFill>
                  <a:latin typeface="Aptos" panose="020B0004020202020204" pitchFamily="34" charset="0"/>
                </a:rPr>
                <a:t>870</a:t>
              </a:r>
              <a:r>
                <a:rPr lang="en-US" altLang="ko-KR" sz="1050" dirty="0">
                  <a:solidFill>
                    <a:srgbClr val="00338D"/>
                  </a:solidFill>
                  <a:latin typeface="Aptos" panose="020B0004020202020204" pitchFamily="34" charset="0"/>
                </a:rPr>
                <a:t> Frito Lay employees with an attrition rate of </a:t>
              </a:r>
              <a:r>
                <a:rPr lang="en-US" altLang="ko-KR" sz="1050" b="1" dirty="0">
                  <a:solidFill>
                    <a:srgbClr val="00338D"/>
                  </a:solidFill>
                  <a:latin typeface="Aptos" panose="020B0004020202020204" pitchFamily="34" charset="0"/>
                </a:rPr>
                <a:t>16.1%</a:t>
              </a:r>
            </a:p>
            <a:p>
              <a:r>
                <a:rPr lang="en-US" altLang="ko-KR" sz="1050" dirty="0">
                  <a:solidFill>
                    <a:srgbClr val="00338D"/>
                  </a:solidFill>
                  <a:latin typeface="Aptos" panose="020B0004020202020204" pitchFamily="34" charset="0"/>
                </a:rPr>
                <a:t>Contains </a:t>
              </a:r>
              <a:r>
                <a:rPr lang="en-US" altLang="ko-KR" sz="1050" b="1" dirty="0">
                  <a:solidFill>
                    <a:srgbClr val="00338D"/>
                  </a:solidFill>
                  <a:latin typeface="Aptos" panose="020B0004020202020204" pitchFamily="34" charset="0"/>
                </a:rPr>
                <a:t>30</a:t>
              </a:r>
              <a:r>
                <a:rPr lang="en-US" altLang="ko-KR" sz="1050" dirty="0">
                  <a:solidFill>
                    <a:srgbClr val="00338D"/>
                  </a:solidFill>
                  <a:latin typeface="Aptos" panose="020B0004020202020204" pitchFamily="34" charset="0"/>
                </a:rPr>
                <a:t> explanatory variables (14 numerical, 10 ordinal, 6 nominal), excluding 3 constants.</a:t>
              </a:r>
              <a:endParaRPr lang="ko-KR" altLang="en-US" sz="1050" dirty="0">
                <a:solidFill>
                  <a:srgbClr val="00338D"/>
                </a:solidFill>
                <a:latin typeface="Aptos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7085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15" grpId="0" animBg="1"/>
      <p:bldP spid="68" grpId="0" animBg="1"/>
      <p:bldP spid="72" grpId="0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114" grpId="0"/>
      <p:bldP spid="115" grpId="0"/>
      <p:bldP spid="118" grpId="0"/>
      <p:bldP spid="13" grpId="0" animBg="1"/>
      <p:bldP spid="16" grpId="0" animBg="1"/>
      <p:bldP spid="34" grpId="0" animBg="1"/>
      <p:bldP spid="37" grpId="0" animBg="1"/>
      <p:bldP spid="3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24009-DEB6-14F4-04B9-D78B30D47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3">
            <a:extLst>
              <a:ext uri="{FF2B5EF4-FFF2-40B4-BE49-F238E27FC236}">
                <a16:creationId xmlns:a16="http://schemas.microsoft.com/office/drawing/2014/main" id="{8D8B28C7-F350-8F86-F87D-AC52E72F088E}"/>
              </a:ext>
            </a:extLst>
          </p:cNvPr>
          <p:cNvGraphicFramePr>
            <a:graphicFrameLocks noGrp="1"/>
          </p:cNvGraphicFramePr>
          <p:nvPr/>
        </p:nvGraphicFramePr>
        <p:xfrm>
          <a:off x="1004207" y="2534970"/>
          <a:ext cx="7571977" cy="2687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6733">
                  <a:extLst>
                    <a:ext uri="{9D8B030D-6E8A-4147-A177-3AD203B41FA5}">
                      <a16:colId xmlns:a16="http://schemas.microsoft.com/office/drawing/2014/main" val="694772892"/>
                    </a:ext>
                  </a:extLst>
                </a:gridCol>
                <a:gridCol w="6975244">
                  <a:extLst>
                    <a:ext uri="{9D8B030D-6E8A-4147-A177-3AD203B41FA5}">
                      <a16:colId xmlns:a16="http://schemas.microsoft.com/office/drawing/2014/main" val="1726739505"/>
                    </a:ext>
                  </a:extLst>
                </a:gridCol>
              </a:tblGrid>
              <a:tr h="537497">
                <a:tc>
                  <a:txBody>
                    <a:bodyPr/>
                    <a:lstStyle/>
                    <a:p>
                      <a:pPr marL="12700" marR="5080" lvl="1" indent="-185738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Ⅰ.</a:t>
                      </a:r>
                      <a:endParaRPr lang="ko-KR" altLang="en-US" sz="2000" b="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700" marR="5080" lvl="1" indent="-185738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Dataset Overview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612474"/>
                  </a:ext>
                </a:extLst>
              </a:tr>
              <a:tr h="537497">
                <a:tc>
                  <a:txBody>
                    <a:bodyPr/>
                    <a:lstStyle/>
                    <a:p>
                      <a:pPr marL="12700" marR="5080" lvl="1" indent="-185738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Ⅱ.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700" marR="5080" lvl="1" indent="-185738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Exploratory Data Analysis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8481722"/>
                  </a:ext>
                </a:extLst>
              </a:tr>
              <a:tr h="537497">
                <a:tc>
                  <a:txBody>
                    <a:bodyPr/>
                    <a:lstStyle/>
                    <a:p>
                      <a:pPr marL="12700" marR="5080" lvl="1" indent="-185738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III.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700" marR="5080" lvl="1" indent="-185738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Predictive Modeling (KNN &amp; Naive Bayes)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1305908"/>
                  </a:ext>
                </a:extLst>
              </a:tr>
              <a:tr h="537497">
                <a:tc>
                  <a:txBody>
                    <a:bodyPr/>
                    <a:lstStyle/>
                    <a:p>
                      <a:pPr marL="12700" marR="5080" lvl="1" indent="-185738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IV.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700" marR="5080" lvl="1" indent="-185738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Conclusions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3546442"/>
                  </a:ext>
                </a:extLst>
              </a:tr>
              <a:tr h="537497">
                <a:tc>
                  <a:txBody>
                    <a:bodyPr/>
                    <a:lstStyle/>
                    <a:p>
                      <a:pPr marL="12700" marR="5080" lvl="1" indent="-185738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V.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700" marR="5080" lvl="1" indent="-185738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Appendix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3833752"/>
                  </a:ext>
                </a:extLst>
              </a:tr>
            </a:tbl>
          </a:graphicData>
        </a:graphic>
      </p:graphicFrame>
      <p:sp>
        <p:nvSpPr>
          <p:cNvPr id="3" name="Freeform 48">
            <a:extLst>
              <a:ext uri="{FF2B5EF4-FFF2-40B4-BE49-F238E27FC236}">
                <a16:creationId xmlns:a16="http://schemas.microsoft.com/office/drawing/2014/main" id="{0FFAF118-DD3B-194C-8116-8FD8497D8821}"/>
              </a:ext>
            </a:extLst>
          </p:cNvPr>
          <p:cNvSpPr>
            <a:spLocks noChangeAspect="1"/>
          </p:cNvSpPr>
          <p:nvPr/>
        </p:nvSpPr>
        <p:spPr bwMode="auto">
          <a:xfrm>
            <a:off x="739362" y="3041987"/>
            <a:ext cx="529689" cy="452901"/>
          </a:xfrm>
          <a:custGeom>
            <a:avLst/>
            <a:gdLst/>
            <a:ahLst/>
            <a:cxnLst>
              <a:cxn ang="0">
                <a:pos x="207" y="2051"/>
              </a:cxn>
              <a:cxn ang="0">
                <a:pos x="502" y="2433"/>
              </a:cxn>
              <a:cxn ang="0">
                <a:pos x="858" y="2991"/>
              </a:cxn>
              <a:cxn ang="0">
                <a:pos x="1017" y="3151"/>
              </a:cxn>
              <a:cxn ang="0">
                <a:pos x="1189" y="3228"/>
              </a:cxn>
              <a:cxn ang="0">
                <a:pos x="1367" y="3299"/>
              </a:cxn>
              <a:cxn ang="0">
                <a:pos x="1698" y="3417"/>
              </a:cxn>
              <a:cxn ang="0">
                <a:pos x="1841" y="3460"/>
              </a:cxn>
              <a:cxn ang="0">
                <a:pos x="1884" y="3348"/>
              </a:cxn>
              <a:cxn ang="0">
                <a:pos x="2042" y="3108"/>
              </a:cxn>
              <a:cxn ang="0">
                <a:pos x="2181" y="2716"/>
              </a:cxn>
              <a:cxn ang="0">
                <a:pos x="2374" y="2396"/>
              </a:cxn>
              <a:cxn ang="0">
                <a:pos x="2501" y="2216"/>
              </a:cxn>
              <a:cxn ang="0">
                <a:pos x="2634" y="2126"/>
              </a:cxn>
              <a:cxn ang="0">
                <a:pos x="2725" y="2021"/>
              </a:cxn>
              <a:cxn ang="0">
                <a:pos x="2985" y="1743"/>
              </a:cxn>
              <a:cxn ang="0">
                <a:pos x="3350" y="1385"/>
              </a:cxn>
              <a:cxn ang="0">
                <a:pos x="3764" y="1076"/>
              </a:cxn>
              <a:cxn ang="0">
                <a:pos x="3975" y="956"/>
              </a:cxn>
              <a:cxn ang="0">
                <a:pos x="4166" y="801"/>
              </a:cxn>
              <a:cxn ang="0">
                <a:pos x="4276" y="746"/>
              </a:cxn>
              <a:cxn ang="0">
                <a:pos x="4452" y="590"/>
              </a:cxn>
              <a:cxn ang="0">
                <a:pos x="4597" y="435"/>
              </a:cxn>
              <a:cxn ang="0">
                <a:pos x="4745" y="341"/>
              </a:cxn>
              <a:cxn ang="0">
                <a:pos x="4873" y="280"/>
              </a:cxn>
              <a:cxn ang="0">
                <a:pos x="4849" y="246"/>
              </a:cxn>
              <a:cxn ang="0">
                <a:pos x="4761" y="283"/>
              </a:cxn>
              <a:cxn ang="0">
                <a:pos x="4662" y="363"/>
              </a:cxn>
              <a:cxn ang="0">
                <a:pos x="4441" y="517"/>
              </a:cxn>
              <a:cxn ang="0">
                <a:pos x="4314" y="546"/>
              </a:cxn>
              <a:cxn ang="0">
                <a:pos x="3938" y="816"/>
              </a:cxn>
              <a:cxn ang="0">
                <a:pos x="4014" y="708"/>
              </a:cxn>
              <a:cxn ang="0">
                <a:pos x="4113" y="626"/>
              </a:cxn>
              <a:cxn ang="0">
                <a:pos x="4233" y="505"/>
              </a:cxn>
              <a:cxn ang="0">
                <a:pos x="4255" y="426"/>
              </a:cxn>
              <a:cxn ang="0">
                <a:pos x="4389" y="289"/>
              </a:cxn>
              <a:cxn ang="0">
                <a:pos x="4204" y="343"/>
              </a:cxn>
              <a:cxn ang="0">
                <a:pos x="4366" y="200"/>
              </a:cxn>
              <a:cxn ang="0">
                <a:pos x="4322" y="169"/>
              </a:cxn>
              <a:cxn ang="0">
                <a:pos x="4208" y="279"/>
              </a:cxn>
              <a:cxn ang="0">
                <a:pos x="4203" y="163"/>
              </a:cxn>
              <a:cxn ang="0">
                <a:pos x="4289" y="48"/>
              </a:cxn>
              <a:cxn ang="0">
                <a:pos x="4191" y="26"/>
              </a:cxn>
              <a:cxn ang="0">
                <a:pos x="4085" y="136"/>
              </a:cxn>
              <a:cxn ang="0">
                <a:pos x="3828" y="287"/>
              </a:cxn>
              <a:cxn ang="0">
                <a:pos x="3122" y="783"/>
              </a:cxn>
              <a:cxn ang="0">
                <a:pos x="3124" y="739"/>
              </a:cxn>
              <a:cxn ang="0">
                <a:pos x="3171" y="677"/>
              </a:cxn>
              <a:cxn ang="0">
                <a:pos x="3862" y="221"/>
              </a:cxn>
              <a:cxn ang="0">
                <a:pos x="3913" y="142"/>
              </a:cxn>
              <a:cxn ang="0">
                <a:pos x="3668" y="242"/>
              </a:cxn>
              <a:cxn ang="0">
                <a:pos x="3225" y="529"/>
              </a:cxn>
              <a:cxn ang="0">
                <a:pos x="2781" y="836"/>
              </a:cxn>
              <a:cxn ang="0">
                <a:pos x="2153" y="1280"/>
              </a:cxn>
              <a:cxn ang="0">
                <a:pos x="1865" y="1621"/>
              </a:cxn>
              <a:cxn ang="0">
                <a:pos x="1577" y="1928"/>
              </a:cxn>
              <a:cxn ang="0">
                <a:pos x="1301" y="2011"/>
              </a:cxn>
              <a:cxn ang="0">
                <a:pos x="1036" y="1486"/>
              </a:cxn>
              <a:cxn ang="0">
                <a:pos x="740" y="1512"/>
              </a:cxn>
              <a:cxn ang="0">
                <a:pos x="512" y="1607"/>
              </a:cxn>
              <a:cxn ang="0">
                <a:pos x="237" y="1696"/>
              </a:cxn>
            </a:cxnLst>
            <a:rect l="0" t="0" r="r" b="b"/>
            <a:pathLst>
              <a:path w="4933" h="3474">
                <a:moveTo>
                  <a:pt x="0" y="1838"/>
                </a:moveTo>
                <a:lnTo>
                  <a:pt x="12" y="1853"/>
                </a:lnTo>
                <a:lnTo>
                  <a:pt x="25" y="1869"/>
                </a:lnTo>
                <a:lnTo>
                  <a:pt x="38" y="1884"/>
                </a:lnTo>
                <a:lnTo>
                  <a:pt x="53" y="1900"/>
                </a:lnTo>
                <a:lnTo>
                  <a:pt x="68" y="1914"/>
                </a:lnTo>
                <a:lnTo>
                  <a:pt x="83" y="1931"/>
                </a:lnTo>
                <a:lnTo>
                  <a:pt x="100" y="1946"/>
                </a:lnTo>
                <a:lnTo>
                  <a:pt x="116" y="1960"/>
                </a:lnTo>
                <a:lnTo>
                  <a:pt x="132" y="1976"/>
                </a:lnTo>
                <a:lnTo>
                  <a:pt x="148" y="1990"/>
                </a:lnTo>
                <a:lnTo>
                  <a:pt x="162" y="2005"/>
                </a:lnTo>
                <a:lnTo>
                  <a:pt x="179" y="2021"/>
                </a:lnTo>
                <a:lnTo>
                  <a:pt x="193" y="2036"/>
                </a:lnTo>
                <a:lnTo>
                  <a:pt x="207" y="2051"/>
                </a:lnTo>
                <a:lnTo>
                  <a:pt x="220" y="2066"/>
                </a:lnTo>
                <a:lnTo>
                  <a:pt x="231" y="2082"/>
                </a:lnTo>
                <a:lnTo>
                  <a:pt x="245" y="2110"/>
                </a:lnTo>
                <a:lnTo>
                  <a:pt x="262" y="2133"/>
                </a:lnTo>
                <a:lnTo>
                  <a:pt x="282" y="2151"/>
                </a:lnTo>
                <a:lnTo>
                  <a:pt x="302" y="2168"/>
                </a:lnTo>
                <a:lnTo>
                  <a:pt x="323" y="2184"/>
                </a:lnTo>
                <a:lnTo>
                  <a:pt x="343" y="2202"/>
                </a:lnTo>
                <a:lnTo>
                  <a:pt x="361" y="2224"/>
                </a:lnTo>
                <a:lnTo>
                  <a:pt x="376" y="2251"/>
                </a:lnTo>
                <a:lnTo>
                  <a:pt x="392" y="2280"/>
                </a:lnTo>
                <a:lnTo>
                  <a:pt x="416" y="2314"/>
                </a:lnTo>
                <a:lnTo>
                  <a:pt x="443" y="2352"/>
                </a:lnTo>
                <a:lnTo>
                  <a:pt x="472" y="2393"/>
                </a:lnTo>
                <a:lnTo>
                  <a:pt x="502" y="2433"/>
                </a:lnTo>
                <a:lnTo>
                  <a:pt x="529" y="2470"/>
                </a:lnTo>
                <a:lnTo>
                  <a:pt x="552" y="2504"/>
                </a:lnTo>
                <a:lnTo>
                  <a:pt x="571" y="2532"/>
                </a:lnTo>
                <a:lnTo>
                  <a:pt x="582" y="2555"/>
                </a:lnTo>
                <a:lnTo>
                  <a:pt x="599" y="2583"/>
                </a:lnTo>
                <a:lnTo>
                  <a:pt x="618" y="2617"/>
                </a:lnTo>
                <a:lnTo>
                  <a:pt x="640" y="2652"/>
                </a:lnTo>
                <a:lnTo>
                  <a:pt x="665" y="2693"/>
                </a:lnTo>
                <a:lnTo>
                  <a:pt x="691" y="2734"/>
                </a:lnTo>
                <a:lnTo>
                  <a:pt x="720" y="2778"/>
                </a:lnTo>
                <a:lnTo>
                  <a:pt x="750" y="2822"/>
                </a:lnTo>
                <a:lnTo>
                  <a:pt x="777" y="2866"/>
                </a:lnTo>
                <a:lnTo>
                  <a:pt x="806" y="2910"/>
                </a:lnTo>
                <a:lnTo>
                  <a:pt x="833" y="2952"/>
                </a:lnTo>
                <a:lnTo>
                  <a:pt x="858" y="2991"/>
                </a:lnTo>
                <a:lnTo>
                  <a:pt x="881" y="3027"/>
                </a:lnTo>
                <a:lnTo>
                  <a:pt x="900" y="3059"/>
                </a:lnTo>
                <a:lnTo>
                  <a:pt x="917" y="3088"/>
                </a:lnTo>
                <a:lnTo>
                  <a:pt x="929" y="3110"/>
                </a:lnTo>
                <a:lnTo>
                  <a:pt x="940" y="3112"/>
                </a:lnTo>
                <a:lnTo>
                  <a:pt x="950" y="3113"/>
                </a:lnTo>
                <a:lnTo>
                  <a:pt x="960" y="3115"/>
                </a:lnTo>
                <a:lnTo>
                  <a:pt x="969" y="3117"/>
                </a:lnTo>
                <a:lnTo>
                  <a:pt x="980" y="3117"/>
                </a:lnTo>
                <a:lnTo>
                  <a:pt x="991" y="3120"/>
                </a:lnTo>
                <a:lnTo>
                  <a:pt x="1000" y="3121"/>
                </a:lnTo>
                <a:lnTo>
                  <a:pt x="1010" y="3123"/>
                </a:lnTo>
                <a:lnTo>
                  <a:pt x="1012" y="3133"/>
                </a:lnTo>
                <a:lnTo>
                  <a:pt x="1015" y="3142"/>
                </a:lnTo>
                <a:lnTo>
                  <a:pt x="1017" y="3151"/>
                </a:lnTo>
                <a:lnTo>
                  <a:pt x="1019" y="3162"/>
                </a:lnTo>
                <a:lnTo>
                  <a:pt x="1029" y="3162"/>
                </a:lnTo>
                <a:lnTo>
                  <a:pt x="1037" y="3164"/>
                </a:lnTo>
                <a:lnTo>
                  <a:pt x="1046" y="3165"/>
                </a:lnTo>
                <a:lnTo>
                  <a:pt x="1055" y="3166"/>
                </a:lnTo>
                <a:lnTo>
                  <a:pt x="1064" y="3169"/>
                </a:lnTo>
                <a:lnTo>
                  <a:pt x="1073" y="3170"/>
                </a:lnTo>
                <a:lnTo>
                  <a:pt x="1083" y="3171"/>
                </a:lnTo>
                <a:lnTo>
                  <a:pt x="1091" y="3172"/>
                </a:lnTo>
                <a:lnTo>
                  <a:pt x="1108" y="3182"/>
                </a:lnTo>
                <a:lnTo>
                  <a:pt x="1125" y="3193"/>
                </a:lnTo>
                <a:lnTo>
                  <a:pt x="1141" y="3201"/>
                </a:lnTo>
                <a:lnTo>
                  <a:pt x="1156" y="3210"/>
                </a:lnTo>
                <a:lnTo>
                  <a:pt x="1172" y="3220"/>
                </a:lnTo>
                <a:lnTo>
                  <a:pt x="1189" y="3228"/>
                </a:lnTo>
                <a:lnTo>
                  <a:pt x="1206" y="3237"/>
                </a:lnTo>
                <a:lnTo>
                  <a:pt x="1222" y="3245"/>
                </a:lnTo>
                <a:lnTo>
                  <a:pt x="1233" y="3246"/>
                </a:lnTo>
                <a:lnTo>
                  <a:pt x="1244" y="3248"/>
                </a:lnTo>
                <a:lnTo>
                  <a:pt x="1255" y="3250"/>
                </a:lnTo>
                <a:lnTo>
                  <a:pt x="1267" y="3251"/>
                </a:lnTo>
                <a:lnTo>
                  <a:pt x="1278" y="3251"/>
                </a:lnTo>
                <a:lnTo>
                  <a:pt x="1289" y="3252"/>
                </a:lnTo>
                <a:lnTo>
                  <a:pt x="1302" y="3253"/>
                </a:lnTo>
                <a:lnTo>
                  <a:pt x="1313" y="3253"/>
                </a:lnTo>
                <a:lnTo>
                  <a:pt x="1321" y="3264"/>
                </a:lnTo>
                <a:lnTo>
                  <a:pt x="1330" y="3276"/>
                </a:lnTo>
                <a:lnTo>
                  <a:pt x="1340" y="3288"/>
                </a:lnTo>
                <a:lnTo>
                  <a:pt x="1348" y="3297"/>
                </a:lnTo>
                <a:lnTo>
                  <a:pt x="1367" y="3299"/>
                </a:lnTo>
                <a:lnTo>
                  <a:pt x="1388" y="3301"/>
                </a:lnTo>
                <a:lnTo>
                  <a:pt x="1407" y="3303"/>
                </a:lnTo>
                <a:lnTo>
                  <a:pt x="1427" y="3303"/>
                </a:lnTo>
                <a:lnTo>
                  <a:pt x="1448" y="3305"/>
                </a:lnTo>
                <a:lnTo>
                  <a:pt x="1467" y="3305"/>
                </a:lnTo>
                <a:lnTo>
                  <a:pt x="1487" y="3307"/>
                </a:lnTo>
                <a:lnTo>
                  <a:pt x="1507" y="3308"/>
                </a:lnTo>
                <a:lnTo>
                  <a:pt x="1531" y="3321"/>
                </a:lnTo>
                <a:lnTo>
                  <a:pt x="1552" y="3334"/>
                </a:lnTo>
                <a:lnTo>
                  <a:pt x="1577" y="3348"/>
                </a:lnTo>
                <a:lnTo>
                  <a:pt x="1600" y="3361"/>
                </a:lnTo>
                <a:lnTo>
                  <a:pt x="1625" y="3377"/>
                </a:lnTo>
                <a:lnTo>
                  <a:pt x="1649" y="3390"/>
                </a:lnTo>
                <a:lnTo>
                  <a:pt x="1673" y="3404"/>
                </a:lnTo>
                <a:lnTo>
                  <a:pt x="1698" y="3417"/>
                </a:lnTo>
                <a:lnTo>
                  <a:pt x="1707" y="3417"/>
                </a:lnTo>
                <a:lnTo>
                  <a:pt x="1717" y="3417"/>
                </a:lnTo>
                <a:lnTo>
                  <a:pt x="1727" y="3417"/>
                </a:lnTo>
                <a:lnTo>
                  <a:pt x="1738" y="3417"/>
                </a:lnTo>
                <a:lnTo>
                  <a:pt x="1748" y="3417"/>
                </a:lnTo>
                <a:lnTo>
                  <a:pt x="1757" y="3417"/>
                </a:lnTo>
                <a:lnTo>
                  <a:pt x="1768" y="3417"/>
                </a:lnTo>
                <a:lnTo>
                  <a:pt x="1778" y="3417"/>
                </a:lnTo>
                <a:lnTo>
                  <a:pt x="1786" y="3426"/>
                </a:lnTo>
                <a:lnTo>
                  <a:pt x="1796" y="3432"/>
                </a:lnTo>
                <a:lnTo>
                  <a:pt x="1806" y="3438"/>
                </a:lnTo>
                <a:lnTo>
                  <a:pt x="1815" y="3444"/>
                </a:lnTo>
                <a:lnTo>
                  <a:pt x="1823" y="3450"/>
                </a:lnTo>
                <a:lnTo>
                  <a:pt x="1832" y="3454"/>
                </a:lnTo>
                <a:lnTo>
                  <a:pt x="1841" y="3460"/>
                </a:lnTo>
                <a:lnTo>
                  <a:pt x="1850" y="3465"/>
                </a:lnTo>
                <a:lnTo>
                  <a:pt x="1877" y="3472"/>
                </a:lnTo>
                <a:lnTo>
                  <a:pt x="1896" y="3474"/>
                </a:lnTo>
                <a:lnTo>
                  <a:pt x="1907" y="3471"/>
                </a:lnTo>
                <a:lnTo>
                  <a:pt x="1911" y="3464"/>
                </a:lnTo>
                <a:lnTo>
                  <a:pt x="1911" y="3454"/>
                </a:lnTo>
                <a:lnTo>
                  <a:pt x="1905" y="3441"/>
                </a:lnTo>
                <a:lnTo>
                  <a:pt x="1898" y="3427"/>
                </a:lnTo>
                <a:lnTo>
                  <a:pt x="1890" y="3412"/>
                </a:lnTo>
                <a:lnTo>
                  <a:pt x="1883" y="3397"/>
                </a:lnTo>
                <a:lnTo>
                  <a:pt x="1874" y="3382"/>
                </a:lnTo>
                <a:lnTo>
                  <a:pt x="1870" y="3370"/>
                </a:lnTo>
                <a:lnTo>
                  <a:pt x="1869" y="3358"/>
                </a:lnTo>
                <a:lnTo>
                  <a:pt x="1873" y="3352"/>
                </a:lnTo>
                <a:lnTo>
                  <a:pt x="1884" y="3348"/>
                </a:lnTo>
                <a:lnTo>
                  <a:pt x="1902" y="3350"/>
                </a:lnTo>
                <a:lnTo>
                  <a:pt x="1929" y="3357"/>
                </a:lnTo>
                <a:lnTo>
                  <a:pt x="1942" y="3334"/>
                </a:lnTo>
                <a:lnTo>
                  <a:pt x="1953" y="3314"/>
                </a:lnTo>
                <a:lnTo>
                  <a:pt x="1964" y="3295"/>
                </a:lnTo>
                <a:lnTo>
                  <a:pt x="1972" y="3275"/>
                </a:lnTo>
                <a:lnTo>
                  <a:pt x="1982" y="3257"/>
                </a:lnTo>
                <a:lnTo>
                  <a:pt x="1991" y="3235"/>
                </a:lnTo>
                <a:lnTo>
                  <a:pt x="2002" y="3214"/>
                </a:lnTo>
                <a:lnTo>
                  <a:pt x="2014" y="3191"/>
                </a:lnTo>
                <a:lnTo>
                  <a:pt x="2015" y="3177"/>
                </a:lnTo>
                <a:lnTo>
                  <a:pt x="2020" y="3162"/>
                </a:lnTo>
                <a:lnTo>
                  <a:pt x="2026" y="3145"/>
                </a:lnTo>
                <a:lnTo>
                  <a:pt x="2033" y="3126"/>
                </a:lnTo>
                <a:lnTo>
                  <a:pt x="2042" y="3108"/>
                </a:lnTo>
                <a:lnTo>
                  <a:pt x="2048" y="3090"/>
                </a:lnTo>
                <a:lnTo>
                  <a:pt x="2052" y="3075"/>
                </a:lnTo>
                <a:lnTo>
                  <a:pt x="2053" y="3061"/>
                </a:lnTo>
                <a:lnTo>
                  <a:pt x="2066" y="3042"/>
                </a:lnTo>
                <a:lnTo>
                  <a:pt x="2079" y="3021"/>
                </a:lnTo>
                <a:lnTo>
                  <a:pt x="2092" y="3002"/>
                </a:lnTo>
                <a:lnTo>
                  <a:pt x="2103" y="2983"/>
                </a:lnTo>
                <a:lnTo>
                  <a:pt x="2114" y="2964"/>
                </a:lnTo>
                <a:lnTo>
                  <a:pt x="2126" y="2945"/>
                </a:lnTo>
                <a:lnTo>
                  <a:pt x="2137" y="2927"/>
                </a:lnTo>
                <a:lnTo>
                  <a:pt x="2149" y="2907"/>
                </a:lnTo>
                <a:lnTo>
                  <a:pt x="2156" y="2853"/>
                </a:lnTo>
                <a:lnTo>
                  <a:pt x="2167" y="2811"/>
                </a:lnTo>
                <a:lnTo>
                  <a:pt x="2178" y="2769"/>
                </a:lnTo>
                <a:lnTo>
                  <a:pt x="2181" y="2716"/>
                </a:lnTo>
                <a:lnTo>
                  <a:pt x="2195" y="2707"/>
                </a:lnTo>
                <a:lnTo>
                  <a:pt x="2209" y="2695"/>
                </a:lnTo>
                <a:lnTo>
                  <a:pt x="2224" y="2682"/>
                </a:lnTo>
                <a:lnTo>
                  <a:pt x="2240" y="2669"/>
                </a:lnTo>
                <a:lnTo>
                  <a:pt x="2255" y="2656"/>
                </a:lnTo>
                <a:lnTo>
                  <a:pt x="2270" y="2642"/>
                </a:lnTo>
                <a:lnTo>
                  <a:pt x="2284" y="2631"/>
                </a:lnTo>
                <a:lnTo>
                  <a:pt x="2297" y="2621"/>
                </a:lnTo>
                <a:lnTo>
                  <a:pt x="2306" y="2569"/>
                </a:lnTo>
                <a:lnTo>
                  <a:pt x="2312" y="2527"/>
                </a:lnTo>
                <a:lnTo>
                  <a:pt x="2317" y="2486"/>
                </a:lnTo>
                <a:lnTo>
                  <a:pt x="2328" y="2431"/>
                </a:lnTo>
                <a:lnTo>
                  <a:pt x="2338" y="2421"/>
                </a:lnTo>
                <a:lnTo>
                  <a:pt x="2355" y="2409"/>
                </a:lnTo>
                <a:lnTo>
                  <a:pt x="2374" y="2396"/>
                </a:lnTo>
                <a:lnTo>
                  <a:pt x="2397" y="2381"/>
                </a:lnTo>
                <a:lnTo>
                  <a:pt x="2420" y="2366"/>
                </a:lnTo>
                <a:lnTo>
                  <a:pt x="2440" y="2352"/>
                </a:lnTo>
                <a:lnTo>
                  <a:pt x="2456" y="2342"/>
                </a:lnTo>
                <a:lnTo>
                  <a:pt x="2465" y="2332"/>
                </a:lnTo>
                <a:lnTo>
                  <a:pt x="2463" y="2317"/>
                </a:lnTo>
                <a:lnTo>
                  <a:pt x="2463" y="2304"/>
                </a:lnTo>
                <a:lnTo>
                  <a:pt x="2468" y="2291"/>
                </a:lnTo>
                <a:lnTo>
                  <a:pt x="2471" y="2278"/>
                </a:lnTo>
                <a:lnTo>
                  <a:pt x="2476" y="2264"/>
                </a:lnTo>
                <a:lnTo>
                  <a:pt x="2479" y="2251"/>
                </a:lnTo>
                <a:lnTo>
                  <a:pt x="2481" y="2235"/>
                </a:lnTo>
                <a:lnTo>
                  <a:pt x="2479" y="2222"/>
                </a:lnTo>
                <a:lnTo>
                  <a:pt x="2490" y="2220"/>
                </a:lnTo>
                <a:lnTo>
                  <a:pt x="2501" y="2216"/>
                </a:lnTo>
                <a:lnTo>
                  <a:pt x="2513" y="2213"/>
                </a:lnTo>
                <a:lnTo>
                  <a:pt x="2525" y="2208"/>
                </a:lnTo>
                <a:lnTo>
                  <a:pt x="2536" y="2204"/>
                </a:lnTo>
                <a:lnTo>
                  <a:pt x="2547" y="2201"/>
                </a:lnTo>
                <a:lnTo>
                  <a:pt x="2558" y="2196"/>
                </a:lnTo>
                <a:lnTo>
                  <a:pt x="2569" y="2193"/>
                </a:lnTo>
                <a:lnTo>
                  <a:pt x="2574" y="2172"/>
                </a:lnTo>
                <a:lnTo>
                  <a:pt x="2581" y="2153"/>
                </a:lnTo>
                <a:lnTo>
                  <a:pt x="2589" y="2133"/>
                </a:lnTo>
                <a:lnTo>
                  <a:pt x="2598" y="2111"/>
                </a:lnTo>
                <a:lnTo>
                  <a:pt x="2606" y="2115"/>
                </a:lnTo>
                <a:lnTo>
                  <a:pt x="2612" y="2117"/>
                </a:lnTo>
                <a:lnTo>
                  <a:pt x="2619" y="2120"/>
                </a:lnTo>
                <a:lnTo>
                  <a:pt x="2627" y="2123"/>
                </a:lnTo>
                <a:lnTo>
                  <a:pt x="2634" y="2126"/>
                </a:lnTo>
                <a:lnTo>
                  <a:pt x="2643" y="2128"/>
                </a:lnTo>
                <a:lnTo>
                  <a:pt x="2651" y="2131"/>
                </a:lnTo>
                <a:lnTo>
                  <a:pt x="2659" y="2133"/>
                </a:lnTo>
                <a:lnTo>
                  <a:pt x="2667" y="2115"/>
                </a:lnTo>
                <a:lnTo>
                  <a:pt x="2673" y="2098"/>
                </a:lnTo>
                <a:lnTo>
                  <a:pt x="2677" y="2080"/>
                </a:lnTo>
                <a:lnTo>
                  <a:pt x="2682" y="2064"/>
                </a:lnTo>
                <a:lnTo>
                  <a:pt x="2687" y="2058"/>
                </a:lnTo>
                <a:lnTo>
                  <a:pt x="2692" y="2053"/>
                </a:lnTo>
                <a:lnTo>
                  <a:pt x="2698" y="2049"/>
                </a:lnTo>
                <a:lnTo>
                  <a:pt x="2704" y="2042"/>
                </a:lnTo>
                <a:lnTo>
                  <a:pt x="2710" y="2038"/>
                </a:lnTo>
                <a:lnTo>
                  <a:pt x="2715" y="2032"/>
                </a:lnTo>
                <a:lnTo>
                  <a:pt x="2721" y="2026"/>
                </a:lnTo>
                <a:lnTo>
                  <a:pt x="2725" y="2021"/>
                </a:lnTo>
                <a:lnTo>
                  <a:pt x="2735" y="2005"/>
                </a:lnTo>
                <a:lnTo>
                  <a:pt x="2746" y="1989"/>
                </a:lnTo>
                <a:lnTo>
                  <a:pt x="2757" y="1972"/>
                </a:lnTo>
                <a:lnTo>
                  <a:pt x="2769" y="1957"/>
                </a:lnTo>
                <a:lnTo>
                  <a:pt x="2781" y="1940"/>
                </a:lnTo>
                <a:lnTo>
                  <a:pt x="2793" y="1925"/>
                </a:lnTo>
                <a:lnTo>
                  <a:pt x="2807" y="1907"/>
                </a:lnTo>
                <a:lnTo>
                  <a:pt x="2821" y="1891"/>
                </a:lnTo>
                <a:lnTo>
                  <a:pt x="2844" y="1871"/>
                </a:lnTo>
                <a:lnTo>
                  <a:pt x="2869" y="1850"/>
                </a:lnTo>
                <a:lnTo>
                  <a:pt x="2892" y="1829"/>
                </a:lnTo>
                <a:lnTo>
                  <a:pt x="2916" y="1809"/>
                </a:lnTo>
                <a:lnTo>
                  <a:pt x="2940" y="1787"/>
                </a:lnTo>
                <a:lnTo>
                  <a:pt x="2963" y="1765"/>
                </a:lnTo>
                <a:lnTo>
                  <a:pt x="2985" y="1743"/>
                </a:lnTo>
                <a:lnTo>
                  <a:pt x="3008" y="1721"/>
                </a:lnTo>
                <a:lnTo>
                  <a:pt x="3030" y="1698"/>
                </a:lnTo>
                <a:lnTo>
                  <a:pt x="3054" y="1676"/>
                </a:lnTo>
                <a:lnTo>
                  <a:pt x="3077" y="1653"/>
                </a:lnTo>
                <a:lnTo>
                  <a:pt x="3100" y="1629"/>
                </a:lnTo>
                <a:lnTo>
                  <a:pt x="3122" y="1605"/>
                </a:lnTo>
                <a:lnTo>
                  <a:pt x="3146" y="1581"/>
                </a:lnTo>
                <a:lnTo>
                  <a:pt x="3171" y="1558"/>
                </a:lnTo>
                <a:lnTo>
                  <a:pt x="3194" y="1534"/>
                </a:lnTo>
                <a:lnTo>
                  <a:pt x="3219" y="1508"/>
                </a:lnTo>
                <a:lnTo>
                  <a:pt x="3244" y="1485"/>
                </a:lnTo>
                <a:lnTo>
                  <a:pt x="3270" y="1460"/>
                </a:lnTo>
                <a:lnTo>
                  <a:pt x="3296" y="1435"/>
                </a:lnTo>
                <a:lnTo>
                  <a:pt x="3322" y="1409"/>
                </a:lnTo>
                <a:lnTo>
                  <a:pt x="3350" y="1385"/>
                </a:lnTo>
                <a:lnTo>
                  <a:pt x="3380" y="1360"/>
                </a:lnTo>
                <a:lnTo>
                  <a:pt x="3409" y="1335"/>
                </a:lnTo>
                <a:lnTo>
                  <a:pt x="3439" y="1309"/>
                </a:lnTo>
                <a:lnTo>
                  <a:pt x="3470" y="1283"/>
                </a:lnTo>
                <a:lnTo>
                  <a:pt x="3501" y="1258"/>
                </a:lnTo>
                <a:lnTo>
                  <a:pt x="3535" y="1231"/>
                </a:lnTo>
                <a:lnTo>
                  <a:pt x="3569" y="1208"/>
                </a:lnTo>
                <a:lnTo>
                  <a:pt x="3604" y="1181"/>
                </a:lnTo>
                <a:lnTo>
                  <a:pt x="3641" y="1156"/>
                </a:lnTo>
                <a:lnTo>
                  <a:pt x="3679" y="1130"/>
                </a:lnTo>
                <a:lnTo>
                  <a:pt x="3695" y="1119"/>
                </a:lnTo>
                <a:lnTo>
                  <a:pt x="3712" y="1107"/>
                </a:lnTo>
                <a:lnTo>
                  <a:pt x="3730" y="1097"/>
                </a:lnTo>
                <a:lnTo>
                  <a:pt x="3746" y="1085"/>
                </a:lnTo>
                <a:lnTo>
                  <a:pt x="3764" y="1076"/>
                </a:lnTo>
                <a:lnTo>
                  <a:pt x="3781" y="1065"/>
                </a:lnTo>
                <a:lnTo>
                  <a:pt x="3799" y="1054"/>
                </a:lnTo>
                <a:lnTo>
                  <a:pt x="3818" y="1045"/>
                </a:lnTo>
                <a:lnTo>
                  <a:pt x="3827" y="1039"/>
                </a:lnTo>
                <a:lnTo>
                  <a:pt x="3839" y="1035"/>
                </a:lnTo>
                <a:lnTo>
                  <a:pt x="3849" y="1030"/>
                </a:lnTo>
                <a:lnTo>
                  <a:pt x="3859" y="1025"/>
                </a:lnTo>
                <a:lnTo>
                  <a:pt x="3869" y="1019"/>
                </a:lnTo>
                <a:lnTo>
                  <a:pt x="3880" y="1015"/>
                </a:lnTo>
                <a:lnTo>
                  <a:pt x="3890" y="1008"/>
                </a:lnTo>
                <a:lnTo>
                  <a:pt x="3901" y="1003"/>
                </a:lnTo>
                <a:lnTo>
                  <a:pt x="3920" y="991"/>
                </a:lnTo>
                <a:lnTo>
                  <a:pt x="3938" y="980"/>
                </a:lnTo>
                <a:lnTo>
                  <a:pt x="3957" y="970"/>
                </a:lnTo>
                <a:lnTo>
                  <a:pt x="3975" y="956"/>
                </a:lnTo>
                <a:lnTo>
                  <a:pt x="3994" y="946"/>
                </a:lnTo>
                <a:lnTo>
                  <a:pt x="4012" y="932"/>
                </a:lnTo>
                <a:lnTo>
                  <a:pt x="4031" y="922"/>
                </a:lnTo>
                <a:lnTo>
                  <a:pt x="4049" y="910"/>
                </a:lnTo>
                <a:lnTo>
                  <a:pt x="4061" y="901"/>
                </a:lnTo>
                <a:lnTo>
                  <a:pt x="4074" y="891"/>
                </a:lnTo>
                <a:lnTo>
                  <a:pt x="4085" y="882"/>
                </a:lnTo>
                <a:lnTo>
                  <a:pt x="4099" y="872"/>
                </a:lnTo>
                <a:lnTo>
                  <a:pt x="4112" y="863"/>
                </a:lnTo>
                <a:lnTo>
                  <a:pt x="4125" y="854"/>
                </a:lnTo>
                <a:lnTo>
                  <a:pt x="4137" y="845"/>
                </a:lnTo>
                <a:lnTo>
                  <a:pt x="4151" y="835"/>
                </a:lnTo>
                <a:lnTo>
                  <a:pt x="4156" y="823"/>
                </a:lnTo>
                <a:lnTo>
                  <a:pt x="4161" y="811"/>
                </a:lnTo>
                <a:lnTo>
                  <a:pt x="4166" y="801"/>
                </a:lnTo>
                <a:lnTo>
                  <a:pt x="4170" y="792"/>
                </a:lnTo>
                <a:lnTo>
                  <a:pt x="4179" y="783"/>
                </a:lnTo>
                <a:lnTo>
                  <a:pt x="4187" y="778"/>
                </a:lnTo>
                <a:lnTo>
                  <a:pt x="4195" y="770"/>
                </a:lnTo>
                <a:lnTo>
                  <a:pt x="4204" y="764"/>
                </a:lnTo>
                <a:lnTo>
                  <a:pt x="4212" y="756"/>
                </a:lnTo>
                <a:lnTo>
                  <a:pt x="4221" y="750"/>
                </a:lnTo>
                <a:lnTo>
                  <a:pt x="4230" y="743"/>
                </a:lnTo>
                <a:lnTo>
                  <a:pt x="4239" y="737"/>
                </a:lnTo>
                <a:lnTo>
                  <a:pt x="4242" y="743"/>
                </a:lnTo>
                <a:lnTo>
                  <a:pt x="4245" y="749"/>
                </a:lnTo>
                <a:lnTo>
                  <a:pt x="4248" y="755"/>
                </a:lnTo>
                <a:lnTo>
                  <a:pt x="4250" y="762"/>
                </a:lnTo>
                <a:lnTo>
                  <a:pt x="4264" y="752"/>
                </a:lnTo>
                <a:lnTo>
                  <a:pt x="4276" y="746"/>
                </a:lnTo>
                <a:lnTo>
                  <a:pt x="4290" y="737"/>
                </a:lnTo>
                <a:lnTo>
                  <a:pt x="4304" y="728"/>
                </a:lnTo>
                <a:lnTo>
                  <a:pt x="4317" y="721"/>
                </a:lnTo>
                <a:lnTo>
                  <a:pt x="4331" y="712"/>
                </a:lnTo>
                <a:lnTo>
                  <a:pt x="4345" y="705"/>
                </a:lnTo>
                <a:lnTo>
                  <a:pt x="4356" y="697"/>
                </a:lnTo>
                <a:lnTo>
                  <a:pt x="4366" y="683"/>
                </a:lnTo>
                <a:lnTo>
                  <a:pt x="4375" y="665"/>
                </a:lnTo>
                <a:lnTo>
                  <a:pt x="4385" y="649"/>
                </a:lnTo>
                <a:lnTo>
                  <a:pt x="4393" y="634"/>
                </a:lnTo>
                <a:lnTo>
                  <a:pt x="4404" y="624"/>
                </a:lnTo>
                <a:lnTo>
                  <a:pt x="4416" y="615"/>
                </a:lnTo>
                <a:lnTo>
                  <a:pt x="4429" y="606"/>
                </a:lnTo>
                <a:lnTo>
                  <a:pt x="4441" y="598"/>
                </a:lnTo>
                <a:lnTo>
                  <a:pt x="4452" y="590"/>
                </a:lnTo>
                <a:lnTo>
                  <a:pt x="4465" y="580"/>
                </a:lnTo>
                <a:lnTo>
                  <a:pt x="4475" y="570"/>
                </a:lnTo>
                <a:lnTo>
                  <a:pt x="4485" y="562"/>
                </a:lnTo>
                <a:lnTo>
                  <a:pt x="4490" y="547"/>
                </a:lnTo>
                <a:lnTo>
                  <a:pt x="4494" y="532"/>
                </a:lnTo>
                <a:lnTo>
                  <a:pt x="4499" y="517"/>
                </a:lnTo>
                <a:lnTo>
                  <a:pt x="4506" y="501"/>
                </a:lnTo>
                <a:lnTo>
                  <a:pt x="4516" y="492"/>
                </a:lnTo>
                <a:lnTo>
                  <a:pt x="4529" y="484"/>
                </a:lnTo>
                <a:lnTo>
                  <a:pt x="4541" y="477"/>
                </a:lnTo>
                <a:lnTo>
                  <a:pt x="4553" y="468"/>
                </a:lnTo>
                <a:lnTo>
                  <a:pt x="4564" y="459"/>
                </a:lnTo>
                <a:lnTo>
                  <a:pt x="4577" y="450"/>
                </a:lnTo>
                <a:lnTo>
                  <a:pt x="4587" y="443"/>
                </a:lnTo>
                <a:lnTo>
                  <a:pt x="4597" y="435"/>
                </a:lnTo>
                <a:lnTo>
                  <a:pt x="4611" y="430"/>
                </a:lnTo>
                <a:lnTo>
                  <a:pt x="4625" y="426"/>
                </a:lnTo>
                <a:lnTo>
                  <a:pt x="4638" y="422"/>
                </a:lnTo>
                <a:lnTo>
                  <a:pt x="4650" y="418"/>
                </a:lnTo>
                <a:lnTo>
                  <a:pt x="4664" y="413"/>
                </a:lnTo>
                <a:lnTo>
                  <a:pt x="4676" y="410"/>
                </a:lnTo>
                <a:lnTo>
                  <a:pt x="4688" y="405"/>
                </a:lnTo>
                <a:lnTo>
                  <a:pt x="4702" y="401"/>
                </a:lnTo>
                <a:lnTo>
                  <a:pt x="4708" y="393"/>
                </a:lnTo>
                <a:lnTo>
                  <a:pt x="4714" y="384"/>
                </a:lnTo>
                <a:lnTo>
                  <a:pt x="4720" y="377"/>
                </a:lnTo>
                <a:lnTo>
                  <a:pt x="4726" y="367"/>
                </a:lnTo>
                <a:lnTo>
                  <a:pt x="4733" y="359"/>
                </a:lnTo>
                <a:lnTo>
                  <a:pt x="4739" y="350"/>
                </a:lnTo>
                <a:lnTo>
                  <a:pt x="4745" y="341"/>
                </a:lnTo>
                <a:lnTo>
                  <a:pt x="4751" y="332"/>
                </a:lnTo>
                <a:lnTo>
                  <a:pt x="4761" y="326"/>
                </a:lnTo>
                <a:lnTo>
                  <a:pt x="4772" y="319"/>
                </a:lnTo>
                <a:lnTo>
                  <a:pt x="4781" y="312"/>
                </a:lnTo>
                <a:lnTo>
                  <a:pt x="4790" y="305"/>
                </a:lnTo>
                <a:lnTo>
                  <a:pt x="4800" y="298"/>
                </a:lnTo>
                <a:lnTo>
                  <a:pt x="4810" y="291"/>
                </a:lnTo>
                <a:lnTo>
                  <a:pt x="4819" y="283"/>
                </a:lnTo>
                <a:lnTo>
                  <a:pt x="4827" y="275"/>
                </a:lnTo>
                <a:lnTo>
                  <a:pt x="4833" y="280"/>
                </a:lnTo>
                <a:lnTo>
                  <a:pt x="4840" y="285"/>
                </a:lnTo>
                <a:lnTo>
                  <a:pt x="4848" y="292"/>
                </a:lnTo>
                <a:lnTo>
                  <a:pt x="4852" y="297"/>
                </a:lnTo>
                <a:lnTo>
                  <a:pt x="4862" y="289"/>
                </a:lnTo>
                <a:lnTo>
                  <a:pt x="4873" y="280"/>
                </a:lnTo>
                <a:lnTo>
                  <a:pt x="4882" y="272"/>
                </a:lnTo>
                <a:lnTo>
                  <a:pt x="4893" y="264"/>
                </a:lnTo>
                <a:lnTo>
                  <a:pt x="4902" y="253"/>
                </a:lnTo>
                <a:lnTo>
                  <a:pt x="4912" y="244"/>
                </a:lnTo>
                <a:lnTo>
                  <a:pt x="4923" y="236"/>
                </a:lnTo>
                <a:lnTo>
                  <a:pt x="4933" y="228"/>
                </a:lnTo>
                <a:lnTo>
                  <a:pt x="4921" y="233"/>
                </a:lnTo>
                <a:lnTo>
                  <a:pt x="4910" y="239"/>
                </a:lnTo>
                <a:lnTo>
                  <a:pt x="4898" y="246"/>
                </a:lnTo>
                <a:lnTo>
                  <a:pt x="4884" y="250"/>
                </a:lnTo>
                <a:lnTo>
                  <a:pt x="4873" y="257"/>
                </a:lnTo>
                <a:lnTo>
                  <a:pt x="4862" y="262"/>
                </a:lnTo>
                <a:lnTo>
                  <a:pt x="4850" y="267"/>
                </a:lnTo>
                <a:lnTo>
                  <a:pt x="4838" y="272"/>
                </a:lnTo>
                <a:lnTo>
                  <a:pt x="4849" y="246"/>
                </a:lnTo>
                <a:lnTo>
                  <a:pt x="4858" y="223"/>
                </a:lnTo>
                <a:lnTo>
                  <a:pt x="4864" y="199"/>
                </a:lnTo>
                <a:lnTo>
                  <a:pt x="4869" y="175"/>
                </a:lnTo>
                <a:lnTo>
                  <a:pt x="4861" y="182"/>
                </a:lnTo>
                <a:lnTo>
                  <a:pt x="4852" y="191"/>
                </a:lnTo>
                <a:lnTo>
                  <a:pt x="4842" y="200"/>
                </a:lnTo>
                <a:lnTo>
                  <a:pt x="4832" y="208"/>
                </a:lnTo>
                <a:lnTo>
                  <a:pt x="4823" y="216"/>
                </a:lnTo>
                <a:lnTo>
                  <a:pt x="4813" y="224"/>
                </a:lnTo>
                <a:lnTo>
                  <a:pt x="4801" y="233"/>
                </a:lnTo>
                <a:lnTo>
                  <a:pt x="4792" y="242"/>
                </a:lnTo>
                <a:lnTo>
                  <a:pt x="4785" y="252"/>
                </a:lnTo>
                <a:lnTo>
                  <a:pt x="4776" y="262"/>
                </a:lnTo>
                <a:lnTo>
                  <a:pt x="4768" y="272"/>
                </a:lnTo>
                <a:lnTo>
                  <a:pt x="4761" y="283"/>
                </a:lnTo>
                <a:lnTo>
                  <a:pt x="4754" y="295"/>
                </a:lnTo>
                <a:lnTo>
                  <a:pt x="4746" y="305"/>
                </a:lnTo>
                <a:lnTo>
                  <a:pt x="4739" y="317"/>
                </a:lnTo>
                <a:lnTo>
                  <a:pt x="4732" y="328"/>
                </a:lnTo>
                <a:lnTo>
                  <a:pt x="4724" y="332"/>
                </a:lnTo>
                <a:lnTo>
                  <a:pt x="4717" y="337"/>
                </a:lnTo>
                <a:lnTo>
                  <a:pt x="4710" y="343"/>
                </a:lnTo>
                <a:lnTo>
                  <a:pt x="4704" y="349"/>
                </a:lnTo>
                <a:lnTo>
                  <a:pt x="4696" y="354"/>
                </a:lnTo>
                <a:lnTo>
                  <a:pt x="4689" y="359"/>
                </a:lnTo>
                <a:lnTo>
                  <a:pt x="4683" y="363"/>
                </a:lnTo>
                <a:lnTo>
                  <a:pt x="4676" y="368"/>
                </a:lnTo>
                <a:lnTo>
                  <a:pt x="4671" y="367"/>
                </a:lnTo>
                <a:lnTo>
                  <a:pt x="4666" y="366"/>
                </a:lnTo>
                <a:lnTo>
                  <a:pt x="4662" y="363"/>
                </a:lnTo>
                <a:lnTo>
                  <a:pt x="4658" y="362"/>
                </a:lnTo>
                <a:lnTo>
                  <a:pt x="4653" y="361"/>
                </a:lnTo>
                <a:lnTo>
                  <a:pt x="4648" y="359"/>
                </a:lnTo>
                <a:lnTo>
                  <a:pt x="4642" y="357"/>
                </a:lnTo>
                <a:lnTo>
                  <a:pt x="4638" y="357"/>
                </a:lnTo>
                <a:lnTo>
                  <a:pt x="4616" y="374"/>
                </a:lnTo>
                <a:lnTo>
                  <a:pt x="4595" y="393"/>
                </a:lnTo>
                <a:lnTo>
                  <a:pt x="4573" y="412"/>
                </a:lnTo>
                <a:lnTo>
                  <a:pt x="4552" y="430"/>
                </a:lnTo>
                <a:lnTo>
                  <a:pt x="4529" y="449"/>
                </a:lnTo>
                <a:lnTo>
                  <a:pt x="4506" y="468"/>
                </a:lnTo>
                <a:lnTo>
                  <a:pt x="4484" y="487"/>
                </a:lnTo>
                <a:lnTo>
                  <a:pt x="4461" y="506"/>
                </a:lnTo>
                <a:lnTo>
                  <a:pt x="4450" y="511"/>
                </a:lnTo>
                <a:lnTo>
                  <a:pt x="4441" y="517"/>
                </a:lnTo>
                <a:lnTo>
                  <a:pt x="4431" y="521"/>
                </a:lnTo>
                <a:lnTo>
                  <a:pt x="4422" y="528"/>
                </a:lnTo>
                <a:lnTo>
                  <a:pt x="4411" y="532"/>
                </a:lnTo>
                <a:lnTo>
                  <a:pt x="4403" y="537"/>
                </a:lnTo>
                <a:lnTo>
                  <a:pt x="4393" y="543"/>
                </a:lnTo>
                <a:lnTo>
                  <a:pt x="4385" y="548"/>
                </a:lnTo>
                <a:lnTo>
                  <a:pt x="4378" y="546"/>
                </a:lnTo>
                <a:lnTo>
                  <a:pt x="4372" y="543"/>
                </a:lnTo>
                <a:lnTo>
                  <a:pt x="4366" y="541"/>
                </a:lnTo>
                <a:lnTo>
                  <a:pt x="4362" y="537"/>
                </a:lnTo>
                <a:lnTo>
                  <a:pt x="4355" y="535"/>
                </a:lnTo>
                <a:lnTo>
                  <a:pt x="4351" y="532"/>
                </a:lnTo>
                <a:lnTo>
                  <a:pt x="4345" y="530"/>
                </a:lnTo>
                <a:lnTo>
                  <a:pt x="4339" y="528"/>
                </a:lnTo>
                <a:lnTo>
                  <a:pt x="4314" y="546"/>
                </a:lnTo>
                <a:lnTo>
                  <a:pt x="4289" y="563"/>
                </a:lnTo>
                <a:lnTo>
                  <a:pt x="4264" y="581"/>
                </a:lnTo>
                <a:lnTo>
                  <a:pt x="4239" y="599"/>
                </a:lnTo>
                <a:lnTo>
                  <a:pt x="4215" y="617"/>
                </a:lnTo>
                <a:lnTo>
                  <a:pt x="4189" y="635"/>
                </a:lnTo>
                <a:lnTo>
                  <a:pt x="4164" y="653"/>
                </a:lnTo>
                <a:lnTo>
                  <a:pt x="4139" y="670"/>
                </a:lnTo>
                <a:lnTo>
                  <a:pt x="4114" y="688"/>
                </a:lnTo>
                <a:lnTo>
                  <a:pt x="4089" y="708"/>
                </a:lnTo>
                <a:lnTo>
                  <a:pt x="4064" y="724"/>
                </a:lnTo>
                <a:lnTo>
                  <a:pt x="4039" y="743"/>
                </a:lnTo>
                <a:lnTo>
                  <a:pt x="4014" y="761"/>
                </a:lnTo>
                <a:lnTo>
                  <a:pt x="3988" y="779"/>
                </a:lnTo>
                <a:lnTo>
                  <a:pt x="3964" y="798"/>
                </a:lnTo>
                <a:lnTo>
                  <a:pt x="3938" y="816"/>
                </a:lnTo>
                <a:lnTo>
                  <a:pt x="3932" y="808"/>
                </a:lnTo>
                <a:lnTo>
                  <a:pt x="3926" y="801"/>
                </a:lnTo>
                <a:lnTo>
                  <a:pt x="3920" y="791"/>
                </a:lnTo>
                <a:lnTo>
                  <a:pt x="3916" y="780"/>
                </a:lnTo>
                <a:lnTo>
                  <a:pt x="3926" y="773"/>
                </a:lnTo>
                <a:lnTo>
                  <a:pt x="3934" y="766"/>
                </a:lnTo>
                <a:lnTo>
                  <a:pt x="3944" y="756"/>
                </a:lnTo>
                <a:lnTo>
                  <a:pt x="3953" y="748"/>
                </a:lnTo>
                <a:lnTo>
                  <a:pt x="3963" y="739"/>
                </a:lnTo>
                <a:lnTo>
                  <a:pt x="3972" y="731"/>
                </a:lnTo>
                <a:lnTo>
                  <a:pt x="3982" y="721"/>
                </a:lnTo>
                <a:lnTo>
                  <a:pt x="3993" y="713"/>
                </a:lnTo>
                <a:lnTo>
                  <a:pt x="4000" y="711"/>
                </a:lnTo>
                <a:lnTo>
                  <a:pt x="4007" y="708"/>
                </a:lnTo>
                <a:lnTo>
                  <a:pt x="4014" y="708"/>
                </a:lnTo>
                <a:lnTo>
                  <a:pt x="4023" y="705"/>
                </a:lnTo>
                <a:lnTo>
                  <a:pt x="4031" y="702"/>
                </a:lnTo>
                <a:lnTo>
                  <a:pt x="4038" y="699"/>
                </a:lnTo>
                <a:lnTo>
                  <a:pt x="4047" y="696"/>
                </a:lnTo>
                <a:lnTo>
                  <a:pt x="4054" y="694"/>
                </a:lnTo>
                <a:lnTo>
                  <a:pt x="4058" y="687"/>
                </a:lnTo>
                <a:lnTo>
                  <a:pt x="4063" y="680"/>
                </a:lnTo>
                <a:lnTo>
                  <a:pt x="4069" y="674"/>
                </a:lnTo>
                <a:lnTo>
                  <a:pt x="4074" y="666"/>
                </a:lnTo>
                <a:lnTo>
                  <a:pt x="4078" y="659"/>
                </a:lnTo>
                <a:lnTo>
                  <a:pt x="4083" y="652"/>
                </a:lnTo>
                <a:lnTo>
                  <a:pt x="4089" y="644"/>
                </a:lnTo>
                <a:lnTo>
                  <a:pt x="4094" y="636"/>
                </a:lnTo>
                <a:lnTo>
                  <a:pt x="4104" y="632"/>
                </a:lnTo>
                <a:lnTo>
                  <a:pt x="4113" y="626"/>
                </a:lnTo>
                <a:lnTo>
                  <a:pt x="4123" y="621"/>
                </a:lnTo>
                <a:lnTo>
                  <a:pt x="4133" y="615"/>
                </a:lnTo>
                <a:lnTo>
                  <a:pt x="4141" y="609"/>
                </a:lnTo>
                <a:lnTo>
                  <a:pt x="4151" y="604"/>
                </a:lnTo>
                <a:lnTo>
                  <a:pt x="4161" y="598"/>
                </a:lnTo>
                <a:lnTo>
                  <a:pt x="4170" y="593"/>
                </a:lnTo>
                <a:lnTo>
                  <a:pt x="4177" y="579"/>
                </a:lnTo>
                <a:lnTo>
                  <a:pt x="4185" y="566"/>
                </a:lnTo>
                <a:lnTo>
                  <a:pt x="4191" y="552"/>
                </a:lnTo>
                <a:lnTo>
                  <a:pt x="4199" y="537"/>
                </a:lnTo>
                <a:lnTo>
                  <a:pt x="4205" y="530"/>
                </a:lnTo>
                <a:lnTo>
                  <a:pt x="4212" y="524"/>
                </a:lnTo>
                <a:lnTo>
                  <a:pt x="4219" y="517"/>
                </a:lnTo>
                <a:lnTo>
                  <a:pt x="4226" y="511"/>
                </a:lnTo>
                <a:lnTo>
                  <a:pt x="4233" y="505"/>
                </a:lnTo>
                <a:lnTo>
                  <a:pt x="4241" y="499"/>
                </a:lnTo>
                <a:lnTo>
                  <a:pt x="4249" y="492"/>
                </a:lnTo>
                <a:lnTo>
                  <a:pt x="4256" y="486"/>
                </a:lnTo>
                <a:lnTo>
                  <a:pt x="4250" y="484"/>
                </a:lnTo>
                <a:lnTo>
                  <a:pt x="4245" y="481"/>
                </a:lnTo>
                <a:lnTo>
                  <a:pt x="4239" y="479"/>
                </a:lnTo>
                <a:lnTo>
                  <a:pt x="4233" y="475"/>
                </a:lnTo>
                <a:lnTo>
                  <a:pt x="4228" y="473"/>
                </a:lnTo>
                <a:lnTo>
                  <a:pt x="4221" y="469"/>
                </a:lnTo>
                <a:lnTo>
                  <a:pt x="4216" y="466"/>
                </a:lnTo>
                <a:lnTo>
                  <a:pt x="4210" y="461"/>
                </a:lnTo>
                <a:lnTo>
                  <a:pt x="4221" y="453"/>
                </a:lnTo>
                <a:lnTo>
                  <a:pt x="4232" y="444"/>
                </a:lnTo>
                <a:lnTo>
                  <a:pt x="4243" y="436"/>
                </a:lnTo>
                <a:lnTo>
                  <a:pt x="4255" y="426"/>
                </a:lnTo>
                <a:lnTo>
                  <a:pt x="4267" y="418"/>
                </a:lnTo>
                <a:lnTo>
                  <a:pt x="4278" y="410"/>
                </a:lnTo>
                <a:lnTo>
                  <a:pt x="4289" y="401"/>
                </a:lnTo>
                <a:lnTo>
                  <a:pt x="4300" y="392"/>
                </a:lnTo>
                <a:lnTo>
                  <a:pt x="4306" y="386"/>
                </a:lnTo>
                <a:lnTo>
                  <a:pt x="4314" y="381"/>
                </a:lnTo>
                <a:lnTo>
                  <a:pt x="4322" y="374"/>
                </a:lnTo>
                <a:lnTo>
                  <a:pt x="4327" y="367"/>
                </a:lnTo>
                <a:lnTo>
                  <a:pt x="4336" y="357"/>
                </a:lnTo>
                <a:lnTo>
                  <a:pt x="4347" y="346"/>
                </a:lnTo>
                <a:lnTo>
                  <a:pt x="4354" y="334"/>
                </a:lnTo>
                <a:lnTo>
                  <a:pt x="4362" y="323"/>
                </a:lnTo>
                <a:lnTo>
                  <a:pt x="4371" y="311"/>
                </a:lnTo>
                <a:lnTo>
                  <a:pt x="4380" y="300"/>
                </a:lnTo>
                <a:lnTo>
                  <a:pt x="4389" y="289"/>
                </a:lnTo>
                <a:lnTo>
                  <a:pt x="4397" y="277"/>
                </a:lnTo>
                <a:lnTo>
                  <a:pt x="4375" y="288"/>
                </a:lnTo>
                <a:lnTo>
                  <a:pt x="4356" y="297"/>
                </a:lnTo>
                <a:lnTo>
                  <a:pt x="4335" y="306"/>
                </a:lnTo>
                <a:lnTo>
                  <a:pt x="4316" y="315"/>
                </a:lnTo>
                <a:lnTo>
                  <a:pt x="4294" y="326"/>
                </a:lnTo>
                <a:lnTo>
                  <a:pt x="4274" y="335"/>
                </a:lnTo>
                <a:lnTo>
                  <a:pt x="4252" y="347"/>
                </a:lnTo>
                <a:lnTo>
                  <a:pt x="4232" y="357"/>
                </a:lnTo>
                <a:lnTo>
                  <a:pt x="4228" y="354"/>
                </a:lnTo>
                <a:lnTo>
                  <a:pt x="4224" y="351"/>
                </a:lnTo>
                <a:lnTo>
                  <a:pt x="4218" y="350"/>
                </a:lnTo>
                <a:lnTo>
                  <a:pt x="4214" y="348"/>
                </a:lnTo>
                <a:lnTo>
                  <a:pt x="4208" y="347"/>
                </a:lnTo>
                <a:lnTo>
                  <a:pt x="4204" y="343"/>
                </a:lnTo>
                <a:lnTo>
                  <a:pt x="4200" y="343"/>
                </a:lnTo>
                <a:lnTo>
                  <a:pt x="4195" y="342"/>
                </a:lnTo>
                <a:lnTo>
                  <a:pt x="4201" y="336"/>
                </a:lnTo>
                <a:lnTo>
                  <a:pt x="4208" y="330"/>
                </a:lnTo>
                <a:lnTo>
                  <a:pt x="4214" y="324"/>
                </a:lnTo>
                <a:lnTo>
                  <a:pt x="4219" y="317"/>
                </a:lnTo>
                <a:lnTo>
                  <a:pt x="4226" y="310"/>
                </a:lnTo>
                <a:lnTo>
                  <a:pt x="4232" y="304"/>
                </a:lnTo>
                <a:lnTo>
                  <a:pt x="4239" y="298"/>
                </a:lnTo>
                <a:lnTo>
                  <a:pt x="4247" y="292"/>
                </a:lnTo>
                <a:lnTo>
                  <a:pt x="4266" y="277"/>
                </a:lnTo>
                <a:lnTo>
                  <a:pt x="4287" y="259"/>
                </a:lnTo>
                <a:lnTo>
                  <a:pt x="4312" y="239"/>
                </a:lnTo>
                <a:lnTo>
                  <a:pt x="4339" y="219"/>
                </a:lnTo>
                <a:lnTo>
                  <a:pt x="4366" y="200"/>
                </a:lnTo>
                <a:lnTo>
                  <a:pt x="4391" y="181"/>
                </a:lnTo>
                <a:lnTo>
                  <a:pt x="4413" y="165"/>
                </a:lnTo>
                <a:lnTo>
                  <a:pt x="4430" y="150"/>
                </a:lnTo>
                <a:lnTo>
                  <a:pt x="4434" y="126"/>
                </a:lnTo>
                <a:lnTo>
                  <a:pt x="4431" y="115"/>
                </a:lnTo>
                <a:lnTo>
                  <a:pt x="4424" y="115"/>
                </a:lnTo>
                <a:lnTo>
                  <a:pt x="4414" y="121"/>
                </a:lnTo>
                <a:lnTo>
                  <a:pt x="4402" y="129"/>
                </a:lnTo>
                <a:lnTo>
                  <a:pt x="4391" y="137"/>
                </a:lnTo>
                <a:lnTo>
                  <a:pt x="4383" y="143"/>
                </a:lnTo>
                <a:lnTo>
                  <a:pt x="4375" y="142"/>
                </a:lnTo>
                <a:lnTo>
                  <a:pt x="4366" y="149"/>
                </a:lnTo>
                <a:lnTo>
                  <a:pt x="4353" y="155"/>
                </a:lnTo>
                <a:lnTo>
                  <a:pt x="4337" y="163"/>
                </a:lnTo>
                <a:lnTo>
                  <a:pt x="4322" y="169"/>
                </a:lnTo>
                <a:lnTo>
                  <a:pt x="4306" y="177"/>
                </a:lnTo>
                <a:lnTo>
                  <a:pt x="4290" y="182"/>
                </a:lnTo>
                <a:lnTo>
                  <a:pt x="4276" y="191"/>
                </a:lnTo>
                <a:lnTo>
                  <a:pt x="4266" y="199"/>
                </a:lnTo>
                <a:lnTo>
                  <a:pt x="4261" y="208"/>
                </a:lnTo>
                <a:lnTo>
                  <a:pt x="4258" y="218"/>
                </a:lnTo>
                <a:lnTo>
                  <a:pt x="4255" y="229"/>
                </a:lnTo>
                <a:lnTo>
                  <a:pt x="4252" y="239"/>
                </a:lnTo>
                <a:lnTo>
                  <a:pt x="4247" y="244"/>
                </a:lnTo>
                <a:lnTo>
                  <a:pt x="4242" y="250"/>
                </a:lnTo>
                <a:lnTo>
                  <a:pt x="4236" y="257"/>
                </a:lnTo>
                <a:lnTo>
                  <a:pt x="4230" y="262"/>
                </a:lnTo>
                <a:lnTo>
                  <a:pt x="4221" y="268"/>
                </a:lnTo>
                <a:lnTo>
                  <a:pt x="4216" y="273"/>
                </a:lnTo>
                <a:lnTo>
                  <a:pt x="4208" y="279"/>
                </a:lnTo>
                <a:lnTo>
                  <a:pt x="4201" y="284"/>
                </a:lnTo>
                <a:lnTo>
                  <a:pt x="4195" y="277"/>
                </a:lnTo>
                <a:lnTo>
                  <a:pt x="4191" y="270"/>
                </a:lnTo>
                <a:lnTo>
                  <a:pt x="4185" y="264"/>
                </a:lnTo>
                <a:lnTo>
                  <a:pt x="4177" y="257"/>
                </a:lnTo>
                <a:lnTo>
                  <a:pt x="4172" y="249"/>
                </a:lnTo>
                <a:lnTo>
                  <a:pt x="4164" y="243"/>
                </a:lnTo>
                <a:lnTo>
                  <a:pt x="4158" y="237"/>
                </a:lnTo>
                <a:lnTo>
                  <a:pt x="4153" y="231"/>
                </a:lnTo>
                <a:lnTo>
                  <a:pt x="4161" y="217"/>
                </a:lnTo>
                <a:lnTo>
                  <a:pt x="4168" y="205"/>
                </a:lnTo>
                <a:lnTo>
                  <a:pt x="4175" y="191"/>
                </a:lnTo>
                <a:lnTo>
                  <a:pt x="4185" y="177"/>
                </a:lnTo>
                <a:lnTo>
                  <a:pt x="4195" y="171"/>
                </a:lnTo>
                <a:lnTo>
                  <a:pt x="4203" y="163"/>
                </a:lnTo>
                <a:lnTo>
                  <a:pt x="4211" y="155"/>
                </a:lnTo>
                <a:lnTo>
                  <a:pt x="4219" y="148"/>
                </a:lnTo>
                <a:lnTo>
                  <a:pt x="4229" y="140"/>
                </a:lnTo>
                <a:lnTo>
                  <a:pt x="4237" y="132"/>
                </a:lnTo>
                <a:lnTo>
                  <a:pt x="4245" y="125"/>
                </a:lnTo>
                <a:lnTo>
                  <a:pt x="4252" y="118"/>
                </a:lnTo>
                <a:lnTo>
                  <a:pt x="4259" y="109"/>
                </a:lnTo>
                <a:lnTo>
                  <a:pt x="4264" y="101"/>
                </a:lnTo>
                <a:lnTo>
                  <a:pt x="4270" y="92"/>
                </a:lnTo>
                <a:lnTo>
                  <a:pt x="4275" y="84"/>
                </a:lnTo>
                <a:lnTo>
                  <a:pt x="4281" y="74"/>
                </a:lnTo>
                <a:lnTo>
                  <a:pt x="4286" y="66"/>
                </a:lnTo>
                <a:lnTo>
                  <a:pt x="4292" y="56"/>
                </a:lnTo>
                <a:lnTo>
                  <a:pt x="4298" y="47"/>
                </a:lnTo>
                <a:lnTo>
                  <a:pt x="4289" y="48"/>
                </a:lnTo>
                <a:lnTo>
                  <a:pt x="4279" y="51"/>
                </a:lnTo>
                <a:lnTo>
                  <a:pt x="4270" y="53"/>
                </a:lnTo>
                <a:lnTo>
                  <a:pt x="4259" y="53"/>
                </a:lnTo>
                <a:lnTo>
                  <a:pt x="4249" y="56"/>
                </a:lnTo>
                <a:lnTo>
                  <a:pt x="4239" y="57"/>
                </a:lnTo>
                <a:lnTo>
                  <a:pt x="4229" y="60"/>
                </a:lnTo>
                <a:lnTo>
                  <a:pt x="4218" y="61"/>
                </a:lnTo>
                <a:lnTo>
                  <a:pt x="4221" y="44"/>
                </a:lnTo>
                <a:lnTo>
                  <a:pt x="4226" y="30"/>
                </a:lnTo>
                <a:lnTo>
                  <a:pt x="4228" y="15"/>
                </a:lnTo>
                <a:lnTo>
                  <a:pt x="4230" y="0"/>
                </a:lnTo>
                <a:lnTo>
                  <a:pt x="4219" y="6"/>
                </a:lnTo>
                <a:lnTo>
                  <a:pt x="4210" y="12"/>
                </a:lnTo>
                <a:lnTo>
                  <a:pt x="4200" y="18"/>
                </a:lnTo>
                <a:lnTo>
                  <a:pt x="4191" y="26"/>
                </a:lnTo>
                <a:lnTo>
                  <a:pt x="4181" y="33"/>
                </a:lnTo>
                <a:lnTo>
                  <a:pt x="4172" y="41"/>
                </a:lnTo>
                <a:lnTo>
                  <a:pt x="4164" y="48"/>
                </a:lnTo>
                <a:lnTo>
                  <a:pt x="4154" y="56"/>
                </a:lnTo>
                <a:lnTo>
                  <a:pt x="4149" y="64"/>
                </a:lnTo>
                <a:lnTo>
                  <a:pt x="4143" y="74"/>
                </a:lnTo>
                <a:lnTo>
                  <a:pt x="4137" y="84"/>
                </a:lnTo>
                <a:lnTo>
                  <a:pt x="4133" y="94"/>
                </a:lnTo>
                <a:lnTo>
                  <a:pt x="4127" y="104"/>
                </a:lnTo>
                <a:lnTo>
                  <a:pt x="4122" y="115"/>
                </a:lnTo>
                <a:lnTo>
                  <a:pt x="4116" y="125"/>
                </a:lnTo>
                <a:lnTo>
                  <a:pt x="4112" y="136"/>
                </a:lnTo>
                <a:lnTo>
                  <a:pt x="4102" y="136"/>
                </a:lnTo>
                <a:lnTo>
                  <a:pt x="4094" y="136"/>
                </a:lnTo>
                <a:lnTo>
                  <a:pt x="4085" y="136"/>
                </a:lnTo>
                <a:lnTo>
                  <a:pt x="4078" y="136"/>
                </a:lnTo>
                <a:lnTo>
                  <a:pt x="4069" y="136"/>
                </a:lnTo>
                <a:lnTo>
                  <a:pt x="4061" y="136"/>
                </a:lnTo>
                <a:lnTo>
                  <a:pt x="4052" y="136"/>
                </a:lnTo>
                <a:lnTo>
                  <a:pt x="4044" y="135"/>
                </a:lnTo>
                <a:lnTo>
                  <a:pt x="4030" y="146"/>
                </a:lnTo>
                <a:lnTo>
                  <a:pt x="4014" y="157"/>
                </a:lnTo>
                <a:lnTo>
                  <a:pt x="4000" y="169"/>
                </a:lnTo>
                <a:lnTo>
                  <a:pt x="3985" y="179"/>
                </a:lnTo>
                <a:lnTo>
                  <a:pt x="3970" y="190"/>
                </a:lnTo>
                <a:lnTo>
                  <a:pt x="3955" y="202"/>
                </a:lnTo>
                <a:lnTo>
                  <a:pt x="3941" y="212"/>
                </a:lnTo>
                <a:lnTo>
                  <a:pt x="3924" y="223"/>
                </a:lnTo>
                <a:lnTo>
                  <a:pt x="3877" y="257"/>
                </a:lnTo>
                <a:lnTo>
                  <a:pt x="3828" y="287"/>
                </a:lnTo>
                <a:lnTo>
                  <a:pt x="3781" y="314"/>
                </a:lnTo>
                <a:lnTo>
                  <a:pt x="3733" y="339"/>
                </a:lnTo>
                <a:lnTo>
                  <a:pt x="3685" y="365"/>
                </a:lnTo>
                <a:lnTo>
                  <a:pt x="3638" y="390"/>
                </a:lnTo>
                <a:lnTo>
                  <a:pt x="3589" y="415"/>
                </a:lnTo>
                <a:lnTo>
                  <a:pt x="3542" y="439"/>
                </a:lnTo>
                <a:lnTo>
                  <a:pt x="3495" y="467"/>
                </a:lnTo>
                <a:lnTo>
                  <a:pt x="3448" y="497"/>
                </a:lnTo>
                <a:lnTo>
                  <a:pt x="3400" y="529"/>
                </a:lnTo>
                <a:lnTo>
                  <a:pt x="3353" y="563"/>
                </a:lnTo>
                <a:lnTo>
                  <a:pt x="3307" y="604"/>
                </a:lnTo>
                <a:lnTo>
                  <a:pt x="3261" y="649"/>
                </a:lnTo>
                <a:lnTo>
                  <a:pt x="3214" y="698"/>
                </a:lnTo>
                <a:lnTo>
                  <a:pt x="3166" y="754"/>
                </a:lnTo>
                <a:lnTo>
                  <a:pt x="3122" y="783"/>
                </a:lnTo>
                <a:lnTo>
                  <a:pt x="3088" y="806"/>
                </a:lnTo>
                <a:lnTo>
                  <a:pt x="3063" y="823"/>
                </a:lnTo>
                <a:lnTo>
                  <a:pt x="3046" y="832"/>
                </a:lnTo>
                <a:lnTo>
                  <a:pt x="3038" y="835"/>
                </a:lnTo>
                <a:lnTo>
                  <a:pt x="3036" y="834"/>
                </a:lnTo>
                <a:lnTo>
                  <a:pt x="3038" y="829"/>
                </a:lnTo>
                <a:lnTo>
                  <a:pt x="3045" y="820"/>
                </a:lnTo>
                <a:lnTo>
                  <a:pt x="3055" y="810"/>
                </a:lnTo>
                <a:lnTo>
                  <a:pt x="3066" y="798"/>
                </a:lnTo>
                <a:lnTo>
                  <a:pt x="3080" y="785"/>
                </a:lnTo>
                <a:lnTo>
                  <a:pt x="3094" y="773"/>
                </a:lnTo>
                <a:lnTo>
                  <a:pt x="3105" y="762"/>
                </a:lnTo>
                <a:lnTo>
                  <a:pt x="3115" y="750"/>
                </a:lnTo>
                <a:lnTo>
                  <a:pt x="3122" y="743"/>
                </a:lnTo>
                <a:lnTo>
                  <a:pt x="3124" y="739"/>
                </a:lnTo>
                <a:lnTo>
                  <a:pt x="3147" y="727"/>
                </a:lnTo>
                <a:lnTo>
                  <a:pt x="3165" y="717"/>
                </a:lnTo>
                <a:lnTo>
                  <a:pt x="3178" y="708"/>
                </a:lnTo>
                <a:lnTo>
                  <a:pt x="3186" y="702"/>
                </a:lnTo>
                <a:lnTo>
                  <a:pt x="3191" y="698"/>
                </a:lnTo>
                <a:lnTo>
                  <a:pt x="3194" y="694"/>
                </a:lnTo>
                <a:lnTo>
                  <a:pt x="3191" y="692"/>
                </a:lnTo>
                <a:lnTo>
                  <a:pt x="3188" y="691"/>
                </a:lnTo>
                <a:lnTo>
                  <a:pt x="3184" y="691"/>
                </a:lnTo>
                <a:lnTo>
                  <a:pt x="3180" y="691"/>
                </a:lnTo>
                <a:lnTo>
                  <a:pt x="3175" y="690"/>
                </a:lnTo>
                <a:lnTo>
                  <a:pt x="3171" y="688"/>
                </a:lnTo>
                <a:lnTo>
                  <a:pt x="3168" y="686"/>
                </a:lnTo>
                <a:lnTo>
                  <a:pt x="3168" y="683"/>
                </a:lnTo>
                <a:lnTo>
                  <a:pt x="3171" y="677"/>
                </a:lnTo>
                <a:lnTo>
                  <a:pt x="3176" y="670"/>
                </a:lnTo>
                <a:lnTo>
                  <a:pt x="3184" y="661"/>
                </a:lnTo>
                <a:lnTo>
                  <a:pt x="3196" y="649"/>
                </a:lnTo>
                <a:lnTo>
                  <a:pt x="3214" y="635"/>
                </a:lnTo>
                <a:lnTo>
                  <a:pt x="3236" y="618"/>
                </a:lnTo>
                <a:lnTo>
                  <a:pt x="3264" y="598"/>
                </a:lnTo>
                <a:lnTo>
                  <a:pt x="3299" y="574"/>
                </a:lnTo>
                <a:lnTo>
                  <a:pt x="3339" y="546"/>
                </a:lnTo>
                <a:lnTo>
                  <a:pt x="3387" y="515"/>
                </a:lnTo>
                <a:lnTo>
                  <a:pt x="3444" y="477"/>
                </a:lnTo>
                <a:lnTo>
                  <a:pt x="3507" y="437"/>
                </a:lnTo>
                <a:lnTo>
                  <a:pt x="3581" y="392"/>
                </a:lnTo>
                <a:lnTo>
                  <a:pt x="3664" y="339"/>
                </a:lnTo>
                <a:lnTo>
                  <a:pt x="3757" y="284"/>
                </a:lnTo>
                <a:lnTo>
                  <a:pt x="3862" y="221"/>
                </a:lnTo>
                <a:lnTo>
                  <a:pt x="3976" y="153"/>
                </a:lnTo>
                <a:lnTo>
                  <a:pt x="4003" y="135"/>
                </a:lnTo>
                <a:lnTo>
                  <a:pt x="4025" y="118"/>
                </a:lnTo>
                <a:lnTo>
                  <a:pt x="4043" y="101"/>
                </a:lnTo>
                <a:lnTo>
                  <a:pt x="4056" y="86"/>
                </a:lnTo>
                <a:lnTo>
                  <a:pt x="4064" y="72"/>
                </a:lnTo>
                <a:lnTo>
                  <a:pt x="4069" y="62"/>
                </a:lnTo>
                <a:lnTo>
                  <a:pt x="4069" y="55"/>
                </a:lnTo>
                <a:lnTo>
                  <a:pt x="4064" y="53"/>
                </a:lnTo>
                <a:lnTo>
                  <a:pt x="4039" y="57"/>
                </a:lnTo>
                <a:lnTo>
                  <a:pt x="4012" y="70"/>
                </a:lnTo>
                <a:lnTo>
                  <a:pt x="3985" y="90"/>
                </a:lnTo>
                <a:lnTo>
                  <a:pt x="3958" y="109"/>
                </a:lnTo>
                <a:lnTo>
                  <a:pt x="3934" y="128"/>
                </a:lnTo>
                <a:lnTo>
                  <a:pt x="3913" y="142"/>
                </a:lnTo>
                <a:lnTo>
                  <a:pt x="3896" y="146"/>
                </a:lnTo>
                <a:lnTo>
                  <a:pt x="3884" y="135"/>
                </a:lnTo>
                <a:lnTo>
                  <a:pt x="3870" y="157"/>
                </a:lnTo>
                <a:lnTo>
                  <a:pt x="3868" y="165"/>
                </a:lnTo>
                <a:lnTo>
                  <a:pt x="3870" y="163"/>
                </a:lnTo>
                <a:lnTo>
                  <a:pt x="3874" y="154"/>
                </a:lnTo>
                <a:lnTo>
                  <a:pt x="3871" y="146"/>
                </a:lnTo>
                <a:lnTo>
                  <a:pt x="3858" y="146"/>
                </a:lnTo>
                <a:lnTo>
                  <a:pt x="3826" y="155"/>
                </a:lnTo>
                <a:lnTo>
                  <a:pt x="3772" y="181"/>
                </a:lnTo>
                <a:lnTo>
                  <a:pt x="3755" y="191"/>
                </a:lnTo>
                <a:lnTo>
                  <a:pt x="3735" y="202"/>
                </a:lnTo>
                <a:lnTo>
                  <a:pt x="3714" y="213"/>
                </a:lnTo>
                <a:lnTo>
                  <a:pt x="3691" y="228"/>
                </a:lnTo>
                <a:lnTo>
                  <a:pt x="3668" y="242"/>
                </a:lnTo>
                <a:lnTo>
                  <a:pt x="3643" y="257"/>
                </a:lnTo>
                <a:lnTo>
                  <a:pt x="3616" y="273"/>
                </a:lnTo>
                <a:lnTo>
                  <a:pt x="3589" y="291"/>
                </a:lnTo>
                <a:lnTo>
                  <a:pt x="3561" y="308"/>
                </a:lnTo>
                <a:lnTo>
                  <a:pt x="3532" y="326"/>
                </a:lnTo>
                <a:lnTo>
                  <a:pt x="3503" y="346"/>
                </a:lnTo>
                <a:lnTo>
                  <a:pt x="3472" y="365"/>
                </a:lnTo>
                <a:lnTo>
                  <a:pt x="3443" y="384"/>
                </a:lnTo>
                <a:lnTo>
                  <a:pt x="3412" y="405"/>
                </a:lnTo>
                <a:lnTo>
                  <a:pt x="3380" y="425"/>
                </a:lnTo>
                <a:lnTo>
                  <a:pt x="3349" y="446"/>
                </a:lnTo>
                <a:lnTo>
                  <a:pt x="3318" y="467"/>
                </a:lnTo>
                <a:lnTo>
                  <a:pt x="3285" y="487"/>
                </a:lnTo>
                <a:lnTo>
                  <a:pt x="3256" y="508"/>
                </a:lnTo>
                <a:lnTo>
                  <a:pt x="3225" y="529"/>
                </a:lnTo>
                <a:lnTo>
                  <a:pt x="3195" y="548"/>
                </a:lnTo>
                <a:lnTo>
                  <a:pt x="3165" y="570"/>
                </a:lnTo>
                <a:lnTo>
                  <a:pt x="3138" y="588"/>
                </a:lnTo>
                <a:lnTo>
                  <a:pt x="3109" y="608"/>
                </a:lnTo>
                <a:lnTo>
                  <a:pt x="3082" y="626"/>
                </a:lnTo>
                <a:lnTo>
                  <a:pt x="3057" y="644"/>
                </a:lnTo>
                <a:lnTo>
                  <a:pt x="3032" y="661"/>
                </a:lnTo>
                <a:lnTo>
                  <a:pt x="3008" y="677"/>
                </a:lnTo>
                <a:lnTo>
                  <a:pt x="2985" y="694"/>
                </a:lnTo>
                <a:lnTo>
                  <a:pt x="2965" y="708"/>
                </a:lnTo>
                <a:lnTo>
                  <a:pt x="2946" y="721"/>
                </a:lnTo>
                <a:lnTo>
                  <a:pt x="2928" y="733"/>
                </a:lnTo>
                <a:lnTo>
                  <a:pt x="2879" y="768"/>
                </a:lnTo>
                <a:lnTo>
                  <a:pt x="2829" y="803"/>
                </a:lnTo>
                <a:lnTo>
                  <a:pt x="2781" y="836"/>
                </a:lnTo>
                <a:lnTo>
                  <a:pt x="2732" y="868"/>
                </a:lnTo>
                <a:lnTo>
                  <a:pt x="2684" y="901"/>
                </a:lnTo>
                <a:lnTo>
                  <a:pt x="2637" y="932"/>
                </a:lnTo>
                <a:lnTo>
                  <a:pt x="2590" y="963"/>
                </a:lnTo>
                <a:lnTo>
                  <a:pt x="2544" y="994"/>
                </a:lnTo>
                <a:lnTo>
                  <a:pt x="2499" y="1025"/>
                </a:lnTo>
                <a:lnTo>
                  <a:pt x="2455" y="1057"/>
                </a:lnTo>
                <a:lnTo>
                  <a:pt x="2410" y="1087"/>
                </a:lnTo>
                <a:lnTo>
                  <a:pt x="2367" y="1117"/>
                </a:lnTo>
                <a:lnTo>
                  <a:pt x="2324" y="1146"/>
                </a:lnTo>
                <a:lnTo>
                  <a:pt x="2281" y="1177"/>
                </a:lnTo>
                <a:lnTo>
                  <a:pt x="2240" y="1208"/>
                </a:lnTo>
                <a:lnTo>
                  <a:pt x="2199" y="1237"/>
                </a:lnTo>
                <a:lnTo>
                  <a:pt x="2175" y="1258"/>
                </a:lnTo>
                <a:lnTo>
                  <a:pt x="2153" y="1280"/>
                </a:lnTo>
                <a:lnTo>
                  <a:pt x="2132" y="1303"/>
                </a:lnTo>
                <a:lnTo>
                  <a:pt x="2111" y="1326"/>
                </a:lnTo>
                <a:lnTo>
                  <a:pt x="2092" y="1349"/>
                </a:lnTo>
                <a:lnTo>
                  <a:pt x="2072" y="1372"/>
                </a:lnTo>
                <a:lnTo>
                  <a:pt x="2055" y="1396"/>
                </a:lnTo>
                <a:lnTo>
                  <a:pt x="2036" y="1419"/>
                </a:lnTo>
                <a:lnTo>
                  <a:pt x="2017" y="1443"/>
                </a:lnTo>
                <a:lnTo>
                  <a:pt x="2001" y="1466"/>
                </a:lnTo>
                <a:lnTo>
                  <a:pt x="1982" y="1490"/>
                </a:lnTo>
                <a:lnTo>
                  <a:pt x="1964" y="1512"/>
                </a:lnTo>
                <a:lnTo>
                  <a:pt x="1945" y="1536"/>
                </a:lnTo>
                <a:lnTo>
                  <a:pt x="1927" y="1556"/>
                </a:lnTo>
                <a:lnTo>
                  <a:pt x="1907" y="1578"/>
                </a:lnTo>
                <a:lnTo>
                  <a:pt x="1888" y="1599"/>
                </a:lnTo>
                <a:lnTo>
                  <a:pt x="1865" y="1621"/>
                </a:lnTo>
                <a:lnTo>
                  <a:pt x="1841" y="1647"/>
                </a:lnTo>
                <a:lnTo>
                  <a:pt x="1817" y="1679"/>
                </a:lnTo>
                <a:lnTo>
                  <a:pt x="1792" y="1714"/>
                </a:lnTo>
                <a:lnTo>
                  <a:pt x="1768" y="1747"/>
                </a:lnTo>
                <a:lnTo>
                  <a:pt x="1744" y="1778"/>
                </a:lnTo>
                <a:lnTo>
                  <a:pt x="1722" y="1805"/>
                </a:lnTo>
                <a:lnTo>
                  <a:pt x="1703" y="1824"/>
                </a:lnTo>
                <a:lnTo>
                  <a:pt x="1675" y="1845"/>
                </a:lnTo>
                <a:lnTo>
                  <a:pt x="1657" y="1860"/>
                </a:lnTo>
                <a:lnTo>
                  <a:pt x="1643" y="1869"/>
                </a:lnTo>
                <a:lnTo>
                  <a:pt x="1634" y="1876"/>
                </a:lnTo>
                <a:lnTo>
                  <a:pt x="1624" y="1882"/>
                </a:lnTo>
                <a:lnTo>
                  <a:pt x="1613" y="1893"/>
                </a:lnTo>
                <a:lnTo>
                  <a:pt x="1598" y="1906"/>
                </a:lnTo>
                <a:lnTo>
                  <a:pt x="1577" y="1928"/>
                </a:lnTo>
                <a:lnTo>
                  <a:pt x="1555" y="1962"/>
                </a:lnTo>
                <a:lnTo>
                  <a:pt x="1537" y="1996"/>
                </a:lnTo>
                <a:lnTo>
                  <a:pt x="1519" y="2034"/>
                </a:lnTo>
                <a:lnTo>
                  <a:pt x="1504" y="2073"/>
                </a:lnTo>
                <a:lnTo>
                  <a:pt x="1487" y="2109"/>
                </a:lnTo>
                <a:lnTo>
                  <a:pt x="1471" y="2146"/>
                </a:lnTo>
                <a:lnTo>
                  <a:pt x="1457" y="2183"/>
                </a:lnTo>
                <a:lnTo>
                  <a:pt x="1440" y="2216"/>
                </a:lnTo>
                <a:lnTo>
                  <a:pt x="1425" y="2187"/>
                </a:lnTo>
                <a:lnTo>
                  <a:pt x="1406" y="2158"/>
                </a:lnTo>
                <a:lnTo>
                  <a:pt x="1388" y="2128"/>
                </a:lnTo>
                <a:lnTo>
                  <a:pt x="1367" y="2098"/>
                </a:lnTo>
                <a:lnTo>
                  <a:pt x="1345" y="2070"/>
                </a:lnTo>
                <a:lnTo>
                  <a:pt x="1323" y="2040"/>
                </a:lnTo>
                <a:lnTo>
                  <a:pt x="1301" y="2011"/>
                </a:lnTo>
                <a:lnTo>
                  <a:pt x="1278" y="1982"/>
                </a:lnTo>
                <a:lnTo>
                  <a:pt x="1255" y="1952"/>
                </a:lnTo>
                <a:lnTo>
                  <a:pt x="1234" y="1922"/>
                </a:lnTo>
                <a:lnTo>
                  <a:pt x="1214" y="1894"/>
                </a:lnTo>
                <a:lnTo>
                  <a:pt x="1196" y="1864"/>
                </a:lnTo>
                <a:lnTo>
                  <a:pt x="1178" y="1835"/>
                </a:lnTo>
                <a:lnTo>
                  <a:pt x="1163" y="1806"/>
                </a:lnTo>
                <a:lnTo>
                  <a:pt x="1150" y="1776"/>
                </a:lnTo>
                <a:lnTo>
                  <a:pt x="1141" y="1748"/>
                </a:lnTo>
                <a:lnTo>
                  <a:pt x="1125" y="1708"/>
                </a:lnTo>
                <a:lnTo>
                  <a:pt x="1109" y="1665"/>
                </a:lnTo>
                <a:lnTo>
                  <a:pt x="1090" y="1621"/>
                </a:lnTo>
                <a:lnTo>
                  <a:pt x="1072" y="1576"/>
                </a:lnTo>
                <a:lnTo>
                  <a:pt x="1053" y="1531"/>
                </a:lnTo>
                <a:lnTo>
                  <a:pt x="1036" y="1486"/>
                </a:lnTo>
                <a:lnTo>
                  <a:pt x="1019" y="1443"/>
                </a:lnTo>
                <a:lnTo>
                  <a:pt x="1006" y="1401"/>
                </a:lnTo>
                <a:lnTo>
                  <a:pt x="982" y="1410"/>
                </a:lnTo>
                <a:lnTo>
                  <a:pt x="961" y="1421"/>
                </a:lnTo>
                <a:lnTo>
                  <a:pt x="938" y="1429"/>
                </a:lnTo>
                <a:lnTo>
                  <a:pt x="917" y="1438"/>
                </a:lnTo>
                <a:lnTo>
                  <a:pt x="894" y="1447"/>
                </a:lnTo>
                <a:lnTo>
                  <a:pt x="873" y="1454"/>
                </a:lnTo>
                <a:lnTo>
                  <a:pt x="850" y="1462"/>
                </a:lnTo>
                <a:lnTo>
                  <a:pt x="828" y="1472"/>
                </a:lnTo>
                <a:lnTo>
                  <a:pt x="811" y="1480"/>
                </a:lnTo>
                <a:lnTo>
                  <a:pt x="793" y="1487"/>
                </a:lnTo>
                <a:lnTo>
                  <a:pt x="775" y="1496"/>
                </a:lnTo>
                <a:lnTo>
                  <a:pt x="758" y="1505"/>
                </a:lnTo>
                <a:lnTo>
                  <a:pt x="740" y="1512"/>
                </a:lnTo>
                <a:lnTo>
                  <a:pt x="724" y="1521"/>
                </a:lnTo>
                <a:lnTo>
                  <a:pt x="706" y="1528"/>
                </a:lnTo>
                <a:lnTo>
                  <a:pt x="689" y="1537"/>
                </a:lnTo>
                <a:lnTo>
                  <a:pt x="672" y="1545"/>
                </a:lnTo>
                <a:lnTo>
                  <a:pt x="654" y="1553"/>
                </a:lnTo>
                <a:lnTo>
                  <a:pt x="638" y="1561"/>
                </a:lnTo>
                <a:lnTo>
                  <a:pt x="621" y="1570"/>
                </a:lnTo>
                <a:lnTo>
                  <a:pt x="604" y="1576"/>
                </a:lnTo>
                <a:lnTo>
                  <a:pt x="588" y="1585"/>
                </a:lnTo>
                <a:lnTo>
                  <a:pt x="571" y="1593"/>
                </a:lnTo>
                <a:lnTo>
                  <a:pt x="555" y="1601"/>
                </a:lnTo>
                <a:lnTo>
                  <a:pt x="551" y="1601"/>
                </a:lnTo>
                <a:lnTo>
                  <a:pt x="543" y="1601"/>
                </a:lnTo>
                <a:lnTo>
                  <a:pt x="529" y="1603"/>
                </a:lnTo>
                <a:lnTo>
                  <a:pt x="512" y="1607"/>
                </a:lnTo>
                <a:lnTo>
                  <a:pt x="493" y="1611"/>
                </a:lnTo>
                <a:lnTo>
                  <a:pt x="470" y="1617"/>
                </a:lnTo>
                <a:lnTo>
                  <a:pt x="447" y="1625"/>
                </a:lnTo>
                <a:lnTo>
                  <a:pt x="422" y="1632"/>
                </a:lnTo>
                <a:lnTo>
                  <a:pt x="397" y="1638"/>
                </a:lnTo>
                <a:lnTo>
                  <a:pt x="374" y="1645"/>
                </a:lnTo>
                <a:lnTo>
                  <a:pt x="352" y="1653"/>
                </a:lnTo>
                <a:lnTo>
                  <a:pt x="334" y="1657"/>
                </a:lnTo>
                <a:lnTo>
                  <a:pt x="316" y="1661"/>
                </a:lnTo>
                <a:lnTo>
                  <a:pt x="305" y="1665"/>
                </a:lnTo>
                <a:lnTo>
                  <a:pt x="298" y="1665"/>
                </a:lnTo>
                <a:lnTo>
                  <a:pt x="295" y="1663"/>
                </a:lnTo>
                <a:lnTo>
                  <a:pt x="275" y="1674"/>
                </a:lnTo>
                <a:lnTo>
                  <a:pt x="257" y="1685"/>
                </a:lnTo>
                <a:lnTo>
                  <a:pt x="237" y="1696"/>
                </a:lnTo>
                <a:lnTo>
                  <a:pt x="220" y="1708"/>
                </a:lnTo>
                <a:lnTo>
                  <a:pt x="199" y="1718"/>
                </a:lnTo>
                <a:lnTo>
                  <a:pt x="181" y="1728"/>
                </a:lnTo>
                <a:lnTo>
                  <a:pt x="161" y="1739"/>
                </a:lnTo>
                <a:lnTo>
                  <a:pt x="143" y="1750"/>
                </a:lnTo>
                <a:lnTo>
                  <a:pt x="124" y="1761"/>
                </a:lnTo>
                <a:lnTo>
                  <a:pt x="106" y="1773"/>
                </a:lnTo>
                <a:lnTo>
                  <a:pt x="88" y="1783"/>
                </a:lnTo>
                <a:lnTo>
                  <a:pt x="70" y="1794"/>
                </a:lnTo>
                <a:lnTo>
                  <a:pt x="53" y="1805"/>
                </a:lnTo>
                <a:lnTo>
                  <a:pt x="35" y="1816"/>
                </a:lnTo>
                <a:lnTo>
                  <a:pt x="18" y="1827"/>
                </a:lnTo>
                <a:lnTo>
                  <a:pt x="0" y="1838"/>
                </a:lnTo>
                <a:close/>
              </a:path>
            </a:pathLst>
          </a:custGeom>
          <a:solidFill>
            <a:srgbClr val="C00000"/>
          </a:solidFill>
          <a:ln w="9525">
            <a:noFill/>
            <a:round/>
            <a:headEnd/>
            <a:tailEnd/>
          </a:ln>
        </p:spPr>
        <p:txBody>
          <a:bodyPr lIns="36000" tIns="36000" rIns="36000" bIns="36000" anchor="ctr" anchorCtr="0"/>
          <a:lstStyle/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endParaRPr kumimoji="1" lang="ko-KR" altLang="en-US" sz="1100" b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000000"/>
              </a:solidFill>
              <a:latin typeface="하나 M" panose="02020603020101020101" pitchFamily="18" charset="-127"/>
              <a:ea typeface="하나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8432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E4511-BCB3-06F2-8593-8177F3D07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>
            <a:extLst>
              <a:ext uri="{FF2B5EF4-FFF2-40B4-BE49-F238E27FC236}">
                <a16:creationId xmlns:a16="http://schemas.microsoft.com/office/drawing/2014/main" id="{FF168120-6A1E-51D7-1C3E-196FD646DB80}"/>
              </a:ext>
            </a:extLst>
          </p:cNvPr>
          <p:cNvSpPr txBox="1"/>
          <p:nvPr/>
        </p:nvSpPr>
        <p:spPr>
          <a:xfrm>
            <a:off x="488951" y="3964780"/>
            <a:ext cx="3312000" cy="2048528"/>
          </a:xfrm>
          <a:prstGeom prst="rect">
            <a:avLst/>
          </a:prstGeom>
          <a:noFill/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62F7F7-5726-5695-A52F-8BF9974963FD}"/>
              </a:ext>
            </a:extLst>
          </p:cNvPr>
          <p:cNvSpPr txBox="1"/>
          <p:nvPr/>
        </p:nvSpPr>
        <p:spPr>
          <a:xfrm>
            <a:off x="3873000" y="1648999"/>
            <a:ext cx="3312000" cy="2048528"/>
          </a:xfrm>
          <a:prstGeom prst="rect">
            <a:avLst/>
          </a:prstGeom>
          <a:noFill/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07F8029-527F-DE85-FCE7-417349F6E6E8}"/>
              </a:ext>
            </a:extLst>
          </p:cNvPr>
          <p:cNvSpPr txBox="1"/>
          <p:nvPr/>
        </p:nvSpPr>
        <p:spPr>
          <a:xfrm>
            <a:off x="488951" y="1648999"/>
            <a:ext cx="3312000" cy="2048528"/>
          </a:xfrm>
          <a:prstGeom prst="rect">
            <a:avLst/>
          </a:prstGeom>
          <a:noFill/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086272-FFB1-8D9C-0198-A9529BD01111}"/>
              </a:ext>
            </a:extLst>
          </p:cNvPr>
          <p:cNvSpPr txBox="1"/>
          <p:nvPr/>
        </p:nvSpPr>
        <p:spPr>
          <a:xfrm>
            <a:off x="488951" y="3967474"/>
            <a:ext cx="3312000" cy="2048528"/>
          </a:xfrm>
          <a:prstGeom prst="rect">
            <a:avLst/>
          </a:prstGeom>
          <a:noFill/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FB19A17-5B55-D04F-D068-A79AF6F4378A}"/>
              </a:ext>
            </a:extLst>
          </p:cNvPr>
          <p:cNvSpPr txBox="1"/>
          <p:nvPr/>
        </p:nvSpPr>
        <p:spPr>
          <a:xfrm>
            <a:off x="3873000" y="3967474"/>
            <a:ext cx="3312000" cy="2048528"/>
          </a:xfrm>
          <a:prstGeom prst="rect">
            <a:avLst/>
          </a:prstGeom>
          <a:noFill/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3" name="Rectangle 39">
            <a:extLst>
              <a:ext uri="{FF2B5EF4-FFF2-40B4-BE49-F238E27FC236}">
                <a16:creationId xmlns:a16="http://schemas.microsoft.com/office/drawing/2014/main" id="{4ACFB340-DC5C-887D-F5AB-ACB066241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67168"/>
            <a:ext cx="8928100" cy="353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marL="342900" indent="-342900" eaLnBrk="0" fontAlgn="b" hangingPunct="0">
              <a:lnSpc>
                <a:spcPts val="3300"/>
              </a:lnSpc>
              <a:buClr>
                <a:srgbClr val="1F497D"/>
              </a:buClr>
              <a:defRPr/>
            </a:pPr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EDA Results – 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Categorical Variables (1/3)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76EB02-CE72-2F0C-E526-59789998835B}"/>
              </a:ext>
            </a:extLst>
          </p:cNvPr>
          <p:cNvSpPr txBox="1"/>
          <p:nvPr/>
        </p:nvSpPr>
        <p:spPr>
          <a:xfrm>
            <a:off x="6936782" y="526127"/>
            <a:ext cx="2610897" cy="235193"/>
          </a:xfrm>
          <a:prstGeom prst="rect">
            <a:avLst/>
          </a:prstGeom>
          <a:noFill/>
        </p:spPr>
        <p:txBody>
          <a:bodyPr wrap="square" lIns="54610" tIns="54610" rIns="54610" bIns="54610" rtlCol="0">
            <a:noAutofit/>
          </a:bodyPr>
          <a:lstStyle/>
          <a:p>
            <a:pPr marL="0" indent="0" algn="r">
              <a:spcAft>
                <a:spcPts val="600"/>
              </a:spcAft>
              <a:buNone/>
            </a:pPr>
            <a:r>
              <a:rPr lang="en-US" altLang="ko-KR" sz="1000" b="1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62BF67-0BF6-1337-D26F-0136DAE66522}"/>
              </a:ext>
            </a:extLst>
          </p:cNvPr>
          <p:cNvSpPr txBox="1"/>
          <p:nvPr/>
        </p:nvSpPr>
        <p:spPr>
          <a:xfrm>
            <a:off x="705699" y="3753843"/>
            <a:ext cx="3095252" cy="219017"/>
          </a:xfrm>
          <a:prstGeom prst="rect">
            <a:avLst/>
          </a:prstGeom>
          <a:solidFill>
            <a:srgbClr val="00338D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 Involvement</a:t>
            </a: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26" name="사각형: 잘린 위쪽 모서리 25">
            <a:extLst>
              <a:ext uri="{FF2B5EF4-FFF2-40B4-BE49-F238E27FC236}">
                <a16:creationId xmlns:a16="http://schemas.microsoft.com/office/drawing/2014/main" id="{01FB70FD-F479-D100-B9CD-C3A176D4EA28}"/>
              </a:ext>
            </a:extLst>
          </p:cNvPr>
          <p:cNvSpPr/>
          <p:nvPr/>
        </p:nvSpPr>
        <p:spPr>
          <a:xfrm rot="16200000">
            <a:off x="483767" y="3750930"/>
            <a:ext cx="220245" cy="223618"/>
          </a:xfrm>
          <a:prstGeom prst="snip2SameRect">
            <a:avLst>
              <a:gd name="adj1" fmla="val 11343"/>
              <a:gd name="adj2" fmla="val 0"/>
            </a:avLst>
          </a:prstGeom>
          <a:solidFill>
            <a:srgbClr val="002060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13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23EA0A0-8DD5-8631-2E0B-4F8705C8C0A2}"/>
              </a:ext>
            </a:extLst>
          </p:cNvPr>
          <p:cNvSpPr/>
          <p:nvPr/>
        </p:nvSpPr>
        <p:spPr>
          <a:xfrm>
            <a:off x="488950" y="3748457"/>
            <a:ext cx="221189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sz="900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7" name="Rectangle 28">
            <a:extLst>
              <a:ext uri="{FF2B5EF4-FFF2-40B4-BE49-F238E27FC236}">
                <a16:creationId xmlns:a16="http://schemas.microsoft.com/office/drawing/2014/main" id="{D3E12616-AC0C-F481-AE6A-D1FD179BA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126" y="946206"/>
            <a:ext cx="8928100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buClr>
                <a:srgbClr val="00338D"/>
              </a:buClr>
              <a:buSzPct val="90000"/>
            </a:pP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Four categorical variables (Work-Life Balance, </a:t>
            </a:r>
            <a:r>
              <a:rPr lang="en-US" altLang="ko-KR" sz="11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OverTime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Job Involvement, and Job Satisfaction) were selected based on observed differences in attrition rates across categories.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D198AB-36A1-F81E-AA7F-449CEF76D69F}"/>
              </a:ext>
            </a:extLst>
          </p:cNvPr>
          <p:cNvSpPr/>
          <p:nvPr/>
        </p:nvSpPr>
        <p:spPr>
          <a:xfrm>
            <a:off x="488949" y="4037633"/>
            <a:ext cx="3312000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Employees who have</a:t>
            </a:r>
            <a:r>
              <a:rPr lang="ko-KR" altLang="en-US" sz="1000" dirty="0">
                <a:solidFill>
                  <a:srgbClr val="00338D"/>
                </a:solidFill>
                <a:latin typeface="Aptos" panose="020B0004020202020204" pitchFamily="34" charset="0"/>
              </a:rPr>
              <a:t> </a:t>
            </a: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lower</a:t>
            </a:r>
            <a:r>
              <a:rPr lang="ko-KR" altLang="en-US" sz="1000" dirty="0">
                <a:solidFill>
                  <a:srgbClr val="00338D"/>
                </a:solidFill>
                <a:latin typeface="Aptos" panose="020B0004020202020204" pitchFamily="34" charset="0"/>
              </a:rPr>
              <a:t> </a:t>
            </a: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job</a:t>
            </a:r>
            <a:r>
              <a:rPr lang="ko-KR" altLang="en-US" sz="1000" dirty="0">
                <a:solidFill>
                  <a:srgbClr val="00338D"/>
                </a:solidFill>
                <a:latin typeface="Aptos" panose="020B0004020202020204" pitchFamily="34" charset="0"/>
              </a:rPr>
              <a:t> </a:t>
            </a: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involvement (46.8%) tend to have higher attrition rates.</a:t>
            </a:r>
            <a:endParaRPr lang="ko-KR" altLang="en-US" sz="1000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67BEAB-3277-1A3F-7B40-C1BB7E3B81F4}"/>
              </a:ext>
            </a:extLst>
          </p:cNvPr>
          <p:cNvSpPr txBox="1"/>
          <p:nvPr/>
        </p:nvSpPr>
        <p:spPr>
          <a:xfrm>
            <a:off x="705701" y="1431398"/>
            <a:ext cx="3095252" cy="219017"/>
          </a:xfrm>
          <a:prstGeom prst="rect">
            <a:avLst/>
          </a:prstGeom>
          <a:solidFill>
            <a:srgbClr val="00338D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 Life Balance</a:t>
            </a: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46" name="사각형: 잘린 위쪽 모서리 45">
            <a:extLst>
              <a:ext uri="{FF2B5EF4-FFF2-40B4-BE49-F238E27FC236}">
                <a16:creationId xmlns:a16="http://schemas.microsoft.com/office/drawing/2014/main" id="{5C48358D-410F-DBFE-4455-3F15ED1E6391}"/>
              </a:ext>
            </a:extLst>
          </p:cNvPr>
          <p:cNvSpPr/>
          <p:nvPr/>
        </p:nvSpPr>
        <p:spPr>
          <a:xfrm rot="16200000">
            <a:off x="483769" y="1428485"/>
            <a:ext cx="220245" cy="223618"/>
          </a:xfrm>
          <a:prstGeom prst="snip2SameRect">
            <a:avLst>
              <a:gd name="adj1" fmla="val 11343"/>
              <a:gd name="adj2" fmla="val 0"/>
            </a:avLst>
          </a:prstGeom>
          <a:solidFill>
            <a:srgbClr val="002060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13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E35A8E8-EBF9-72E5-5E1A-35309DCB0707}"/>
              </a:ext>
            </a:extLst>
          </p:cNvPr>
          <p:cNvSpPr/>
          <p:nvPr/>
        </p:nvSpPr>
        <p:spPr>
          <a:xfrm>
            <a:off x="488952" y="1426012"/>
            <a:ext cx="221189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sz="900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0450F76-67DF-E86F-9D19-CE672810A484}"/>
              </a:ext>
            </a:extLst>
          </p:cNvPr>
          <p:cNvSpPr/>
          <p:nvPr/>
        </p:nvSpPr>
        <p:spPr>
          <a:xfrm>
            <a:off x="482080" y="1713772"/>
            <a:ext cx="3312000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Employees who have</a:t>
            </a:r>
            <a:r>
              <a:rPr lang="ko-KR" altLang="en-US" sz="1000" dirty="0">
                <a:solidFill>
                  <a:srgbClr val="00338D"/>
                </a:solidFill>
                <a:latin typeface="Aptos" panose="020B0004020202020204" pitchFamily="34" charset="0"/>
              </a:rPr>
              <a:t> </a:t>
            </a: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poor work life balance (35.4%) tend to have higher attrition rates.</a:t>
            </a:r>
            <a:endParaRPr lang="ko-KR" altLang="en-US" sz="1000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B723EB-2C44-2730-EDC2-DFFE04FA8FBA}"/>
              </a:ext>
            </a:extLst>
          </p:cNvPr>
          <p:cNvSpPr txBox="1"/>
          <p:nvPr/>
        </p:nvSpPr>
        <p:spPr>
          <a:xfrm>
            <a:off x="4100053" y="3753843"/>
            <a:ext cx="3084947" cy="219017"/>
          </a:xfrm>
          <a:prstGeom prst="rect">
            <a:avLst/>
          </a:prstGeom>
          <a:solidFill>
            <a:srgbClr val="00338D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 Satisfaction</a:t>
            </a: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9" name="사각형: 잘린 위쪽 모서리 8">
            <a:extLst>
              <a:ext uri="{FF2B5EF4-FFF2-40B4-BE49-F238E27FC236}">
                <a16:creationId xmlns:a16="http://schemas.microsoft.com/office/drawing/2014/main" id="{F7DCA275-D36D-FE26-4216-0A0A06AF8450}"/>
              </a:ext>
            </a:extLst>
          </p:cNvPr>
          <p:cNvSpPr/>
          <p:nvPr/>
        </p:nvSpPr>
        <p:spPr>
          <a:xfrm rot="16200000">
            <a:off x="3878121" y="3750930"/>
            <a:ext cx="220245" cy="223618"/>
          </a:xfrm>
          <a:prstGeom prst="snip2SameRect">
            <a:avLst>
              <a:gd name="adj1" fmla="val 11343"/>
              <a:gd name="adj2" fmla="val 0"/>
            </a:avLst>
          </a:prstGeom>
          <a:solidFill>
            <a:srgbClr val="002060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13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AC4C2A-E2EE-A668-70A0-13DDBFF63A64}"/>
              </a:ext>
            </a:extLst>
          </p:cNvPr>
          <p:cNvSpPr/>
          <p:nvPr/>
        </p:nvSpPr>
        <p:spPr>
          <a:xfrm>
            <a:off x="3883304" y="3748457"/>
            <a:ext cx="221189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altLang="ko-KR" sz="90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  <a:endParaRPr lang="ko-KR" altLang="en-US" sz="900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3B53502-A50A-2749-B5C2-8346B93624E2}"/>
              </a:ext>
            </a:extLst>
          </p:cNvPr>
          <p:cNvSpPr/>
          <p:nvPr/>
        </p:nvSpPr>
        <p:spPr>
          <a:xfrm>
            <a:off x="3876434" y="4037633"/>
            <a:ext cx="3312000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Employees who have</a:t>
            </a:r>
            <a:r>
              <a:rPr lang="ko-KR" altLang="en-US" sz="1000" dirty="0">
                <a:solidFill>
                  <a:srgbClr val="00338D"/>
                </a:solidFill>
                <a:latin typeface="Aptos" panose="020B0004020202020204" pitchFamily="34" charset="0"/>
              </a:rPr>
              <a:t> </a:t>
            </a: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lower</a:t>
            </a:r>
            <a:r>
              <a:rPr lang="ko-KR" altLang="en-US" sz="1000" dirty="0">
                <a:solidFill>
                  <a:srgbClr val="00338D"/>
                </a:solidFill>
                <a:latin typeface="Aptos" panose="020B0004020202020204" pitchFamily="34" charset="0"/>
              </a:rPr>
              <a:t> </a:t>
            </a: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job</a:t>
            </a:r>
            <a:r>
              <a:rPr lang="ko-KR" altLang="en-US" sz="1000" dirty="0">
                <a:solidFill>
                  <a:srgbClr val="00338D"/>
                </a:solidFill>
                <a:latin typeface="Aptos" panose="020B0004020202020204" pitchFamily="34" charset="0"/>
              </a:rPr>
              <a:t> </a:t>
            </a: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satisfaction (21.2%) tend to have higher attrition rates.</a:t>
            </a:r>
            <a:endParaRPr lang="ko-KR" altLang="en-US" sz="1000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F9641E-1D72-9C70-CCC8-ADBE3820F606}"/>
              </a:ext>
            </a:extLst>
          </p:cNvPr>
          <p:cNvSpPr txBox="1"/>
          <p:nvPr/>
        </p:nvSpPr>
        <p:spPr>
          <a:xfrm>
            <a:off x="4093184" y="1431398"/>
            <a:ext cx="3091816" cy="219017"/>
          </a:xfrm>
          <a:prstGeom prst="rect">
            <a:avLst/>
          </a:prstGeom>
          <a:solidFill>
            <a:srgbClr val="00338D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Overtime</a:t>
            </a: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16" name="사각형: 잘린 위쪽 모서리 15">
            <a:extLst>
              <a:ext uri="{FF2B5EF4-FFF2-40B4-BE49-F238E27FC236}">
                <a16:creationId xmlns:a16="http://schemas.microsoft.com/office/drawing/2014/main" id="{2B24FAA6-B653-AF86-4E66-918F37280ED3}"/>
              </a:ext>
            </a:extLst>
          </p:cNvPr>
          <p:cNvSpPr/>
          <p:nvPr/>
        </p:nvSpPr>
        <p:spPr>
          <a:xfrm rot="16200000">
            <a:off x="3871252" y="1428485"/>
            <a:ext cx="220245" cy="223618"/>
          </a:xfrm>
          <a:prstGeom prst="snip2SameRect">
            <a:avLst>
              <a:gd name="adj1" fmla="val 11343"/>
              <a:gd name="adj2" fmla="val 0"/>
            </a:avLst>
          </a:prstGeom>
          <a:solidFill>
            <a:srgbClr val="002060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13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25AD015-AC00-D450-6F52-679CB0397B4E}"/>
              </a:ext>
            </a:extLst>
          </p:cNvPr>
          <p:cNvSpPr/>
          <p:nvPr/>
        </p:nvSpPr>
        <p:spPr>
          <a:xfrm>
            <a:off x="3876435" y="1426012"/>
            <a:ext cx="221189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sz="900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D0D0DF5-E087-6014-08E3-B5FD9824161E}"/>
              </a:ext>
            </a:extLst>
          </p:cNvPr>
          <p:cNvSpPr/>
          <p:nvPr/>
        </p:nvSpPr>
        <p:spPr>
          <a:xfrm>
            <a:off x="3869565" y="1713772"/>
            <a:ext cx="3312000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Employees who work overtime (31.7%) tend to have higher attrition rates.</a:t>
            </a:r>
            <a:endParaRPr lang="ko-KR" altLang="en-US" sz="1000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51DB9A-4254-FBED-695E-1AE19E639ED1}"/>
              </a:ext>
            </a:extLst>
          </p:cNvPr>
          <p:cNvSpPr txBox="1"/>
          <p:nvPr/>
        </p:nvSpPr>
        <p:spPr>
          <a:xfrm>
            <a:off x="7257050" y="1648998"/>
            <a:ext cx="2159998" cy="4372389"/>
          </a:xfrm>
          <a:prstGeom prst="rect">
            <a:avLst/>
          </a:prstGeom>
          <a:solidFill>
            <a:srgbClr val="F2F9FF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958C69-C299-2762-B03E-624D82B21523}"/>
              </a:ext>
            </a:extLst>
          </p:cNvPr>
          <p:cNvSpPr txBox="1"/>
          <p:nvPr/>
        </p:nvSpPr>
        <p:spPr>
          <a:xfrm>
            <a:off x="7257051" y="1422400"/>
            <a:ext cx="2159998" cy="228015"/>
          </a:xfrm>
          <a:prstGeom prst="snip2SameRect">
            <a:avLst>
              <a:gd name="adj1" fmla="val 10144"/>
              <a:gd name="adj2" fmla="val 0"/>
            </a:avLst>
          </a:prstGeom>
          <a:solidFill>
            <a:srgbClr val="002060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Key Findings</a:t>
            </a: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pic>
        <p:nvPicPr>
          <p:cNvPr id="51" name="그래픽 50" descr="전구 단색으로 채워진">
            <a:extLst>
              <a:ext uri="{FF2B5EF4-FFF2-40B4-BE49-F238E27FC236}">
                <a16:creationId xmlns:a16="http://schemas.microsoft.com/office/drawing/2014/main" id="{66D0CF13-B2E7-4307-FCA8-B5172FFAA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91228" y="1448775"/>
            <a:ext cx="180000" cy="180000"/>
          </a:xfrm>
          <a:prstGeom prst="rect">
            <a:avLst/>
          </a:prstGeom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C252C803-D0F2-E82A-69A3-0FBFF75831C9}"/>
              </a:ext>
            </a:extLst>
          </p:cNvPr>
          <p:cNvSpPr/>
          <p:nvPr/>
        </p:nvSpPr>
        <p:spPr>
          <a:xfrm>
            <a:off x="7291228" y="1998088"/>
            <a:ext cx="2074323" cy="12035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Higher attrition among employees working overtime and those reporting poor work-life balance suggests that demanding working conditions may be associated with employee departure.</a:t>
            </a:r>
            <a:endParaRPr lang="ko-KR" altLang="en-US" sz="1000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A098C2A-E047-C543-F212-E3CA0638EEA6}"/>
              </a:ext>
            </a:extLst>
          </p:cNvPr>
          <p:cNvSpPr/>
          <p:nvPr/>
        </p:nvSpPr>
        <p:spPr>
          <a:xfrm>
            <a:off x="7291228" y="3565266"/>
            <a:ext cx="2074323" cy="10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Job Involvement exhibits the largest observed attrition-rate gap among the four variables (38.2 percentage points), potentially reflecting differences in employees' engagement with their work.</a:t>
            </a:r>
            <a:endParaRPr lang="ko-KR" altLang="en-US" sz="1000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FAF3E22-123E-3A22-7B77-489D33CB4B4A}"/>
              </a:ext>
            </a:extLst>
          </p:cNvPr>
          <p:cNvSpPr/>
          <p:nvPr/>
        </p:nvSpPr>
        <p:spPr>
          <a:xfrm>
            <a:off x="7291228" y="5008879"/>
            <a:ext cx="2074323" cy="9583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Attrition consistently declines as Job Satisfaction increases, suggesting a negative association between employees' satisfaction with their work and their likelihood of leaving.</a:t>
            </a:r>
            <a:endParaRPr lang="ko-KR" altLang="en-US" sz="1000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55" name="차트 54">
            <a:extLst>
              <a:ext uri="{FF2B5EF4-FFF2-40B4-BE49-F238E27FC236}">
                <a16:creationId xmlns:a16="http://schemas.microsoft.com/office/drawing/2014/main" id="{F9EC11E2-B010-0373-3085-A7C49578BD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3966346"/>
              </p:ext>
            </p:extLst>
          </p:nvPr>
        </p:nvGraphicFramePr>
        <p:xfrm>
          <a:off x="709508" y="1991800"/>
          <a:ext cx="3091441" cy="16622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6" name="차트 55">
            <a:extLst>
              <a:ext uri="{FF2B5EF4-FFF2-40B4-BE49-F238E27FC236}">
                <a16:creationId xmlns:a16="http://schemas.microsoft.com/office/drawing/2014/main" id="{CE53EF2F-A707-90A8-6489-4604685D56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0082646"/>
              </p:ext>
            </p:extLst>
          </p:nvPr>
        </p:nvGraphicFramePr>
        <p:xfrm>
          <a:off x="4100054" y="1932790"/>
          <a:ext cx="3081512" cy="17212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7" name="직사각형 56">
            <a:extLst>
              <a:ext uri="{FF2B5EF4-FFF2-40B4-BE49-F238E27FC236}">
                <a16:creationId xmlns:a16="http://schemas.microsoft.com/office/drawing/2014/main" id="{BB78FDDB-1358-0E3F-E026-1EDDBCA6628C}"/>
              </a:ext>
            </a:extLst>
          </p:cNvPr>
          <p:cNvSpPr/>
          <p:nvPr/>
        </p:nvSpPr>
        <p:spPr>
          <a:xfrm rot="10800000">
            <a:off x="488952" y="1791467"/>
            <a:ext cx="221189" cy="19016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54000" tIns="54000" rIns="54000" bIns="54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ptos" panose="020B0004020202020204" pitchFamily="34" charset="0"/>
              </a:rPr>
              <a:t>Attrition Rate (%)</a:t>
            </a:r>
            <a:endParaRPr lang="ko-KR" altLang="en-US" sz="900" dirty="0" err="1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F432035-81CA-ADAB-1106-83AFFE1D95FC}"/>
              </a:ext>
            </a:extLst>
          </p:cNvPr>
          <p:cNvSpPr/>
          <p:nvPr/>
        </p:nvSpPr>
        <p:spPr>
          <a:xfrm rot="10800000">
            <a:off x="488952" y="4114332"/>
            <a:ext cx="221189" cy="19016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54000" tIns="54000" rIns="54000" bIns="54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ptos" panose="020B0004020202020204" pitchFamily="34" charset="0"/>
              </a:rPr>
              <a:t>Attrition Rate (%)</a:t>
            </a:r>
            <a:endParaRPr lang="ko-KR" altLang="en-US" sz="900" dirty="0" err="1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040CE4A0-5E51-77E0-A697-33EF311A0B8D}"/>
              </a:ext>
            </a:extLst>
          </p:cNvPr>
          <p:cNvSpPr/>
          <p:nvPr/>
        </p:nvSpPr>
        <p:spPr>
          <a:xfrm rot="10800000">
            <a:off x="3875429" y="1791467"/>
            <a:ext cx="221189" cy="19016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54000" tIns="54000" rIns="54000" bIns="54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ptos" panose="020B0004020202020204" pitchFamily="34" charset="0"/>
              </a:rPr>
              <a:t>Attrition Rate (%)</a:t>
            </a:r>
            <a:endParaRPr lang="ko-KR" altLang="en-US" sz="900" dirty="0" err="1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16DE28B-E8AD-3662-EFD3-FBD6A2DB815A}"/>
              </a:ext>
            </a:extLst>
          </p:cNvPr>
          <p:cNvSpPr/>
          <p:nvPr/>
        </p:nvSpPr>
        <p:spPr>
          <a:xfrm rot="10800000">
            <a:off x="3875429" y="4114332"/>
            <a:ext cx="221189" cy="19016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54000" tIns="54000" rIns="54000" bIns="54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ptos" panose="020B0004020202020204" pitchFamily="34" charset="0"/>
              </a:rPr>
              <a:t>Attrition Rate (%)</a:t>
            </a:r>
            <a:endParaRPr lang="ko-KR" altLang="en-US" sz="900" dirty="0" err="1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62" name="차트 61">
            <a:extLst>
              <a:ext uri="{FF2B5EF4-FFF2-40B4-BE49-F238E27FC236}">
                <a16:creationId xmlns:a16="http://schemas.microsoft.com/office/drawing/2014/main" id="{E1238791-7C11-44DD-9610-C95D49789E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6450564"/>
              </p:ext>
            </p:extLst>
          </p:nvPr>
        </p:nvGraphicFramePr>
        <p:xfrm>
          <a:off x="712568" y="4333348"/>
          <a:ext cx="3095250" cy="16799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63" name="차트 62">
            <a:extLst>
              <a:ext uri="{FF2B5EF4-FFF2-40B4-BE49-F238E27FC236}">
                <a16:creationId xmlns:a16="http://schemas.microsoft.com/office/drawing/2014/main" id="{5B9F752D-8747-4C07-A2AC-D05BED25C7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917121"/>
              </p:ext>
            </p:extLst>
          </p:nvPr>
        </p:nvGraphicFramePr>
        <p:xfrm>
          <a:off x="4093184" y="4307580"/>
          <a:ext cx="3088381" cy="17057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64" name="직사각형 63">
            <a:extLst>
              <a:ext uri="{FF2B5EF4-FFF2-40B4-BE49-F238E27FC236}">
                <a16:creationId xmlns:a16="http://schemas.microsoft.com/office/drawing/2014/main" id="{F2E297E0-F57D-FD88-A789-333BB6D5E64F}"/>
              </a:ext>
            </a:extLst>
          </p:cNvPr>
          <p:cNvSpPr/>
          <p:nvPr/>
        </p:nvSpPr>
        <p:spPr>
          <a:xfrm>
            <a:off x="7291228" y="1680103"/>
            <a:ext cx="2125820" cy="2723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r>
              <a:rPr lang="en-US" altLang="ko-KR" sz="1000" b="1" dirty="0">
                <a:solidFill>
                  <a:srgbClr val="00338D"/>
                </a:solidFill>
                <a:latin typeface="Aptos" panose="020B0004020202020204" pitchFamily="34" charset="0"/>
              </a:rPr>
              <a:t>Workload and Work-Life Conflict</a:t>
            </a:r>
            <a:endParaRPr lang="ko-KR" altLang="en-US" sz="1000" b="1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D6A6502C-4221-2C30-8BB9-4AA0EEDE1931}"/>
              </a:ext>
            </a:extLst>
          </p:cNvPr>
          <p:cNvSpPr/>
          <p:nvPr/>
        </p:nvSpPr>
        <p:spPr>
          <a:xfrm>
            <a:off x="7291228" y="3247281"/>
            <a:ext cx="2125820" cy="2723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r>
              <a:rPr lang="en-US" altLang="ko-KR" sz="1000" b="1" dirty="0">
                <a:solidFill>
                  <a:srgbClr val="00338D"/>
                </a:solidFill>
                <a:latin typeface="Aptos" panose="020B0004020202020204" pitchFamily="34" charset="0"/>
              </a:rPr>
              <a:t>Employee Disengagement</a:t>
            </a:r>
            <a:endParaRPr lang="ko-KR" altLang="en-US" sz="1000" b="1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7FA83284-7D83-4253-0255-584F3EF5A8D7}"/>
              </a:ext>
            </a:extLst>
          </p:cNvPr>
          <p:cNvSpPr/>
          <p:nvPr/>
        </p:nvSpPr>
        <p:spPr>
          <a:xfrm>
            <a:off x="7291228" y="4690893"/>
            <a:ext cx="2125820" cy="2723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r>
              <a:rPr lang="en-US" altLang="ko-KR" sz="1000" b="1" dirty="0">
                <a:solidFill>
                  <a:srgbClr val="00338D"/>
                </a:solidFill>
                <a:latin typeface="Aptos" panose="020B0004020202020204" pitchFamily="34" charset="0"/>
              </a:rPr>
              <a:t>Job Experience and Satisfaction</a:t>
            </a:r>
            <a:endParaRPr lang="ko-KR" altLang="en-US" sz="1000" b="1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082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22" grpId="0" animBg="1"/>
      <p:bldP spid="42" grpId="0" animBg="1"/>
      <p:bldP spid="23" grpId="0" animBg="1"/>
      <p:bldP spid="41" grpId="0" animBg="1"/>
      <p:bldP spid="25" grpId="0" animBg="1"/>
      <p:bldP spid="26" grpId="0" animBg="1"/>
      <p:bldP spid="34" grpId="0"/>
      <p:bldP spid="8" grpId="0"/>
      <p:bldP spid="45" grpId="0" animBg="1"/>
      <p:bldP spid="46" grpId="0" animBg="1"/>
      <p:bldP spid="48" grpId="0"/>
      <p:bldP spid="49" grpId="0"/>
      <p:bldP spid="7" grpId="0" animBg="1"/>
      <p:bldP spid="9" grpId="0" animBg="1"/>
      <p:bldP spid="11" grpId="0"/>
      <p:bldP spid="12" grpId="0"/>
      <p:bldP spid="14" grpId="0" animBg="1"/>
      <p:bldP spid="16" grpId="0" animBg="1"/>
      <p:bldP spid="17" grpId="0"/>
      <p:bldP spid="18" grpId="0"/>
      <p:bldP spid="19" grpId="0" animBg="1"/>
      <p:bldP spid="20" grpId="0" animBg="1"/>
      <p:bldP spid="52" grpId="0"/>
      <p:bldP spid="53" grpId="0"/>
      <p:bldP spid="54" grpId="0"/>
      <p:bldGraphic spid="55" grpId="0">
        <p:bldAsOne/>
      </p:bldGraphic>
      <p:bldGraphic spid="56" grpId="0">
        <p:bldAsOne/>
      </p:bldGraphic>
      <p:bldP spid="57" grpId="0"/>
      <p:bldP spid="59" grpId="0"/>
      <p:bldP spid="60" grpId="0"/>
      <p:bldP spid="61" grpId="0"/>
      <p:bldGraphic spid="62" grpId="0">
        <p:bldAsOne/>
      </p:bldGraphic>
      <p:bldGraphic spid="63" grpId="0">
        <p:bldAsOne/>
      </p:bldGraphic>
      <p:bldP spid="64" grpId="0"/>
      <p:bldP spid="71" grpId="0"/>
      <p:bldP spid="7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BD874-6844-D23A-3D83-5AB2C23A5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>
            <a:extLst>
              <a:ext uri="{FF2B5EF4-FFF2-40B4-BE49-F238E27FC236}">
                <a16:creationId xmlns:a16="http://schemas.microsoft.com/office/drawing/2014/main" id="{CB3ACC23-53FC-8CFD-8F48-3E73F5A6D8C5}"/>
              </a:ext>
            </a:extLst>
          </p:cNvPr>
          <p:cNvSpPr txBox="1"/>
          <p:nvPr/>
        </p:nvSpPr>
        <p:spPr>
          <a:xfrm>
            <a:off x="488951" y="3964780"/>
            <a:ext cx="3312000" cy="2048528"/>
          </a:xfrm>
          <a:prstGeom prst="rect">
            <a:avLst/>
          </a:prstGeom>
          <a:noFill/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DF300B-E50C-9FA0-0A9F-D351A9C4450B}"/>
              </a:ext>
            </a:extLst>
          </p:cNvPr>
          <p:cNvSpPr txBox="1"/>
          <p:nvPr/>
        </p:nvSpPr>
        <p:spPr>
          <a:xfrm>
            <a:off x="3873000" y="1648999"/>
            <a:ext cx="3312000" cy="2048528"/>
          </a:xfrm>
          <a:prstGeom prst="rect">
            <a:avLst/>
          </a:prstGeom>
          <a:noFill/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AB431D-9378-3212-1B00-CE527B1E3726}"/>
              </a:ext>
            </a:extLst>
          </p:cNvPr>
          <p:cNvSpPr txBox="1"/>
          <p:nvPr/>
        </p:nvSpPr>
        <p:spPr>
          <a:xfrm>
            <a:off x="488951" y="1648999"/>
            <a:ext cx="3312000" cy="2048528"/>
          </a:xfrm>
          <a:prstGeom prst="rect">
            <a:avLst/>
          </a:prstGeom>
          <a:noFill/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500863-D23D-5BFF-3F7C-9751BC7BE505}"/>
              </a:ext>
            </a:extLst>
          </p:cNvPr>
          <p:cNvSpPr txBox="1"/>
          <p:nvPr/>
        </p:nvSpPr>
        <p:spPr>
          <a:xfrm>
            <a:off x="488951" y="3967474"/>
            <a:ext cx="3312000" cy="2048528"/>
          </a:xfrm>
          <a:prstGeom prst="rect">
            <a:avLst/>
          </a:prstGeom>
          <a:noFill/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3" name="Rectangle 39">
            <a:extLst>
              <a:ext uri="{FF2B5EF4-FFF2-40B4-BE49-F238E27FC236}">
                <a16:creationId xmlns:a16="http://schemas.microsoft.com/office/drawing/2014/main" id="{930DED13-EAD2-6456-2B40-D2E4BED48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67168"/>
            <a:ext cx="8928100" cy="353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marL="342900" indent="-342900" eaLnBrk="0" fontAlgn="b" hangingPunct="0">
              <a:lnSpc>
                <a:spcPts val="3300"/>
              </a:lnSpc>
              <a:buClr>
                <a:srgbClr val="1F497D"/>
              </a:buClr>
              <a:defRPr/>
            </a:pPr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EDA Results – 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Categorical Variables (2/3)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A4A3AF-16C5-EF43-CC94-5659B352F566}"/>
              </a:ext>
            </a:extLst>
          </p:cNvPr>
          <p:cNvSpPr txBox="1"/>
          <p:nvPr/>
        </p:nvSpPr>
        <p:spPr>
          <a:xfrm>
            <a:off x="6936782" y="526127"/>
            <a:ext cx="2610897" cy="235193"/>
          </a:xfrm>
          <a:prstGeom prst="rect">
            <a:avLst/>
          </a:prstGeom>
          <a:noFill/>
        </p:spPr>
        <p:txBody>
          <a:bodyPr wrap="square" lIns="54610" tIns="54610" rIns="54610" bIns="54610" rtlCol="0">
            <a:noAutofit/>
          </a:bodyPr>
          <a:lstStyle/>
          <a:p>
            <a:pPr marL="0" indent="0" algn="r">
              <a:spcAft>
                <a:spcPts val="600"/>
              </a:spcAft>
              <a:buNone/>
            </a:pPr>
            <a:r>
              <a:rPr lang="en-US" altLang="ko-KR" sz="1000" b="1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32BBF7-E3D7-42C5-2EA9-C6C9265E00F3}"/>
              </a:ext>
            </a:extLst>
          </p:cNvPr>
          <p:cNvSpPr txBox="1"/>
          <p:nvPr/>
        </p:nvSpPr>
        <p:spPr>
          <a:xfrm>
            <a:off x="705699" y="3753843"/>
            <a:ext cx="3095252" cy="219017"/>
          </a:xfrm>
          <a:prstGeom prst="rect">
            <a:avLst/>
          </a:prstGeom>
          <a:solidFill>
            <a:srgbClr val="00338D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Marital Status</a:t>
            </a: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26" name="사각형: 잘린 위쪽 모서리 25">
            <a:extLst>
              <a:ext uri="{FF2B5EF4-FFF2-40B4-BE49-F238E27FC236}">
                <a16:creationId xmlns:a16="http://schemas.microsoft.com/office/drawing/2014/main" id="{34565E4E-17F2-3BB1-A453-5A3E91D91E3B}"/>
              </a:ext>
            </a:extLst>
          </p:cNvPr>
          <p:cNvSpPr/>
          <p:nvPr/>
        </p:nvSpPr>
        <p:spPr>
          <a:xfrm rot="16200000">
            <a:off x="483767" y="3750930"/>
            <a:ext cx="220245" cy="223618"/>
          </a:xfrm>
          <a:prstGeom prst="snip2SameRect">
            <a:avLst>
              <a:gd name="adj1" fmla="val 11343"/>
              <a:gd name="adj2" fmla="val 0"/>
            </a:avLst>
          </a:prstGeom>
          <a:solidFill>
            <a:srgbClr val="002060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13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BC536F0-3759-D16D-6F63-A8D137021C6B}"/>
              </a:ext>
            </a:extLst>
          </p:cNvPr>
          <p:cNvSpPr/>
          <p:nvPr/>
        </p:nvSpPr>
        <p:spPr>
          <a:xfrm>
            <a:off x="488950" y="3748457"/>
            <a:ext cx="221189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Aptos" panose="020B0004020202020204" pitchFamily="34" charset="0"/>
              </a:rPr>
              <a:t>7</a:t>
            </a:r>
            <a:endParaRPr lang="ko-KR" altLang="en-US" sz="900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7" name="Rectangle 28">
            <a:extLst>
              <a:ext uri="{FF2B5EF4-FFF2-40B4-BE49-F238E27FC236}">
                <a16:creationId xmlns:a16="http://schemas.microsoft.com/office/drawing/2014/main" id="{B8E59492-8AFA-BA9E-C3B0-F66830356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126" y="946206"/>
            <a:ext cx="8928100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buClr>
                <a:srgbClr val="00338D"/>
              </a:buClr>
              <a:buSzPct val="90000"/>
            </a:pP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Three categorical variables (Business Travel, Education, and Marital Status) were selected based on observed differences in attrition rates across categories.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E415D11-A131-DD28-A961-B418557AFA1B}"/>
              </a:ext>
            </a:extLst>
          </p:cNvPr>
          <p:cNvSpPr/>
          <p:nvPr/>
        </p:nvSpPr>
        <p:spPr>
          <a:xfrm>
            <a:off x="488949" y="4037633"/>
            <a:ext cx="3312000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Employees who are single (26.0%) tend to have higher attrition rates.</a:t>
            </a:r>
            <a:endParaRPr lang="ko-KR" altLang="en-US" sz="1000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34D50D1-463A-C971-0A6A-03EEEF811102}"/>
              </a:ext>
            </a:extLst>
          </p:cNvPr>
          <p:cNvSpPr txBox="1"/>
          <p:nvPr/>
        </p:nvSpPr>
        <p:spPr>
          <a:xfrm>
            <a:off x="705701" y="1431398"/>
            <a:ext cx="3095252" cy="219017"/>
          </a:xfrm>
          <a:prstGeom prst="rect">
            <a:avLst/>
          </a:prstGeom>
          <a:solidFill>
            <a:srgbClr val="00338D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ko-KR" sz="12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Travel</a:t>
            </a: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46" name="사각형: 잘린 위쪽 모서리 45">
            <a:extLst>
              <a:ext uri="{FF2B5EF4-FFF2-40B4-BE49-F238E27FC236}">
                <a16:creationId xmlns:a16="http://schemas.microsoft.com/office/drawing/2014/main" id="{D96A5287-E70A-D826-DE15-9232097F4C48}"/>
              </a:ext>
            </a:extLst>
          </p:cNvPr>
          <p:cNvSpPr/>
          <p:nvPr/>
        </p:nvSpPr>
        <p:spPr>
          <a:xfrm rot="16200000">
            <a:off x="483769" y="1428485"/>
            <a:ext cx="220245" cy="223618"/>
          </a:xfrm>
          <a:prstGeom prst="snip2SameRect">
            <a:avLst>
              <a:gd name="adj1" fmla="val 11343"/>
              <a:gd name="adj2" fmla="val 0"/>
            </a:avLst>
          </a:prstGeom>
          <a:solidFill>
            <a:srgbClr val="002060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13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083E7A2-B8F3-D489-0187-F61FA1EC1A69}"/>
              </a:ext>
            </a:extLst>
          </p:cNvPr>
          <p:cNvSpPr/>
          <p:nvPr/>
        </p:nvSpPr>
        <p:spPr>
          <a:xfrm>
            <a:off x="488952" y="1426012"/>
            <a:ext cx="221189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Aptos" panose="020B0004020202020204" pitchFamily="34" charset="0"/>
              </a:rPr>
              <a:t>5</a:t>
            </a:r>
            <a:endParaRPr lang="ko-KR" altLang="en-US" sz="900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FF03B5A-6893-67CB-DB46-3970EAE2F577}"/>
              </a:ext>
            </a:extLst>
          </p:cNvPr>
          <p:cNvSpPr/>
          <p:nvPr/>
        </p:nvSpPr>
        <p:spPr>
          <a:xfrm>
            <a:off x="482080" y="1713772"/>
            <a:ext cx="3312000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Employees who travel the most (22.2%) tend to have higher attrition rates.</a:t>
            </a:r>
            <a:endParaRPr lang="ko-KR" altLang="en-US" sz="1000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F3F087-D87C-6D44-8D80-AE304FAD0BCC}"/>
              </a:ext>
            </a:extLst>
          </p:cNvPr>
          <p:cNvSpPr txBox="1"/>
          <p:nvPr/>
        </p:nvSpPr>
        <p:spPr>
          <a:xfrm>
            <a:off x="4093184" y="1431398"/>
            <a:ext cx="3091816" cy="219017"/>
          </a:xfrm>
          <a:prstGeom prst="rect">
            <a:avLst/>
          </a:prstGeom>
          <a:solidFill>
            <a:srgbClr val="00338D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ko-KR" sz="12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16" name="사각형: 잘린 위쪽 모서리 15">
            <a:extLst>
              <a:ext uri="{FF2B5EF4-FFF2-40B4-BE49-F238E27FC236}">
                <a16:creationId xmlns:a16="http://schemas.microsoft.com/office/drawing/2014/main" id="{68AF891F-9402-E44C-530A-6969815FC8BC}"/>
              </a:ext>
            </a:extLst>
          </p:cNvPr>
          <p:cNvSpPr/>
          <p:nvPr/>
        </p:nvSpPr>
        <p:spPr>
          <a:xfrm rot="16200000">
            <a:off x="3871252" y="1428485"/>
            <a:ext cx="220245" cy="223618"/>
          </a:xfrm>
          <a:prstGeom prst="snip2SameRect">
            <a:avLst>
              <a:gd name="adj1" fmla="val 11343"/>
              <a:gd name="adj2" fmla="val 0"/>
            </a:avLst>
          </a:prstGeom>
          <a:solidFill>
            <a:srgbClr val="002060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13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9736AB8-45A6-6AB9-CACC-28BF48B37437}"/>
              </a:ext>
            </a:extLst>
          </p:cNvPr>
          <p:cNvSpPr/>
          <p:nvPr/>
        </p:nvSpPr>
        <p:spPr>
          <a:xfrm>
            <a:off x="3876435" y="1426012"/>
            <a:ext cx="221189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Aptos" panose="020B0004020202020204" pitchFamily="34" charset="0"/>
              </a:rPr>
              <a:t>6</a:t>
            </a:r>
            <a:endParaRPr lang="ko-KR" altLang="en-US" sz="900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DF1173D-D800-2029-AFB8-93C43200AABD}"/>
              </a:ext>
            </a:extLst>
          </p:cNvPr>
          <p:cNvSpPr/>
          <p:nvPr/>
        </p:nvSpPr>
        <p:spPr>
          <a:xfrm>
            <a:off x="3869565" y="1713772"/>
            <a:ext cx="3312000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Employees with lower education levels (18.4%) tend to have higher attrition rates.</a:t>
            </a:r>
            <a:endParaRPr lang="ko-KR" altLang="en-US" sz="1000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FC6B18-9EBC-2ECD-576C-E6315FC89E79}"/>
              </a:ext>
            </a:extLst>
          </p:cNvPr>
          <p:cNvSpPr txBox="1"/>
          <p:nvPr/>
        </p:nvSpPr>
        <p:spPr>
          <a:xfrm>
            <a:off x="7257050" y="1648998"/>
            <a:ext cx="2159998" cy="4372389"/>
          </a:xfrm>
          <a:prstGeom prst="rect">
            <a:avLst/>
          </a:prstGeom>
          <a:solidFill>
            <a:srgbClr val="F2F9FF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71186D-D179-96F0-6433-93D8464897DD}"/>
              </a:ext>
            </a:extLst>
          </p:cNvPr>
          <p:cNvSpPr txBox="1"/>
          <p:nvPr/>
        </p:nvSpPr>
        <p:spPr>
          <a:xfrm>
            <a:off x="7257051" y="1422400"/>
            <a:ext cx="2159998" cy="228015"/>
          </a:xfrm>
          <a:prstGeom prst="snip2SameRect">
            <a:avLst>
              <a:gd name="adj1" fmla="val 10144"/>
              <a:gd name="adj2" fmla="val 0"/>
            </a:avLst>
          </a:prstGeom>
          <a:solidFill>
            <a:srgbClr val="002060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Key Findings</a:t>
            </a: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pic>
        <p:nvPicPr>
          <p:cNvPr id="51" name="그래픽 50" descr="전구 단색으로 채워진">
            <a:extLst>
              <a:ext uri="{FF2B5EF4-FFF2-40B4-BE49-F238E27FC236}">
                <a16:creationId xmlns:a16="http://schemas.microsoft.com/office/drawing/2014/main" id="{22C1369C-E0DA-245B-F7ED-108598AC8E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91228" y="1448775"/>
            <a:ext cx="180000" cy="180000"/>
          </a:xfrm>
          <a:prstGeom prst="rect">
            <a:avLst/>
          </a:prstGeom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3CA1A1A6-C28E-2142-4DDD-F238292BA1A7}"/>
              </a:ext>
            </a:extLst>
          </p:cNvPr>
          <p:cNvSpPr/>
          <p:nvPr/>
        </p:nvSpPr>
        <p:spPr>
          <a:xfrm>
            <a:off x="7291228" y="2091659"/>
            <a:ext cx="2074323" cy="93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Higher attrition among frequent business travelers may reflect travel-related fatigue, work-life conflicts, or differences in responsibilities associated with travel-intensive roles.</a:t>
            </a:r>
            <a:endParaRPr lang="ko-KR" altLang="en-US" sz="1000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7FF7D2F-97CC-EB8C-8D7F-3ED14782A671}"/>
              </a:ext>
            </a:extLst>
          </p:cNvPr>
          <p:cNvSpPr/>
          <p:nvPr/>
        </p:nvSpPr>
        <p:spPr>
          <a:xfrm>
            <a:off x="7291228" y="3578413"/>
            <a:ext cx="2074323" cy="93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Differences in attrition across education levels may reflect variations in job assignments, career development opportunities, or employee-job fit rather than education alone.</a:t>
            </a:r>
            <a:endParaRPr lang="ko-KR" altLang="en-US" sz="1000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4D82C21-AA14-75A1-AB3C-823405EE0E31}"/>
              </a:ext>
            </a:extLst>
          </p:cNvPr>
          <p:cNvSpPr/>
          <p:nvPr/>
        </p:nvSpPr>
        <p:spPr>
          <a:xfrm>
            <a:off x="7291227" y="5065167"/>
            <a:ext cx="2088000" cy="93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Higher attrition among single employees may reflect differences in age, organizational tenure, career mobility, or personal circumstances across marital status groups.</a:t>
            </a:r>
            <a:endParaRPr lang="ko-KR" altLang="en-US" sz="1000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85DEB8A-346B-197F-06C5-FCE5020664CE}"/>
              </a:ext>
            </a:extLst>
          </p:cNvPr>
          <p:cNvSpPr/>
          <p:nvPr/>
        </p:nvSpPr>
        <p:spPr>
          <a:xfrm rot="10800000">
            <a:off x="488952" y="1791467"/>
            <a:ext cx="221189" cy="19016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54000" tIns="54000" rIns="54000" bIns="54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ptos" panose="020B0004020202020204" pitchFamily="34" charset="0"/>
              </a:rPr>
              <a:t>Attrition Rate (%)</a:t>
            </a:r>
            <a:endParaRPr lang="ko-KR" altLang="en-US" sz="900" dirty="0" err="1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5EB61EB-C5D7-F873-BB2A-DE43C15F14CD}"/>
              </a:ext>
            </a:extLst>
          </p:cNvPr>
          <p:cNvSpPr/>
          <p:nvPr/>
        </p:nvSpPr>
        <p:spPr>
          <a:xfrm rot="10800000">
            <a:off x="488952" y="4114332"/>
            <a:ext cx="221189" cy="19016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54000" tIns="54000" rIns="54000" bIns="54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ptos" panose="020B0004020202020204" pitchFamily="34" charset="0"/>
              </a:rPr>
              <a:t>Attrition Rate (%)</a:t>
            </a:r>
            <a:endParaRPr lang="ko-KR" altLang="en-US" sz="900" dirty="0" err="1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257195D-B262-0702-72B3-A238C3781216}"/>
              </a:ext>
            </a:extLst>
          </p:cNvPr>
          <p:cNvSpPr/>
          <p:nvPr/>
        </p:nvSpPr>
        <p:spPr>
          <a:xfrm rot="10800000">
            <a:off x="3875429" y="1791467"/>
            <a:ext cx="221189" cy="19016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54000" tIns="54000" rIns="54000" bIns="54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ptos" panose="020B0004020202020204" pitchFamily="34" charset="0"/>
              </a:rPr>
              <a:t>Attrition Rate (%)</a:t>
            </a:r>
            <a:endParaRPr lang="ko-KR" altLang="en-US" sz="900" dirty="0" err="1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FF02E725-0CD6-4E82-932A-233681C23CDD}"/>
              </a:ext>
            </a:extLst>
          </p:cNvPr>
          <p:cNvSpPr/>
          <p:nvPr/>
        </p:nvSpPr>
        <p:spPr>
          <a:xfrm>
            <a:off x="7291228" y="1680103"/>
            <a:ext cx="2125820" cy="2723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r>
              <a:rPr lang="en-US" altLang="ko-KR" sz="1000" b="1" dirty="0">
                <a:solidFill>
                  <a:srgbClr val="00338D"/>
                </a:solidFill>
                <a:latin typeface="Aptos" panose="020B0004020202020204" pitchFamily="34" charset="0"/>
              </a:rPr>
              <a:t>Travel-Related Work Demands</a:t>
            </a:r>
            <a:endParaRPr lang="ko-KR" altLang="en-US" sz="1000" b="1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00C09A30-C668-2083-82D9-0C48276FDC16}"/>
              </a:ext>
            </a:extLst>
          </p:cNvPr>
          <p:cNvSpPr/>
          <p:nvPr/>
        </p:nvSpPr>
        <p:spPr>
          <a:xfrm>
            <a:off x="7291228" y="3166857"/>
            <a:ext cx="2125820" cy="2723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r>
              <a:rPr lang="en-US" altLang="ko-KR" sz="1000" b="1" dirty="0">
                <a:solidFill>
                  <a:srgbClr val="00338D"/>
                </a:solidFill>
                <a:latin typeface="Aptos" panose="020B0004020202020204" pitchFamily="34" charset="0"/>
              </a:rPr>
              <a:t>Career Opportunities and Job Fit</a:t>
            </a:r>
            <a:endParaRPr lang="ko-KR" altLang="en-US" sz="1000" b="1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1C32A330-8B05-1FA0-688E-91824579942B}"/>
              </a:ext>
            </a:extLst>
          </p:cNvPr>
          <p:cNvSpPr/>
          <p:nvPr/>
        </p:nvSpPr>
        <p:spPr>
          <a:xfrm>
            <a:off x="7291228" y="4653611"/>
            <a:ext cx="2125820" cy="2723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r>
              <a:rPr lang="en-US" altLang="ko-KR" sz="1000" b="1" dirty="0">
                <a:solidFill>
                  <a:srgbClr val="00338D"/>
                </a:solidFill>
                <a:latin typeface="Aptos" panose="020B0004020202020204" pitchFamily="34" charset="0"/>
              </a:rPr>
              <a:t>Employee Mobility and Life Circumstances</a:t>
            </a:r>
            <a:endParaRPr lang="ko-KR" altLang="en-US" sz="1000" b="1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416B7390-27AA-4429-9AD2-6040252E8D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6442181"/>
              </p:ext>
            </p:extLst>
          </p:nvPr>
        </p:nvGraphicFramePr>
        <p:xfrm>
          <a:off x="705698" y="2009488"/>
          <a:ext cx="3095252" cy="16907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416B7390-27AA-4429-9AD2-6040252E8D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0305768"/>
              </p:ext>
            </p:extLst>
          </p:nvPr>
        </p:nvGraphicFramePr>
        <p:xfrm>
          <a:off x="4091466" y="2004599"/>
          <a:ext cx="3095252" cy="16907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C5BD5ED2-9125-4245-8E84-8BA5125635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2911758"/>
              </p:ext>
            </p:extLst>
          </p:nvPr>
        </p:nvGraphicFramePr>
        <p:xfrm>
          <a:off x="698828" y="4325574"/>
          <a:ext cx="3095252" cy="16907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3122312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22" grpId="0" animBg="1"/>
      <p:bldP spid="42" grpId="0" animBg="1"/>
      <p:bldP spid="23" grpId="0" animBg="1"/>
      <p:bldP spid="25" grpId="0" animBg="1"/>
      <p:bldP spid="26" grpId="0" animBg="1"/>
      <p:bldP spid="34" grpId="0"/>
      <p:bldP spid="8" grpId="0"/>
      <p:bldP spid="45" grpId="0" animBg="1"/>
      <p:bldP spid="46" grpId="0" animBg="1"/>
      <p:bldP spid="48" grpId="0"/>
      <p:bldP spid="49" grpId="0"/>
      <p:bldP spid="14" grpId="0" animBg="1"/>
      <p:bldP spid="16" grpId="0" animBg="1"/>
      <p:bldP spid="17" grpId="0"/>
      <p:bldP spid="18" grpId="0"/>
      <p:bldP spid="19" grpId="0" animBg="1"/>
      <p:bldP spid="20" grpId="0" animBg="1"/>
      <p:bldP spid="52" grpId="0"/>
      <p:bldP spid="53" grpId="0"/>
      <p:bldP spid="54" grpId="0"/>
      <p:bldP spid="57" grpId="0"/>
      <p:bldP spid="59" grpId="0"/>
      <p:bldP spid="60" grpId="0"/>
      <p:bldP spid="64" grpId="0"/>
      <p:bldP spid="71" grpId="0"/>
      <p:bldP spid="72" grpId="0"/>
      <p:bldGraphic spid="4" grpId="0">
        <p:bldAsOne/>
      </p:bldGraphic>
      <p:bldGraphic spid="5" grpId="0">
        <p:bldAsOne/>
      </p:bldGraphic>
      <p:bldGraphic spid="6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45E70-9AC2-7341-04FA-C7638953C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D0F13BB1-8D1A-F704-0D2D-FEFDCC4676B6}"/>
              </a:ext>
            </a:extLst>
          </p:cNvPr>
          <p:cNvSpPr txBox="1"/>
          <p:nvPr/>
        </p:nvSpPr>
        <p:spPr>
          <a:xfrm>
            <a:off x="488951" y="3967474"/>
            <a:ext cx="6696049" cy="2048528"/>
          </a:xfrm>
          <a:prstGeom prst="rect">
            <a:avLst/>
          </a:prstGeom>
          <a:noFill/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7F6735-7716-9928-E9E8-F9967DC27131}"/>
              </a:ext>
            </a:extLst>
          </p:cNvPr>
          <p:cNvSpPr txBox="1"/>
          <p:nvPr/>
        </p:nvSpPr>
        <p:spPr>
          <a:xfrm>
            <a:off x="488951" y="1648999"/>
            <a:ext cx="6696049" cy="2048528"/>
          </a:xfrm>
          <a:prstGeom prst="rect">
            <a:avLst/>
          </a:prstGeom>
          <a:noFill/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3" name="Rectangle 39">
            <a:extLst>
              <a:ext uri="{FF2B5EF4-FFF2-40B4-BE49-F238E27FC236}">
                <a16:creationId xmlns:a16="http://schemas.microsoft.com/office/drawing/2014/main" id="{6DAC87CF-C1B0-6EBC-0C15-5D4BC643C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67168"/>
            <a:ext cx="8928100" cy="353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marL="342900" indent="-342900" eaLnBrk="0" fontAlgn="b" hangingPunct="0">
              <a:lnSpc>
                <a:spcPts val="3300"/>
              </a:lnSpc>
              <a:buClr>
                <a:srgbClr val="1F497D"/>
              </a:buClr>
              <a:defRPr/>
            </a:pPr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EDA Results – 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Categorical Variables (3/3)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A8A67E-31D7-9628-DEBD-96F88AA9493A}"/>
              </a:ext>
            </a:extLst>
          </p:cNvPr>
          <p:cNvSpPr txBox="1"/>
          <p:nvPr/>
        </p:nvSpPr>
        <p:spPr>
          <a:xfrm>
            <a:off x="6936782" y="526127"/>
            <a:ext cx="2610897" cy="235193"/>
          </a:xfrm>
          <a:prstGeom prst="rect">
            <a:avLst/>
          </a:prstGeom>
          <a:noFill/>
        </p:spPr>
        <p:txBody>
          <a:bodyPr wrap="square" lIns="54610" tIns="54610" rIns="54610" bIns="54610" rtlCol="0">
            <a:noAutofit/>
          </a:bodyPr>
          <a:lstStyle/>
          <a:p>
            <a:pPr marL="0" indent="0" algn="r">
              <a:spcAft>
                <a:spcPts val="600"/>
              </a:spcAft>
              <a:buNone/>
            </a:pPr>
            <a:r>
              <a:rPr lang="en-US" altLang="ko-KR" sz="1000" b="1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48AF2F-EC19-ECD0-2B8C-42BFC2E474C1}"/>
              </a:ext>
            </a:extLst>
          </p:cNvPr>
          <p:cNvSpPr txBox="1"/>
          <p:nvPr/>
        </p:nvSpPr>
        <p:spPr>
          <a:xfrm>
            <a:off x="705699" y="3753843"/>
            <a:ext cx="6479302" cy="219017"/>
          </a:xfrm>
          <a:prstGeom prst="rect">
            <a:avLst/>
          </a:prstGeom>
          <a:solidFill>
            <a:srgbClr val="00338D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ko-KR" sz="12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</a:t>
            </a: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26" name="사각형: 잘린 위쪽 모서리 25">
            <a:extLst>
              <a:ext uri="{FF2B5EF4-FFF2-40B4-BE49-F238E27FC236}">
                <a16:creationId xmlns:a16="http://schemas.microsoft.com/office/drawing/2014/main" id="{EF86D173-DE6D-3BFE-1153-BD9237294D21}"/>
              </a:ext>
            </a:extLst>
          </p:cNvPr>
          <p:cNvSpPr/>
          <p:nvPr/>
        </p:nvSpPr>
        <p:spPr>
          <a:xfrm rot="16200000">
            <a:off x="483767" y="3750930"/>
            <a:ext cx="220245" cy="223618"/>
          </a:xfrm>
          <a:prstGeom prst="snip2SameRect">
            <a:avLst>
              <a:gd name="adj1" fmla="val 11343"/>
              <a:gd name="adj2" fmla="val 0"/>
            </a:avLst>
          </a:prstGeom>
          <a:solidFill>
            <a:srgbClr val="002060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13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99621F2-ED7C-6AF5-F60D-55C475F9926E}"/>
              </a:ext>
            </a:extLst>
          </p:cNvPr>
          <p:cNvSpPr/>
          <p:nvPr/>
        </p:nvSpPr>
        <p:spPr>
          <a:xfrm>
            <a:off x="488950" y="3748457"/>
            <a:ext cx="221189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Aptos" panose="020B0004020202020204" pitchFamily="34" charset="0"/>
              </a:rPr>
              <a:t>9</a:t>
            </a:r>
            <a:endParaRPr lang="ko-KR" altLang="en-US" sz="900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7" name="Rectangle 28">
            <a:extLst>
              <a:ext uri="{FF2B5EF4-FFF2-40B4-BE49-F238E27FC236}">
                <a16:creationId xmlns:a16="http://schemas.microsoft.com/office/drawing/2014/main" id="{ADD4D713-5F0C-3F6B-FB41-DF0229F6D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126" y="946206"/>
            <a:ext cx="8928100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buClr>
                <a:srgbClr val="00338D"/>
              </a:buClr>
              <a:buSzPct val="90000"/>
            </a:pP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 role and department show meaningful differences in employee attrition rates, with highest in Sales Representatives roles and </a:t>
            </a:r>
            <a:b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department.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A86C91F-48C0-D17E-334A-0E7BAAB0438E}"/>
              </a:ext>
            </a:extLst>
          </p:cNvPr>
          <p:cNvSpPr/>
          <p:nvPr/>
        </p:nvSpPr>
        <p:spPr>
          <a:xfrm>
            <a:off x="488948" y="4037633"/>
            <a:ext cx="6709733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The Sales department has the highest attrition rate (21.6%), compared with 13.3% in R&amp;D.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050BED-6C8E-C26E-9C3E-B43D474733AF}"/>
              </a:ext>
            </a:extLst>
          </p:cNvPr>
          <p:cNvSpPr txBox="1"/>
          <p:nvPr/>
        </p:nvSpPr>
        <p:spPr>
          <a:xfrm>
            <a:off x="705701" y="1431398"/>
            <a:ext cx="6479299" cy="219017"/>
          </a:xfrm>
          <a:prstGeom prst="rect">
            <a:avLst/>
          </a:prstGeom>
          <a:solidFill>
            <a:srgbClr val="00338D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ko-KR" sz="12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 Role</a:t>
            </a: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46" name="사각형: 잘린 위쪽 모서리 45">
            <a:extLst>
              <a:ext uri="{FF2B5EF4-FFF2-40B4-BE49-F238E27FC236}">
                <a16:creationId xmlns:a16="http://schemas.microsoft.com/office/drawing/2014/main" id="{0C59BA09-2BB5-1092-2B2D-37F0DB2A1CFD}"/>
              </a:ext>
            </a:extLst>
          </p:cNvPr>
          <p:cNvSpPr/>
          <p:nvPr/>
        </p:nvSpPr>
        <p:spPr>
          <a:xfrm rot="16200000">
            <a:off x="483769" y="1428485"/>
            <a:ext cx="220245" cy="223618"/>
          </a:xfrm>
          <a:prstGeom prst="snip2SameRect">
            <a:avLst>
              <a:gd name="adj1" fmla="val 11343"/>
              <a:gd name="adj2" fmla="val 0"/>
            </a:avLst>
          </a:prstGeom>
          <a:solidFill>
            <a:srgbClr val="002060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13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49057FA-EF4E-B346-261E-D8A4784BD0B3}"/>
              </a:ext>
            </a:extLst>
          </p:cNvPr>
          <p:cNvSpPr/>
          <p:nvPr/>
        </p:nvSpPr>
        <p:spPr>
          <a:xfrm>
            <a:off x="488952" y="1426012"/>
            <a:ext cx="221189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Aptos" panose="020B0004020202020204" pitchFamily="34" charset="0"/>
              </a:rPr>
              <a:t>8</a:t>
            </a:r>
            <a:endParaRPr lang="ko-KR" altLang="en-US" sz="900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1845C64-BBB4-5577-02F8-0667B0EFB4F1}"/>
              </a:ext>
            </a:extLst>
          </p:cNvPr>
          <p:cNvSpPr/>
          <p:nvPr/>
        </p:nvSpPr>
        <p:spPr>
          <a:xfrm>
            <a:off x="482080" y="1713772"/>
            <a:ext cx="6716602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Sales Representatives have the highest attrition rate (45.3%), compared with 16.1% overall.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7868CA-6F3D-3911-EE77-E45AAEEE137C}"/>
              </a:ext>
            </a:extLst>
          </p:cNvPr>
          <p:cNvSpPr txBox="1"/>
          <p:nvPr/>
        </p:nvSpPr>
        <p:spPr>
          <a:xfrm>
            <a:off x="7257050" y="1648998"/>
            <a:ext cx="2159998" cy="4372389"/>
          </a:xfrm>
          <a:prstGeom prst="rect">
            <a:avLst/>
          </a:prstGeom>
          <a:solidFill>
            <a:srgbClr val="F2F9FF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5CF33B-57FC-880F-7D67-5BEC13410B23}"/>
              </a:ext>
            </a:extLst>
          </p:cNvPr>
          <p:cNvSpPr txBox="1"/>
          <p:nvPr/>
        </p:nvSpPr>
        <p:spPr>
          <a:xfrm>
            <a:off x="7257051" y="1422400"/>
            <a:ext cx="2159998" cy="228015"/>
          </a:xfrm>
          <a:prstGeom prst="snip2SameRect">
            <a:avLst>
              <a:gd name="adj1" fmla="val 10144"/>
              <a:gd name="adj2" fmla="val 0"/>
            </a:avLst>
          </a:prstGeom>
          <a:solidFill>
            <a:srgbClr val="002060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Key Findings</a:t>
            </a: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62E3623-6C83-0934-34D7-EC589568E2DF}"/>
              </a:ext>
            </a:extLst>
          </p:cNvPr>
          <p:cNvSpPr/>
          <p:nvPr/>
        </p:nvSpPr>
        <p:spPr>
          <a:xfrm>
            <a:off x="7291228" y="1997754"/>
            <a:ext cx="2074323" cy="93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Higher attrition among Sales Representatives may reflect differences in performance pressure, workload, and customer-facing responsibilities associated with sales roles.</a:t>
            </a:r>
            <a:endParaRPr lang="ko-KR" altLang="en-US" sz="1000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473B107-97C4-E739-C320-BC250B1BBBE3}"/>
              </a:ext>
            </a:extLst>
          </p:cNvPr>
          <p:cNvSpPr/>
          <p:nvPr/>
        </p:nvSpPr>
        <p:spPr>
          <a:xfrm>
            <a:off x="7291228" y="3296698"/>
            <a:ext cx="2074323" cy="10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Differences in attrition across departments may reflect variations in working conditions, management practices, performance expectations, or career development opportunities.</a:t>
            </a:r>
            <a:endParaRPr lang="ko-KR" altLang="en-US" sz="1000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FFCC7C9-3A66-871F-A75F-D1D709C94A18}"/>
              </a:ext>
            </a:extLst>
          </p:cNvPr>
          <p:cNvSpPr/>
          <p:nvPr/>
        </p:nvSpPr>
        <p:spPr>
          <a:xfrm>
            <a:off x="7291228" y="4739640"/>
            <a:ext cx="2125820" cy="1221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The substantially higher attrition rate among Sales Representatives (45.3%) compared with the overall Sales department (21.6%) suggests that turnover may be concentrated in specific job roles within the department.</a:t>
            </a:r>
            <a:endParaRPr lang="ko-KR" altLang="en-US" sz="1000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32746CD-01CB-9AF0-A297-5A7CE960FB4D}"/>
              </a:ext>
            </a:extLst>
          </p:cNvPr>
          <p:cNvSpPr/>
          <p:nvPr/>
        </p:nvSpPr>
        <p:spPr>
          <a:xfrm rot="10800000">
            <a:off x="488952" y="1791467"/>
            <a:ext cx="221189" cy="19016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54000" tIns="54000" rIns="54000" bIns="54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ptos" panose="020B0004020202020204" pitchFamily="34" charset="0"/>
              </a:rPr>
              <a:t>Attrition Rate (%)</a:t>
            </a:r>
            <a:endParaRPr lang="ko-KR" altLang="en-US" sz="900" dirty="0" err="1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203919A-9D5F-9585-D022-2F950A670305}"/>
              </a:ext>
            </a:extLst>
          </p:cNvPr>
          <p:cNvSpPr/>
          <p:nvPr/>
        </p:nvSpPr>
        <p:spPr>
          <a:xfrm rot="10800000">
            <a:off x="488952" y="4114332"/>
            <a:ext cx="221189" cy="19016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54000" tIns="54000" rIns="54000" bIns="5400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ptos" panose="020B0004020202020204" pitchFamily="34" charset="0"/>
              </a:rPr>
              <a:t>Attrition Rate (%)</a:t>
            </a:r>
            <a:endParaRPr lang="ko-KR" altLang="en-US" sz="900" dirty="0" err="1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C59756BF-5F42-04A3-C726-D77CA23C65D4}"/>
              </a:ext>
            </a:extLst>
          </p:cNvPr>
          <p:cNvSpPr/>
          <p:nvPr/>
        </p:nvSpPr>
        <p:spPr>
          <a:xfrm>
            <a:off x="7291228" y="1680103"/>
            <a:ext cx="2125820" cy="2723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r>
              <a:rPr lang="en-US" altLang="ko-KR" sz="1000" b="1" dirty="0">
                <a:solidFill>
                  <a:srgbClr val="00338D"/>
                </a:solidFill>
                <a:latin typeface="Aptos" panose="020B0004020202020204" pitchFamily="34" charset="0"/>
              </a:rPr>
              <a:t>Role-Specific Work Demands</a:t>
            </a:r>
            <a:endParaRPr lang="ko-KR" altLang="en-US" sz="1000" b="1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BC2E790-690F-76EE-7417-4B80FEED5CCD}"/>
              </a:ext>
            </a:extLst>
          </p:cNvPr>
          <p:cNvSpPr/>
          <p:nvPr/>
        </p:nvSpPr>
        <p:spPr>
          <a:xfrm>
            <a:off x="7291228" y="2979047"/>
            <a:ext cx="2125820" cy="2723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r>
              <a:rPr lang="en-US" altLang="ko-KR" sz="1000" b="1" dirty="0">
                <a:solidFill>
                  <a:srgbClr val="00338D"/>
                </a:solidFill>
                <a:latin typeface="Aptos" panose="020B0004020202020204" pitchFamily="34" charset="0"/>
              </a:rPr>
              <a:t>Departmental Work Environment</a:t>
            </a:r>
            <a:endParaRPr lang="ko-KR" altLang="en-US" sz="1000" b="1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1E13D975-4086-A8A9-F5FB-10BC1E8A1C26}"/>
              </a:ext>
            </a:extLst>
          </p:cNvPr>
          <p:cNvSpPr/>
          <p:nvPr/>
        </p:nvSpPr>
        <p:spPr>
          <a:xfrm>
            <a:off x="7291228" y="4421991"/>
            <a:ext cx="2125820" cy="2723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r>
              <a:rPr lang="en-US" altLang="ko-KR" sz="1000" b="1" dirty="0">
                <a:solidFill>
                  <a:srgbClr val="00338D"/>
                </a:solidFill>
                <a:latin typeface="Aptos" panose="020B0004020202020204" pitchFamily="34" charset="0"/>
              </a:rPr>
              <a:t>Role-Level Concentration</a:t>
            </a:r>
            <a:endParaRPr lang="ko-KR" altLang="en-US" sz="1000" b="1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8ECEFD37-DD4C-4841-959C-F736FCB57D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4287818"/>
              </p:ext>
            </p:extLst>
          </p:nvPr>
        </p:nvGraphicFramePr>
        <p:xfrm>
          <a:off x="712569" y="1983719"/>
          <a:ext cx="6486112" cy="17094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AB0D2E14-5E56-4277-95C5-A1EB31F1D6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4743555"/>
              </p:ext>
            </p:extLst>
          </p:nvPr>
        </p:nvGraphicFramePr>
        <p:xfrm>
          <a:off x="705695" y="4321421"/>
          <a:ext cx="6499855" cy="16945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26927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42" grpId="0" animBg="1"/>
      <p:bldP spid="25" grpId="0" animBg="1"/>
      <p:bldP spid="26" grpId="0" animBg="1"/>
      <p:bldP spid="34" grpId="0"/>
      <p:bldP spid="8" grpId="0"/>
      <p:bldP spid="45" grpId="0" animBg="1"/>
      <p:bldP spid="46" grpId="0" animBg="1"/>
      <p:bldP spid="48" grpId="0"/>
      <p:bldP spid="49" grpId="0"/>
      <p:bldP spid="19" grpId="0" animBg="1"/>
      <p:bldP spid="20" grpId="0" animBg="1"/>
      <p:bldP spid="52" grpId="0"/>
      <p:bldP spid="53" grpId="0"/>
      <p:bldP spid="54" grpId="0"/>
      <p:bldP spid="57" grpId="0"/>
      <p:bldP spid="59" grpId="0"/>
      <p:bldP spid="64" grpId="0"/>
      <p:bldP spid="71" grpId="0"/>
      <p:bldP spid="72" grpId="0"/>
      <p:bldGraphic spid="7" grpId="0">
        <p:bldAsOne/>
      </p:bldGraphic>
      <p:bldGraphic spid="9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C1F46-F282-8E20-7FE1-F82C906BF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>
            <a:extLst>
              <a:ext uri="{FF2B5EF4-FFF2-40B4-BE49-F238E27FC236}">
                <a16:creationId xmlns:a16="http://schemas.microsoft.com/office/drawing/2014/main" id="{7C154B7B-6459-0738-D112-425F0E4EAE56}"/>
              </a:ext>
            </a:extLst>
          </p:cNvPr>
          <p:cNvSpPr txBox="1"/>
          <p:nvPr/>
        </p:nvSpPr>
        <p:spPr>
          <a:xfrm>
            <a:off x="488951" y="3964780"/>
            <a:ext cx="3312000" cy="2048528"/>
          </a:xfrm>
          <a:prstGeom prst="rect">
            <a:avLst/>
          </a:prstGeom>
          <a:noFill/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2AE46F-9377-E83E-7A0E-BF996BF5CDFD}"/>
              </a:ext>
            </a:extLst>
          </p:cNvPr>
          <p:cNvSpPr txBox="1"/>
          <p:nvPr/>
        </p:nvSpPr>
        <p:spPr>
          <a:xfrm>
            <a:off x="488951" y="3967474"/>
            <a:ext cx="3312000" cy="2048528"/>
          </a:xfrm>
          <a:prstGeom prst="rect">
            <a:avLst/>
          </a:prstGeom>
          <a:noFill/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CEF287-A6D5-2334-8394-275D4472653D}"/>
              </a:ext>
            </a:extLst>
          </p:cNvPr>
          <p:cNvSpPr txBox="1"/>
          <p:nvPr/>
        </p:nvSpPr>
        <p:spPr>
          <a:xfrm>
            <a:off x="3873000" y="3967474"/>
            <a:ext cx="3312000" cy="2048528"/>
          </a:xfrm>
          <a:prstGeom prst="rect">
            <a:avLst/>
          </a:prstGeom>
          <a:noFill/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EE3B19-40CB-2867-A574-D1FDB9FDB3F5}"/>
              </a:ext>
            </a:extLst>
          </p:cNvPr>
          <p:cNvSpPr txBox="1"/>
          <p:nvPr/>
        </p:nvSpPr>
        <p:spPr>
          <a:xfrm>
            <a:off x="3873000" y="1648999"/>
            <a:ext cx="3312000" cy="2048528"/>
          </a:xfrm>
          <a:prstGeom prst="rect">
            <a:avLst/>
          </a:prstGeom>
          <a:noFill/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DE4BEA-1973-16A5-233F-205CE73623C2}"/>
              </a:ext>
            </a:extLst>
          </p:cNvPr>
          <p:cNvSpPr txBox="1"/>
          <p:nvPr/>
        </p:nvSpPr>
        <p:spPr>
          <a:xfrm>
            <a:off x="488951" y="1648999"/>
            <a:ext cx="3312000" cy="2048528"/>
          </a:xfrm>
          <a:prstGeom prst="rect">
            <a:avLst/>
          </a:prstGeom>
          <a:noFill/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122D6B7-5BFD-22CF-5E86-F9CBE583B6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87" b="9093"/>
          <a:stretch>
            <a:fillRect/>
          </a:stretch>
        </p:blipFill>
        <p:spPr>
          <a:xfrm>
            <a:off x="524209" y="1939872"/>
            <a:ext cx="3230548" cy="170380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1520E87-5260-4730-A93C-B4FF83A360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824" b="6716"/>
          <a:stretch>
            <a:fillRect/>
          </a:stretch>
        </p:blipFill>
        <p:spPr>
          <a:xfrm>
            <a:off x="3930945" y="1939871"/>
            <a:ext cx="3211296" cy="1703806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D738ACF8-B5A9-9272-8D6E-A838880A73B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656" b="9395"/>
          <a:stretch>
            <a:fillRect/>
          </a:stretch>
        </p:blipFill>
        <p:spPr>
          <a:xfrm>
            <a:off x="524208" y="4237420"/>
            <a:ext cx="3230547" cy="1716341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39EABC4-36A9-8889-9193-7339A66C47E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576" b="8656"/>
          <a:stretch>
            <a:fillRect/>
          </a:stretch>
        </p:blipFill>
        <p:spPr>
          <a:xfrm>
            <a:off x="3930945" y="4237421"/>
            <a:ext cx="3211296" cy="1716340"/>
          </a:xfrm>
          <a:prstGeom prst="rect">
            <a:avLst/>
          </a:prstGeom>
        </p:spPr>
      </p:pic>
      <p:sp>
        <p:nvSpPr>
          <p:cNvPr id="3" name="Rectangle 39">
            <a:extLst>
              <a:ext uri="{FF2B5EF4-FFF2-40B4-BE49-F238E27FC236}">
                <a16:creationId xmlns:a16="http://schemas.microsoft.com/office/drawing/2014/main" id="{0CB5BEAF-D235-FA77-77FC-26C9FD3C3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67168"/>
            <a:ext cx="8928100" cy="353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marL="342900" indent="-342900" eaLnBrk="0" fontAlgn="b" hangingPunct="0">
              <a:lnSpc>
                <a:spcPts val="3300"/>
              </a:lnSpc>
              <a:buClr>
                <a:srgbClr val="1F497D"/>
              </a:buClr>
              <a:defRPr/>
            </a:pPr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EDA Results – 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Numerical Variables (1/2)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4341D2-FE05-A25B-AAE6-2C98EF5E75E6}"/>
              </a:ext>
            </a:extLst>
          </p:cNvPr>
          <p:cNvSpPr txBox="1"/>
          <p:nvPr/>
        </p:nvSpPr>
        <p:spPr>
          <a:xfrm>
            <a:off x="6936782" y="526127"/>
            <a:ext cx="2610897" cy="235193"/>
          </a:xfrm>
          <a:prstGeom prst="rect">
            <a:avLst/>
          </a:prstGeom>
          <a:noFill/>
        </p:spPr>
        <p:txBody>
          <a:bodyPr wrap="square" lIns="54610" tIns="54610" rIns="54610" bIns="54610" rtlCol="0">
            <a:noAutofit/>
          </a:bodyPr>
          <a:lstStyle/>
          <a:p>
            <a:pPr marL="0" indent="0" algn="r">
              <a:spcAft>
                <a:spcPts val="600"/>
              </a:spcAft>
              <a:buNone/>
            </a:pPr>
            <a:r>
              <a:rPr lang="en-US" altLang="ko-KR" sz="1000" b="1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38FFC5-AC9D-DA73-294B-1114018E9161}"/>
              </a:ext>
            </a:extLst>
          </p:cNvPr>
          <p:cNvSpPr txBox="1"/>
          <p:nvPr/>
        </p:nvSpPr>
        <p:spPr>
          <a:xfrm>
            <a:off x="705699" y="3753843"/>
            <a:ext cx="3095252" cy="219017"/>
          </a:xfrm>
          <a:prstGeom prst="rect">
            <a:avLst/>
          </a:prstGeom>
          <a:solidFill>
            <a:srgbClr val="00338D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ko-KR" sz="12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Years in Current Role</a:t>
            </a: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26" name="사각형: 잘린 위쪽 모서리 25">
            <a:extLst>
              <a:ext uri="{FF2B5EF4-FFF2-40B4-BE49-F238E27FC236}">
                <a16:creationId xmlns:a16="http://schemas.microsoft.com/office/drawing/2014/main" id="{D189AE7D-E3AE-3900-C6B3-92D0432C6EE7}"/>
              </a:ext>
            </a:extLst>
          </p:cNvPr>
          <p:cNvSpPr/>
          <p:nvPr/>
        </p:nvSpPr>
        <p:spPr>
          <a:xfrm rot="16200000">
            <a:off x="483767" y="3750930"/>
            <a:ext cx="220245" cy="223618"/>
          </a:xfrm>
          <a:prstGeom prst="snip2SameRect">
            <a:avLst>
              <a:gd name="adj1" fmla="val 11343"/>
              <a:gd name="adj2" fmla="val 0"/>
            </a:avLst>
          </a:prstGeom>
          <a:solidFill>
            <a:srgbClr val="002060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13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052834E-9092-D42F-D1C2-AB34ABF68EA3}"/>
              </a:ext>
            </a:extLst>
          </p:cNvPr>
          <p:cNvSpPr/>
          <p:nvPr/>
        </p:nvSpPr>
        <p:spPr>
          <a:xfrm>
            <a:off x="488950" y="3748457"/>
            <a:ext cx="221189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lang="ko-KR" altLang="en-US" sz="900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7" name="Rectangle 28">
            <a:extLst>
              <a:ext uri="{FF2B5EF4-FFF2-40B4-BE49-F238E27FC236}">
                <a16:creationId xmlns:a16="http://schemas.microsoft.com/office/drawing/2014/main" id="{B7742C45-CFA6-A0E2-B049-8D7AF4FF9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126" y="946206"/>
            <a:ext cx="8928100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buClr>
                <a:srgbClr val="00338D"/>
              </a:buClr>
              <a:buSzPct val="90000"/>
            </a:pP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Four numerical variables (Total Working Years, Years at Company, Years in Current Role, and Years with Current Manager) were selected based on observed differences in their distributions by attrition.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5C574F6-4F7A-F7DA-751D-5E9DC57F60AB}"/>
              </a:ext>
            </a:extLst>
          </p:cNvPr>
          <p:cNvSpPr/>
          <p:nvPr/>
        </p:nvSpPr>
        <p:spPr>
          <a:xfrm>
            <a:off x="488949" y="4037633"/>
            <a:ext cx="3312000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Employees who left tend to have fewer years in current role.</a:t>
            </a:r>
            <a:endParaRPr lang="ko-KR" altLang="en-US" sz="1000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4E313BA-88EA-4FF6-1452-B0F49C8A612D}"/>
              </a:ext>
            </a:extLst>
          </p:cNvPr>
          <p:cNvSpPr txBox="1"/>
          <p:nvPr/>
        </p:nvSpPr>
        <p:spPr>
          <a:xfrm>
            <a:off x="705701" y="1431398"/>
            <a:ext cx="3095252" cy="219017"/>
          </a:xfrm>
          <a:prstGeom prst="rect">
            <a:avLst/>
          </a:prstGeom>
          <a:solidFill>
            <a:srgbClr val="00338D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ko-KR" sz="12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Working Years</a:t>
            </a: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46" name="사각형: 잘린 위쪽 모서리 45">
            <a:extLst>
              <a:ext uri="{FF2B5EF4-FFF2-40B4-BE49-F238E27FC236}">
                <a16:creationId xmlns:a16="http://schemas.microsoft.com/office/drawing/2014/main" id="{C1EC064C-A001-D1C6-3652-FC13C9445864}"/>
              </a:ext>
            </a:extLst>
          </p:cNvPr>
          <p:cNvSpPr/>
          <p:nvPr/>
        </p:nvSpPr>
        <p:spPr>
          <a:xfrm rot="16200000">
            <a:off x="483769" y="1428485"/>
            <a:ext cx="220245" cy="223618"/>
          </a:xfrm>
          <a:prstGeom prst="snip2SameRect">
            <a:avLst>
              <a:gd name="adj1" fmla="val 11343"/>
              <a:gd name="adj2" fmla="val 0"/>
            </a:avLst>
          </a:prstGeom>
          <a:solidFill>
            <a:srgbClr val="002060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13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453A906-E5AC-D1D0-E43D-903C08896274}"/>
              </a:ext>
            </a:extLst>
          </p:cNvPr>
          <p:cNvSpPr/>
          <p:nvPr/>
        </p:nvSpPr>
        <p:spPr>
          <a:xfrm>
            <a:off x="488952" y="1426012"/>
            <a:ext cx="221189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lang="ko-KR" altLang="en-US" sz="900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1265AB0-6126-8111-B3CA-F4BA516A375E}"/>
              </a:ext>
            </a:extLst>
          </p:cNvPr>
          <p:cNvSpPr/>
          <p:nvPr/>
        </p:nvSpPr>
        <p:spPr>
          <a:xfrm>
            <a:off x="482080" y="1713772"/>
            <a:ext cx="3312000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Employees who left tend to have fewer total working years. </a:t>
            </a:r>
            <a:endParaRPr lang="ko-KR" altLang="en-US" sz="1000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02CD32-A16C-CF49-FC42-1C8FBFA3E4F5}"/>
              </a:ext>
            </a:extLst>
          </p:cNvPr>
          <p:cNvSpPr txBox="1"/>
          <p:nvPr/>
        </p:nvSpPr>
        <p:spPr>
          <a:xfrm>
            <a:off x="4100053" y="3753843"/>
            <a:ext cx="3084947" cy="219017"/>
          </a:xfrm>
          <a:prstGeom prst="rect">
            <a:avLst/>
          </a:prstGeom>
          <a:solidFill>
            <a:srgbClr val="00338D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ko-KR" sz="12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Years with Current Manager</a:t>
            </a: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9" name="사각형: 잘린 위쪽 모서리 8">
            <a:extLst>
              <a:ext uri="{FF2B5EF4-FFF2-40B4-BE49-F238E27FC236}">
                <a16:creationId xmlns:a16="http://schemas.microsoft.com/office/drawing/2014/main" id="{91F880E1-9360-F0B0-15F1-FB67CF666770}"/>
              </a:ext>
            </a:extLst>
          </p:cNvPr>
          <p:cNvSpPr/>
          <p:nvPr/>
        </p:nvSpPr>
        <p:spPr>
          <a:xfrm rot="16200000">
            <a:off x="3878121" y="3750930"/>
            <a:ext cx="220245" cy="223618"/>
          </a:xfrm>
          <a:prstGeom prst="snip2SameRect">
            <a:avLst>
              <a:gd name="adj1" fmla="val 11343"/>
              <a:gd name="adj2" fmla="val 0"/>
            </a:avLst>
          </a:prstGeom>
          <a:solidFill>
            <a:srgbClr val="002060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13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BDD79C1-8349-FB13-2896-E125808C25FE}"/>
              </a:ext>
            </a:extLst>
          </p:cNvPr>
          <p:cNvSpPr/>
          <p:nvPr/>
        </p:nvSpPr>
        <p:spPr>
          <a:xfrm>
            <a:off x="3883304" y="3748457"/>
            <a:ext cx="221189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altLang="ko-KR" sz="90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  <a:endParaRPr lang="ko-KR" altLang="en-US" sz="900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33EBFB-2B0E-A0B5-08F3-30C5473BF356}"/>
              </a:ext>
            </a:extLst>
          </p:cNvPr>
          <p:cNvSpPr/>
          <p:nvPr/>
        </p:nvSpPr>
        <p:spPr>
          <a:xfrm>
            <a:off x="3876434" y="4037633"/>
            <a:ext cx="3312000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Employees who left tend to have fewer years with current manager.</a:t>
            </a:r>
            <a:endParaRPr lang="ko-KR" altLang="en-US" sz="1000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CDBE6C-25AC-A382-6BF0-E6CB48CF7325}"/>
              </a:ext>
            </a:extLst>
          </p:cNvPr>
          <p:cNvSpPr txBox="1"/>
          <p:nvPr/>
        </p:nvSpPr>
        <p:spPr>
          <a:xfrm>
            <a:off x="4093184" y="1431398"/>
            <a:ext cx="3091816" cy="219017"/>
          </a:xfrm>
          <a:prstGeom prst="rect">
            <a:avLst/>
          </a:prstGeom>
          <a:solidFill>
            <a:srgbClr val="00338D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ko-KR" sz="12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Years at Company</a:t>
            </a: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16" name="사각형: 잘린 위쪽 모서리 15">
            <a:extLst>
              <a:ext uri="{FF2B5EF4-FFF2-40B4-BE49-F238E27FC236}">
                <a16:creationId xmlns:a16="http://schemas.microsoft.com/office/drawing/2014/main" id="{1631C7E1-5254-56B0-6F03-A5A053CE5680}"/>
              </a:ext>
            </a:extLst>
          </p:cNvPr>
          <p:cNvSpPr/>
          <p:nvPr/>
        </p:nvSpPr>
        <p:spPr>
          <a:xfrm rot="16200000">
            <a:off x="3871252" y="1428485"/>
            <a:ext cx="220245" cy="223618"/>
          </a:xfrm>
          <a:prstGeom prst="snip2SameRect">
            <a:avLst>
              <a:gd name="adj1" fmla="val 11343"/>
              <a:gd name="adj2" fmla="val 0"/>
            </a:avLst>
          </a:prstGeom>
          <a:solidFill>
            <a:srgbClr val="002060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13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299EF48-C389-1AF3-D84C-7CBA380C3E59}"/>
              </a:ext>
            </a:extLst>
          </p:cNvPr>
          <p:cNvSpPr/>
          <p:nvPr/>
        </p:nvSpPr>
        <p:spPr>
          <a:xfrm>
            <a:off x="3876435" y="1426012"/>
            <a:ext cx="221189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lang="ko-KR" altLang="en-US" sz="900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E5D1B41-71E3-3D5D-F687-D641F3AFC7D2}"/>
              </a:ext>
            </a:extLst>
          </p:cNvPr>
          <p:cNvSpPr/>
          <p:nvPr/>
        </p:nvSpPr>
        <p:spPr>
          <a:xfrm>
            <a:off x="3869565" y="1713772"/>
            <a:ext cx="3312000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Employees who left tend to have fewer years at company.</a:t>
            </a:r>
            <a:endParaRPr lang="ko-KR" altLang="en-US" sz="1000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C5051A-8E72-E1AA-63ED-07C8BB8E45B0}"/>
              </a:ext>
            </a:extLst>
          </p:cNvPr>
          <p:cNvSpPr txBox="1"/>
          <p:nvPr/>
        </p:nvSpPr>
        <p:spPr>
          <a:xfrm>
            <a:off x="7257050" y="1648998"/>
            <a:ext cx="2159998" cy="4372389"/>
          </a:xfrm>
          <a:prstGeom prst="rect">
            <a:avLst/>
          </a:prstGeom>
          <a:solidFill>
            <a:srgbClr val="F2F9FF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C1BF7F-C0B1-04E7-DC23-934C820BA3C9}"/>
              </a:ext>
            </a:extLst>
          </p:cNvPr>
          <p:cNvSpPr txBox="1"/>
          <p:nvPr/>
        </p:nvSpPr>
        <p:spPr>
          <a:xfrm>
            <a:off x="7257051" y="1422400"/>
            <a:ext cx="2159998" cy="228015"/>
          </a:xfrm>
          <a:prstGeom prst="snip2SameRect">
            <a:avLst>
              <a:gd name="adj1" fmla="val 10144"/>
              <a:gd name="adj2" fmla="val 0"/>
            </a:avLst>
          </a:prstGeom>
          <a:solidFill>
            <a:srgbClr val="002060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Key Findings</a:t>
            </a: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pic>
        <p:nvPicPr>
          <p:cNvPr id="51" name="그래픽 50" descr="전구 단색으로 채워진">
            <a:extLst>
              <a:ext uri="{FF2B5EF4-FFF2-40B4-BE49-F238E27FC236}">
                <a16:creationId xmlns:a16="http://schemas.microsoft.com/office/drawing/2014/main" id="{80FBCA6E-8AFE-BFAD-D8D1-0F372BEC76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91228" y="1448775"/>
            <a:ext cx="180000" cy="180000"/>
          </a:xfrm>
          <a:prstGeom prst="rect">
            <a:avLst/>
          </a:prstGeom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609D9F65-BA91-688F-DFF4-5F9515371F09}"/>
              </a:ext>
            </a:extLst>
          </p:cNvPr>
          <p:cNvSpPr/>
          <p:nvPr/>
        </p:nvSpPr>
        <p:spPr>
          <a:xfrm>
            <a:off x="7291228" y="2149382"/>
            <a:ext cx="2074323" cy="104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Employees who leave tend to have fewer total working years and shorter company tenure, suggesting that attrition is associated with both overall career experience and organizational tenure.</a:t>
            </a:r>
            <a:endParaRPr lang="ko-KR" altLang="en-US" sz="1000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98FE99F-20D2-BC55-BA10-297EFEA49655}"/>
              </a:ext>
            </a:extLst>
          </p:cNvPr>
          <p:cNvSpPr/>
          <p:nvPr/>
        </p:nvSpPr>
        <p:spPr>
          <a:xfrm>
            <a:off x="7291228" y="3643676"/>
            <a:ext cx="2074323" cy="1070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Shorter time spent in current roles and with managers may reflect less established organizational connections, limited role familiarity, or differences in employee integration.</a:t>
            </a:r>
            <a:endParaRPr lang="ko-KR" altLang="en-US" sz="1000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DA64AC0-FCB8-10D3-A1A8-8B2D3419560F}"/>
              </a:ext>
            </a:extLst>
          </p:cNvPr>
          <p:cNvSpPr/>
          <p:nvPr/>
        </p:nvSpPr>
        <p:spPr>
          <a:xfrm>
            <a:off x="7291228" y="1788055"/>
            <a:ext cx="2125820" cy="2723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r>
              <a:rPr lang="en-US" altLang="ko-KR" sz="1000" b="1" dirty="0">
                <a:solidFill>
                  <a:srgbClr val="00338D"/>
                </a:solidFill>
                <a:latin typeface="Aptos" panose="020B0004020202020204" pitchFamily="34" charset="0"/>
              </a:rPr>
              <a:t>Career Experience and Organizational Tenure</a:t>
            </a:r>
            <a:endParaRPr lang="ko-KR" altLang="en-US" sz="1000" b="1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FF2BE40D-3986-8F10-A2C6-2D759FA0D2B1}"/>
              </a:ext>
            </a:extLst>
          </p:cNvPr>
          <p:cNvSpPr/>
          <p:nvPr/>
        </p:nvSpPr>
        <p:spPr>
          <a:xfrm>
            <a:off x="7291228" y="3282351"/>
            <a:ext cx="2125820" cy="2723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r>
              <a:rPr lang="en-US" altLang="ko-KR" sz="1000" b="1" dirty="0">
                <a:solidFill>
                  <a:srgbClr val="00338D"/>
                </a:solidFill>
                <a:latin typeface="Aptos" panose="020B0004020202020204" pitchFamily="34" charset="0"/>
              </a:rPr>
              <a:t>Role Familiarity and Organizational Relationships</a:t>
            </a:r>
            <a:endParaRPr lang="ko-KR" altLang="en-US" sz="1000" b="1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26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23" grpId="0" animBg="1"/>
      <p:bldP spid="41" grpId="0" animBg="1"/>
      <p:bldP spid="22" grpId="0" animBg="1"/>
      <p:bldP spid="42" grpId="0" animBg="1"/>
      <p:bldP spid="25" grpId="0" animBg="1"/>
      <p:bldP spid="26" grpId="0" animBg="1"/>
      <p:bldP spid="34" grpId="0"/>
      <p:bldP spid="8" grpId="0"/>
      <p:bldP spid="45" grpId="0" animBg="1"/>
      <p:bldP spid="46" grpId="0" animBg="1"/>
      <p:bldP spid="48" grpId="0"/>
      <p:bldP spid="49" grpId="0"/>
      <p:bldP spid="7" grpId="0" animBg="1"/>
      <p:bldP spid="9" grpId="0" animBg="1"/>
      <p:bldP spid="11" grpId="0"/>
      <p:bldP spid="12" grpId="0"/>
      <p:bldP spid="14" grpId="0" animBg="1"/>
      <p:bldP spid="16" grpId="0" animBg="1"/>
      <p:bldP spid="17" grpId="0"/>
      <p:bldP spid="18" grpId="0"/>
      <p:bldP spid="19" grpId="0" animBg="1"/>
      <p:bldP spid="20" grpId="0" animBg="1"/>
      <p:bldP spid="52" grpId="0"/>
      <p:bldP spid="53" grpId="0"/>
      <p:bldP spid="64" grpId="0"/>
      <p:bldP spid="7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633A4-BDC3-13DB-A3EE-0B23E0EDE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>
            <a:extLst>
              <a:ext uri="{FF2B5EF4-FFF2-40B4-BE49-F238E27FC236}">
                <a16:creationId xmlns:a16="http://schemas.microsoft.com/office/drawing/2014/main" id="{91B6AB5C-9AD3-B70F-A409-F7421C3ECE99}"/>
              </a:ext>
            </a:extLst>
          </p:cNvPr>
          <p:cNvSpPr txBox="1"/>
          <p:nvPr/>
        </p:nvSpPr>
        <p:spPr>
          <a:xfrm>
            <a:off x="488951" y="3964780"/>
            <a:ext cx="3312000" cy="2048528"/>
          </a:xfrm>
          <a:prstGeom prst="rect">
            <a:avLst/>
          </a:prstGeom>
          <a:noFill/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CD8146-7748-B2E9-2B8A-1AE04E7F798F}"/>
              </a:ext>
            </a:extLst>
          </p:cNvPr>
          <p:cNvSpPr txBox="1"/>
          <p:nvPr/>
        </p:nvSpPr>
        <p:spPr>
          <a:xfrm>
            <a:off x="3873000" y="1648999"/>
            <a:ext cx="3312000" cy="2048528"/>
          </a:xfrm>
          <a:prstGeom prst="rect">
            <a:avLst/>
          </a:prstGeom>
          <a:noFill/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C9BA57-94F6-8408-A11E-F406F2576FD9}"/>
              </a:ext>
            </a:extLst>
          </p:cNvPr>
          <p:cNvSpPr txBox="1"/>
          <p:nvPr/>
        </p:nvSpPr>
        <p:spPr>
          <a:xfrm>
            <a:off x="488951" y="1648999"/>
            <a:ext cx="3312000" cy="2048528"/>
          </a:xfrm>
          <a:prstGeom prst="rect">
            <a:avLst/>
          </a:prstGeom>
          <a:noFill/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818C6C-5BEA-8435-0308-289498A7D485}"/>
              </a:ext>
            </a:extLst>
          </p:cNvPr>
          <p:cNvSpPr txBox="1"/>
          <p:nvPr/>
        </p:nvSpPr>
        <p:spPr>
          <a:xfrm>
            <a:off x="488951" y="3967474"/>
            <a:ext cx="3312000" cy="2048528"/>
          </a:xfrm>
          <a:prstGeom prst="rect">
            <a:avLst/>
          </a:prstGeom>
          <a:noFill/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E435A2-DBFE-DD59-060B-7AB3AB0F6806}"/>
              </a:ext>
            </a:extLst>
          </p:cNvPr>
          <p:cNvSpPr txBox="1"/>
          <p:nvPr/>
        </p:nvSpPr>
        <p:spPr>
          <a:xfrm>
            <a:off x="3873000" y="3967474"/>
            <a:ext cx="3312000" cy="2048528"/>
          </a:xfrm>
          <a:prstGeom prst="rect">
            <a:avLst/>
          </a:prstGeom>
          <a:noFill/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3" name="Rectangle 39">
            <a:extLst>
              <a:ext uri="{FF2B5EF4-FFF2-40B4-BE49-F238E27FC236}">
                <a16:creationId xmlns:a16="http://schemas.microsoft.com/office/drawing/2014/main" id="{91915791-603A-320A-B072-A940B7ABD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67168"/>
            <a:ext cx="8928100" cy="353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marL="342900" indent="-342900" eaLnBrk="0" fontAlgn="b" hangingPunct="0">
              <a:lnSpc>
                <a:spcPts val="3300"/>
              </a:lnSpc>
              <a:buClr>
                <a:srgbClr val="1F497D"/>
              </a:buClr>
              <a:defRPr/>
            </a:pPr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EDA Results </a:t>
            </a:r>
            <a:r>
              <a:rPr lang="en-US" altLang="ko-KR" sz="2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US" altLang="ko-KR"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Numerical Variables (2/2)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DF7155-7AF1-193E-4A6F-0F9CAB0E6429}"/>
              </a:ext>
            </a:extLst>
          </p:cNvPr>
          <p:cNvSpPr txBox="1"/>
          <p:nvPr/>
        </p:nvSpPr>
        <p:spPr>
          <a:xfrm>
            <a:off x="6936782" y="526127"/>
            <a:ext cx="2610897" cy="235193"/>
          </a:xfrm>
          <a:prstGeom prst="rect">
            <a:avLst/>
          </a:prstGeom>
          <a:noFill/>
        </p:spPr>
        <p:txBody>
          <a:bodyPr wrap="square" lIns="54610" tIns="54610" rIns="54610" bIns="54610" rtlCol="0">
            <a:noAutofit/>
          </a:bodyPr>
          <a:lstStyle/>
          <a:p>
            <a:pPr marL="0" indent="0" algn="r">
              <a:spcAft>
                <a:spcPts val="600"/>
              </a:spcAft>
              <a:buNone/>
            </a:pPr>
            <a:r>
              <a:rPr lang="en-US" altLang="ko-KR" sz="1000" b="1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7DA368-42F1-7165-C980-3217E125B9ED}"/>
              </a:ext>
            </a:extLst>
          </p:cNvPr>
          <p:cNvSpPr txBox="1"/>
          <p:nvPr/>
        </p:nvSpPr>
        <p:spPr>
          <a:xfrm>
            <a:off x="705699" y="3753843"/>
            <a:ext cx="3095252" cy="219017"/>
          </a:xfrm>
          <a:prstGeom prst="rect">
            <a:avLst/>
          </a:prstGeom>
          <a:solidFill>
            <a:srgbClr val="00338D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ko-KR" sz="12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Income</a:t>
            </a: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26" name="사각형: 잘린 위쪽 모서리 25">
            <a:extLst>
              <a:ext uri="{FF2B5EF4-FFF2-40B4-BE49-F238E27FC236}">
                <a16:creationId xmlns:a16="http://schemas.microsoft.com/office/drawing/2014/main" id="{10ABBBC3-3FCF-5658-7102-0C1E46E2C43A}"/>
              </a:ext>
            </a:extLst>
          </p:cNvPr>
          <p:cNvSpPr/>
          <p:nvPr/>
        </p:nvSpPr>
        <p:spPr>
          <a:xfrm rot="16200000">
            <a:off x="483767" y="3750930"/>
            <a:ext cx="220245" cy="223618"/>
          </a:xfrm>
          <a:prstGeom prst="snip2SameRect">
            <a:avLst>
              <a:gd name="adj1" fmla="val 11343"/>
              <a:gd name="adj2" fmla="val 0"/>
            </a:avLst>
          </a:prstGeom>
          <a:solidFill>
            <a:srgbClr val="002060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13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5459517-6039-9944-3F2E-0C9001768124}"/>
              </a:ext>
            </a:extLst>
          </p:cNvPr>
          <p:cNvSpPr/>
          <p:nvPr/>
        </p:nvSpPr>
        <p:spPr>
          <a:xfrm>
            <a:off x="488950" y="3748457"/>
            <a:ext cx="221189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Aptos" panose="020B0004020202020204" pitchFamily="34" charset="0"/>
              </a:rPr>
              <a:t>7</a:t>
            </a:r>
            <a:endParaRPr lang="ko-KR" altLang="en-US" sz="900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7" name="Rectangle 28">
            <a:extLst>
              <a:ext uri="{FF2B5EF4-FFF2-40B4-BE49-F238E27FC236}">
                <a16:creationId xmlns:a16="http://schemas.microsoft.com/office/drawing/2014/main" id="{60F664F0-76B1-A3E3-E566-70D7555D4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126" y="946206"/>
            <a:ext cx="8928100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buClr>
                <a:srgbClr val="00338D"/>
              </a:buClr>
              <a:buSzPct val="90000"/>
            </a:pP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Four numerical variables (Age, Distance from Home, Monthly Income, and Number of Companies Worked) were selected based on observed differences in their distributions by attrition.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C05AB68-9D96-0973-0976-E17650E3135A}"/>
              </a:ext>
            </a:extLst>
          </p:cNvPr>
          <p:cNvSpPr/>
          <p:nvPr/>
        </p:nvSpPr>
        <p:spPr>
          <a:xfrm>
            <a:off x="488949" y="4037633"/>
            <a:ext cx="3312000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Employees who left tend to have less monthly income.</a:t>
            </a:r>
            <a:endParaRPr lang="ko-KR" altLang="en-US" sz="1000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D4BA1C-939F-3FC9-69AB-2F0C31200B41}"/>
              </a:ext>
            </a:extLst>
          </p:cNvPr>
          <p:cNvSpPr txBox="1"/>
          <p:nvPr/>
        </p:nvSpPr>
        <p:spPr>
          <a:xfrm>
            <a:off x="705701" y="1431398"/>
            <a:ext cx="3095252" cy="219017"/>
          </a:xfrm>
          <a:prstGeom prst="rect">
            <a:avLst/>
          </a:prstGeom>
          <a:solidFill>
            <a:srgbClr val="00338D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ko-KR" sz="12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</a:t>
            </a: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46" name="사각형: 잘린 위쪽 모서리 45">
            <a:extLst>
              <a:ext uri="{FF2B5EF4-FFF2-40B4-BE49-F238E27FC236}">
                <a16:creationId xmlns:a16="http://schemas.microsoft.com/office/drawing/2014/main" id="{95E3CAC0-A5F1-8097-E2D5-20126D321754}"/>
              </a:ext>
            </a:extLst>
          </p:cNvPr>
          <p:cNvSpPr/>
          <p:nvPr/>
        </p:nvSpPr>
        <p:spPr>
          <a:xfrm rot="16200000">
            <a:off x="483769" y="1428485"/>
            <a:ext cx="220245" cy="223618"/>
          </a:xfrm>
          <a:prstGeom prst="snip2SameRect">
            <a:avLst>
              <a:gd name="adj1" fmla="val 11343"/>
              <a:gd name="adj2" fmla="val 0"/>
            </a:avLst>
          </a:prstGeom>
          <a:solidFill>
            <a:srgbClr val="002060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13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1E5DF09-7DF3-449C-53BA-056908F5A48A}"/>
              </a:ext>
            </a:extLst>
          </p:cNvPr>
          <p:cNvSpPr/>
          <p:nvPr/>
        </p:nvSpPr>
        <p:spPr>
          <a:xfrm>
            <a:off x="488952" y="1426012"/>
            <a:ext cx="221189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Aptos" panose="020B0004020202020204" pitchFamily="34" charset="0"/>
              </a:rPr>
              <a:t>5</a:t>
            </a:r>
            <a:endParaRPr lang="ko-KR" altLang="en-US" sz="900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5B7BD86A-0DAD-5765-71CE-58F636AC51F4}"/>
              </a:ext>
            </a:extLst>
          </p:cNvPr>
          <p:cNvSpPr/>
          <p:nvPr/>
        </p:nvSpPr>
        <p:spPr>
          <a:xfrm>
            <a:off x="482080" y="1713772"/>
            <a:ext cx="3312000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Employees who leave tend to be younger.</a:t>
            </a:r>
            <a:endParaRPr lang="ko-KR" altLang="en-US" sz="1000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36615A-DB0F-907A-D284-2B92C4E8B04F}"/>
              </a:ext>
            </a:extLst>
          </p:cNvPr>
          <p:cNvSpPr txBox="1"/>
          <p:nvPr/>
        </p:nvSpPr>
        <p:spPr>
          <a:xfrm>
            <a:off x="4100053" y="3753843"/>
            <a:ext cx="3084947" cy="219017"/>
          </a:xfrm>
          <a:prstGeom prst="rect">
            <a:avLst/>
          </a:prstGeom>
          <a:solidFill>
            <a:srgbClr val="00338D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ko-KR" sz="12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of Companies Worked</a:t>
            </a: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9" name="사각형: 잘린 위쪽 모서리 8">
            <a:extLst>
              <a:ext uri="{FF2B5EF4-FFF2-40B4-BE49-F238E27FC236}">
                <a16:creationId xmlns:a16="http://schemas.microsoft.com/office/drawing/2014/main" id="{2B94D3F2-2CAB-E9B2-95ED-09A9B4C4FBD7}"/>
              </a:ext>
            </a:extLst>
          </p:cNvPr>
          <p:cNvSpPr/>
          <p:nvPr/>
        </p:nvSpPr>
        <p:spPr>
          <a:xfrm rot="16200000">
            <a:off x="3878121" y="3750930"/>
            <a:ext cx="220245" cy="223618"/>
          </a:xfrm>
          <a:prstGeom prst="snip2SameRect">
            <a:avLst>
              <a:gd name="adj1" fmla="val 11343"/>
              <a:gd name="adj2" fmla="val 0"/>
            </a:avLst>
          </a:prstGeom>
          <a:solidFill>
            <a:srgbClr val="002060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13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8FD2F93-69F5-664A-910D-A166420DC67A}"/>
              </a:ext>
            </a:extLst>
          </p:cNvPr>
          <p:cNvSpPr/>
          <p:nvPr/>
        </p:nvSpPr>
        <p:spPr>
          <a:xfrm>
            <a:off x="3883304" y="3748457"/>
            <a:ext cx="221189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Aptos" panose="020B0004020202020204" pitchFamily="34" charset="0"/>
              </a:rPr>
              <a:t>8</a:t>
            </a:r>
            <a:endParaRPr lang="ko-KR" altLang="en-US" sz="900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88C42C8-21D8-C099-C9E5-06F68AB311EB}"/>
              </a:ext>
            </a:extLst>
          </p:cNvPr>
          <p:cNvSpPr/>
          <p:nvPr/>
        </p:nvSpPr>
        <p:spPr>
          <a:xfrm>
            <a:off x="3876434" y="4037633"/>
            <a:ext cx="3312000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Employees who left tend to have worked for a greater number of companies in the past.</a:t>
            </a:r>
            <a:endParaRPr lang="ko-KR" altLang="en-US" sz="1000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3E279A-0A4E-43BE-F561-03F4891247E0}"/>
              </a:ext>
            </a:extLst>
          </p:cNvPr>
          <p:cNvSpPr txBox="1"/>
          <p:nvPr/>
        </p:nvSpPr>
        <p:spPr>
          <a:xfrm>
            <a:off x="4093184" y="1431398"/>
            <a:ext cx="3091816" cy="219017"/>
          </a:xfrm>
          <a:prstGeom prst="rect">
            <a:avLst/>
          </a:prstGeom>
          <a:solidFill>
            <a:srgbClr val="00338D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ko-KR" sz="12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Distance from Home</a:t>
            </a: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16" name="사각형: 잘린 위쪽 모서리 15">
            <a:extLst>
              <a:ext uri="{FF2B5EF4-FFF2-40B4-BE49-F238E27FC236}">
                <a16:creationId xmlns:a16="http://schemas.microsoft.com/office/drawing/2014/main" id="{3B2355C9-6970-611B-E54A-3C978741DE70}"/>
              </a:ext>
            </a:extLst>
          </p:cNvPr>
          <p:cNvSpPr/>
          <p:nvPr/>
        </p:nvSpPr>
        <p:spPr>
          <a:xfrm rot="16200000">
            <a:off x="3871252" y="1428485"/>
            <a:ext cx="220245" cy="223618"/>
          </a:xfrm>
          <a:prstGeom prst="snip2SameRect">
            <a:avLst>
              <a:gd name="adj1" fmla="val 11343"/>
              <a:gd name="adj2" fmla="val 0"/>
            </a:avLst>
          </a:prstGeom>
          <a:solidFill>
            <a:srgbClr val="002060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13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2B5F790-0C6F-049A-34B8-B9480B149905}"/>
              </a:ext>
            </a:extLst>
          </p:cNvPr>
          <p:cNvSpPr/>
          <p:nvPr/>
        </p:nvSpPr>
        <p:spPr>
          <a:xfrm>
            <a:off x="3876435" y="1426012"/>
            <a:ext cx="221189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Aptos" panose="020B0004020202020204" pitchFamily="34" charset="0"/>
              </a:rPr>
              <a:t>6</a:t>
            </a:r>
            <a:endParaRPr lang="ko-KR" altLang="en-US" sz="900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99B1C24-9780-AC73-8F82-9CC064DE8A19}"/>
              </a:ext>
            </a:extLst>
          </p:cNvPr>
          <p:cNvSpPr/>
          <p:nvPr/>
        </p:nvSpPr>
        <p:spPr>
          <a:xfrm>
            <a:off x="3869565" y="1713772"/>
            <a:ext cx="3312000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Employees who left tend to have a job farther away from home.</a:t>
            </a:r>
            <a:endParaRPr lang="ko-KR" altLang="en-US" sz="1000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2B4D79-19A9-9C6B-23A1-50C7DFA1B5EA}"/>
              </a:ext>
            </a:extLst>
          </p:cNvPr>
          <p:cNvSpPr txBox="1"/>
          <p:nvPr/>
        </p:nvSpPr>
        <p:spPr>
          <a:xfrm>
            <a:off x="7257050" y="1648998"/>
            <a:ext cx="2159998" cy="4372389"/>
          </a:xfrm>
          <a:prstGeom prst="rect">
            <a:avLst/>
          </a:prstGeom>
          <a:solidFill>
            <a:srgbClr val="F2F9FF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868D0E-C841-CFDC-CF90-40C364EF31EC}"/>
              </a:ext>
            </a:extLst>
          </p:cNvPr>
          <p:cNvSpPr txBox="1"/>
          <p:nvPr/>
        </p:nvSpPr>
        <p:spPr>
          <a:xfrm>
            <a:off x="7257051" y="1422400"/>
            <a:ext cx="2159998" cy="228015"/>
          </a:xfrm>
          <a:prstGeom prst="snip2SameRect">
            <a:avLst>
              <a:gd name="adj1" fmla="val 10144"/>
              <a:gd name="adj2" fmla="val 0"/>
            </a:avLst>
          </a:prstGeom>
          <a:solidFill>
            <a:srgbClr val="002060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Key Findings</a:t>
            </a: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pic>
        <p:nvPicPr>
          <p:cNvPr id="51" name="그래픽 50" descr="전구 단색으로 채워진">
            <a:extLst>
              <a:ext uri="{FF2B5EF4-FFF2-40B4-BE49-F238E27FC236}">
                <a16:creationId xmlns:a16="http://schemas.microsoft.com/office/drawing/2014/main" id="{4980C3E2-9002-C82B-FB8B-ED807577BC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91228" y="1448775"/>
            <a:ext cx="180000" cy="180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7C58ED1-7E7C-4007-80CC-347FC49E772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376" b="7464"/>
          <a:stretch>
            <a:fillRect/>
          </a:stretch>
        </p:blipFill>
        <p:spPr>
          <a:xfrm>
            <a:off x="495821" y="1949822"/>
            <a:ext cx="3298259" cy="171976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442EF24-7518-97E8-0B8E-944CC992FC9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656" b="9023"/>
          <a:stretch>
            <a:fillRect/>
          </a:stretch>
        </p:blipFill>
        <p:spPr>
          <a:xfrm>
            <a:off x="3875714" y="1949823"/>
            <a:ext cx="3305852" cy="171975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92C4D56-3C56-8748-CDFD-5ACDE8319BD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8490" b="8656"/>
          <a:stretch>
            <a:fillRect/>
          </a:stretch>
        </p:blipFill>
        <p:spPr>
          <a:xfrm>
            <a:off x="495821" y="4312371"/>
            <a:ext cx="3298259" cy="165469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B03ADC4-7CC8-BE9F-92D6-D78097D9BFB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8656" b="10827"/>
          <a:stretch>
            <a:fillRect/>
          </a:stretch>
        </p:blipFill>
        <p:spPr>
          <a:xfrm>
            <a:off x="3875713" y="4312371"/>
            <a:ext cx="3305852" cy="165469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B5ABB2AF-D59D-58DF-C725-25DA2AC30C83}"/>
              </a:ext>
            </a:extLst>
          </p:cNvPr>
          <p:cNvSpPr/>
          <p:nvPr/>
        </p:nvSpPr>
        <p:spPr>
          <a:xfrm>
            <a:off x="7291228" y="2155631"/>
            <a:ext cx="2074323" cy="11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Employees who leave tend to be younger, earn lower monthly incomes, and live farther from work, suggesting that career stage, compensation, and commuting demands may be associated with attrition.</a:t>
            </a:r>
            <a:endParaRPr lang="ko-KR" altLang="en-US" sz="1000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D632E93-B643-4470-883B-C9320B5F5440}"/>
              </a:ext>
            </a:extLst>
          </p:cNvPr>
          <p:cNvSpPr/>
          <p:nvPr/>
        </p:nvSpPr>
        <p:spPr>
          <a:xfrm>
            <a:off x="7291228" y="3806425"/>
            <a:ext cx="2074323" cy="104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00338D"/>
                </a:solidFill>
                <a:latin typeface="Aptos" panose="020B0004020202020204" pitchFamily="34" charset="0"/>
              </a:rPr>
              <a:t>Employees who leave tend to have worked for more companies, potentially reflecting greater career mobility or more frequent transitions between employers.</a:t>
            </a:r>
            <a:endParaRPr lang="ko-KR" altLang="en-US" sz="1000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4CE5272-EDE9-6A12-A2E6-4EA222AB3ACE}"/>
              </a:ext>
            </a:extLst>
          </p:cNvPr>
          <p:cNvSpPr/>
          <p:nvPr/>
        </p:nvSpPr>
        <p:spPr>
          <a:xfrm>
            <a:off x="7291228" y="1788055"/>
            <a:ext cx="2125820" cy="2723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r>
              <a:rPr lang="en-US" altLang="ko-KR" sz="1000" b="1" dirty="0">
                <a:solidFill>
                  <a:srgbClr val="00338D"/>
                </a:solidFill>
                <a:latin typeface="Aptos" panose="020B0004020202020204" pitchFamily="34" charset="0"/>
              </a:rPr>
              <a:t>Demographic and Employment Characteristics</a:t>
            </a:r>
            <a:endParaRPr lang="ko-KR" altLang="en-US" sz="1000" b="1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9926E04-F87B-2A26-358D-EF00C005E13C}"/>
              </a:ext>
            </a:extLst>
          </p:cNvPr>
          <p:cNvSpPr/>
          <p:nvPr/>
        </p:nvSpPr>
        <p:spPr>
          <a:xfrm>
            <a:off x="7291228" y="3438849"/>
            <a:ext cx="2125820" cy="2723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r>
              <a:rPr lang="en-US" altLang="ko-KR" sz="1000" b="1" dirty="0">
                <a:solidFill>
                  <a:srgbClr val="00338D"/>
                </a:solidFill>
                <a:latin typeface="Aptos" panose="020B0004020202020204" pitchFamily="34" charset="0"/>
              </a:rPr>
              <a:t>Career Mobility and Employment History</a:t>
            </a:r>
            <a:endParaRPr lang="ko-KR" altLang="en-US" sz="1000" b="1" dirty="0" err="1">
              <a:solidFill>
                <a:srgbClr val="00338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406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22" grpId="0" animBg="1"/>
      <p:bldP spid="42" grpId="0" animBg="1"/>
      <p:bldP spid="23" grpId="0" animBg="1"/>
      <p:bldP spid="41" grpId="0" animBg="1"/>
      <p:bldP spid="25" grpId="0" animBg="1"/>
      <p:bldP spid="26" grpId="0" animBg="1"/>
      <p:bldP spid="34" grpId="0"/>
      <p:bldP spid="8" grpId="0"/>
      <p:bldP spid="45" grpId="0" animBg="1"/>
      <p:bldP spid="46" grpId="0" animBg="1"/>
      <p:bldP spid="48" grpId="0"/>
      <p:bldP spid="49" grpId="0"/>
      <p:bldP spid="7" grpId="0" animBg="1"/>
      <p:bldP spid="9" grpId="0" animBg="1"/>
      <p:bldP spid="11" grpId="0"/>
      <p:bldP spid="12" grpId="0"/>
      <p:bldP spid="14" grpId="0" animBg="1"/>
      <p:bldP spid="16" grpId="0" animBg="1"/>
      <p:bldP spid="17" grpId="0"/>
      <p:bldP spid="18" grpId="0"/>
      <p:bldP spid="19" grpId="0" animBg="1"/>
      <p:bldP spid="20" grpId="0" animBg="1"/>
      <p:bldP spid="13" grpId="0"/>
      <p:bldP spid="15" grpId="0"/>
      <p:bldP spid="21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EB407-F881-82A7-DC6E-73BAA6F96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3">
            <a:extLst>
              <a:ext uri="{FF2B5EF4-FFF2-40B4-BE49-F238E27FC236}">
                <a16:creationId xmlns:a16="http://schemas.microsoft.com/office/drawing/2014/main" id="{E440D27E-673E-6FFC-705F-D0FB3D623E41}"/>
              </a:ext>
            </a:extLst>
          </p:cNvPr>
          <p:cNvGraphicFramePr>
            <a:graphicFrameLocks noGrp="1"/>
          </p:cNvGraphicFramePr>
          <p:nvPr/>
        </p:nvGraphicFramePr>
        <p:xfrm>
          <a:off x="1004207" y="2534970"/>
          <a:ext cx="7571977" cy="2687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6733">
                  <a:extLst>
                    <a:ext uri="{9D8B030D-6E8A-4147-A177-3AD203B41FA5}">
                      <a16:colId xmlns:a16="http://schemas.microsoft.com/office/drawing/2014/main" val="694772892"/>
                    </a:ext>
                  </a:extLst>
                </a:gridCol>
                <a:gridCol w="6975244">
                  <a:extLst>
                    <a:ext uri="{9D8B030D-6E8A-4147-A177-3AD203B41FA5}">
                      <a16:colId xmlns:a16="http://schemas.microsoft.com/office/drawing/2014/main" val="1726739505"/>
                    </a:ext>
                  </a:extLst>
                </a:gridCol>
              </a:tblGrid>
              <a:tr h="537497">
                <a:tc>
                  <a:txBody>
                    <a:bodyPr/>
                    <a:lstStyle/>
                    <a:p>
                      <a:pPr marL="12700" marR="5080" lvl="1" indent="-185738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Ⅰ.</a:t>
                      </a:r>
                      <a:endParaRPr lang="ko-KR" altLang="en-US" sz="2000" b="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700" marR="5080" lvl="1" indent="-185738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Dataset Overview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612474"/>
                  </a:ext>
                </a:extLst>
              </a:tr>
              <a:tr h="537497">
                <a:tc>
                  <a:txBody>
                    <a:bodyPr/>
                    <a:lstStyle/>
                    <a:p>
                      <a:pPr marL="12700" marR="5080" lvl="1" indent="-185738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Ⅱ.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700" marR="5080" lvl="1" indent="-185738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Exploratory Data Analysis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8481722"/>
                  </a:ext>
                </a:extLst>
              </a:tr>
              <a:tr h="537497">
                <a:tc>
                  <a:txBody>
                    <a:bodyPr/>
                    <a:lstStyle/>
                    <a:p>
                      <a:pPr marL="12700" marR="5080" lvl="1" indent="-185738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III.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700" marR="5080" lvl="1" indent="-185738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Predictive Modeling (KNN &amp; Naive Bayes)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1305908"/>
                  </a:ext>
                </a:extLst>
              </a:tr>
              <a:tr h="537497">
                <a:tc>
                  <a:txBody>
                    <a:bodyPr/>
                    <a:lstStyle/>
                    <a:p>
                      <a:pPr marL="12700" marR="5080" lvl="1" indent="-185738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IV.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700" marR="5080" lvl="1" indent="-185738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Conclusions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3546442"/>
                  </a:ext>
                </a:extLst>
              </a:tr>
              <a:tr h="537497">
                <a:tc>
                  <a:txBody>
                    <a:bodyPr/>
                    <a:lstStyle/>
                    <a:p>
                      <a:pPr marL="12700" marR="5080" lvl="1" indent="-185738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V.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700" marR="5080" lvl="1" indent="-185738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Appendix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3833752"/>
                  </a:ext>
                </a:extLst>
              </a:tr>
            </a:tbl>
          </a:graphicData>
        </a:graphic>
      </p:graphicFrame>
      <p:sp>
        <p:nvSpPr>
          <p:cNvPr id="3" name="Freeform 48">
            <a:extLst>
              <a:ext uri="{FF2B5EF4-FFF2-40B4-BE49-F238E27FC236}">
                <a16:creationId xmlns:a16="http://schemas.microsoft.com/office/drawing/2014/main" id="{1E34E87B-C294-FCC2-733C-22AD426797F8}"/>
              </a:ext>
            </a:extLst>
          </p:cNvPr>
          <p:cNvSpPr>
            <a:spLocks noChangeAspect="1"/>
          </p:cNvSpPr>
          <p:nvPr/>
        </p:nvSpPr>
        <p:spPr bwMode="auto">
          <a:xfrm>
            <a:off x="739362" y="3552527"/>
            <a:ext cx="529689" cy="452901"/>
          </a:xfrm>
          <a:custGeom>
            <a:avLst/>
            <a:gdLst/>
            <a:ahLst/>
            <a:cxnLst>
              <a:cxn ang="0">
                <a:pos x="207" y="2051"/>
              </a:cxn>
              <a:cxn ang="0">
                <a:pos x="502" y="2433"/>
              </a:cxn>
              <a:cxn ang="0">
                <a:pos x="858" y="2991"/>
              </a:cxn>
              <a:cxn ang="0">
                <a:pos x="1017" y="3151"/>
              </a:cxn>
              <a:cxn ang="0">
                <a:pos x="1189" y="3228"/>
              </a:cxn>
              <a:cxn ang="0">
                <a:pos x="1367" y="3299"/>
              </a:cxn>
              <a:cxn ang="0">
                <a:pos x="1698" y="3417"/>
              </a:cxn>
              <a:cxn ang="0">
                <a:pos x="1841" y="3460"/>
              </a:cxn>
              <a:cxn ang="0">
                <a:pos x="1884" y="3348"/>
              </a:cxn>
              <a:cxn ang="0">
                <a:pos x="2042" y="3108"/>
              </a:cxn>
              <a:cxn ang="0">
                <a:pos x="2181" y="2716"/>
              </a:cxn>
              <a:cxn ang="0">
                <a:pos x="2374" y="2396"/>
              </a:cxn>
              <a:cxn ang="0">
                <a:pos x="2501" y="2216"/>
              </a:cxn>
              <a:cxn ang="0">
                <a:pos x="2634" y="2126"/>
              </a:cxn>
              <a:cxn ang="0">
                <a:pos x="2725" y="2021"/>
              </a:cxn>
              <a:cxn ang="0">
                <a:pos x="2985" y="1743"/>
              </a:cxn>
              <a:cxn ang="0">
                <a:pos x="3350" y="1385"/>
              </a:cxn>
              <a:cxn ang="0">
                <a:pos x="3764" y="1076"/>
              </a:cxn>
              <a:cxn ang="0">
                <a:pos x="3975" y="956"/>
              </a:cxn>
              <a:cxn ang="0">
                <a:pos x="4166" y="801"/>
              </a:cxn>
              <a:cxn ang="0">
                <a:pos x="4276" y="746"/>
              </a:cxn>
              <a:cxn ang="0">
                <a:pos x="4452" y="590"/>
              </a:cxn>
              <a:cxn ang="0">
                <a:pos x="4597" y="435"/>
              </a:cxn>
              <a:cxn ang="0">
                <a:pos x="4745" y="341"/>
              </a:cxn>
              <a:cxn ang="0">
                <a:pos x="4873" y="280"/>
              </a:cxn>
              <a:cxn ang="0">
                <a:pos x="4849" y="246"/>
              </a:cxn>
              <a:cxn ang="0">
                <a:pos x="4761" y="283"/>
              </a:cxn>
              <a:cxn ang="0">
                <a:pos x="4662" y="363"/>
              </a:cxn>
              <a:cxn ang="0">
                <a:pos x="4441" y="517"/>
              </a:cxn>
              <a:cxn ang="0">
                <a:pos x="4314" y="546"/>
              </a:cxn>
              <a:cxn ang="0">
                <a:pos x="3938" y="816"/>
              </a:cxn>
              <a:cxn ang="0">
                <a:pos x="4014" y="708"/>
              </a:cxn>
              <a:cxn ang="0">
                <a:pos x="4113" y="626"/>
              </a:cxn>
              <a:cxn ang="0">
                <a:pos x="4233" y="505"/>
              </a:cxn>
              <a:cxn ang="0">
                <a:pos x="4255" y="426"/>
              </a:cxn>
              <a:cxn ang="0">
                <a:pos x="4389" y="289"/>
              </a:cxn>
              <a:cxn ang="0">
                <a:pos x="4204" y="343"/>
              </a:cxn>
              <a:cxn ang="0">
                <a:pos x="4366" y="200"/>
              </a:cxn>
              <a:cxn ang="0">
                <a:pos x="4322" y="169"/>
              </a:cxn>
              <a:cxn ang="0">
                <a:pos x="4208" y="279"/>
              </a:cxn>
              <a:cxn ang="0">
                <a:pos x="4203" y="163"/>
              </a:cxn>
              <a:cxn ang="0">
                <a:pos x="4289" y="48"/>
              </a:cxn>
              <a:cxn ang="0">
                <a:pos x="4191" y="26"/>
              </a:cxn>
              <a:cxn ang="0">
                <a:pos x="4085" y="136"/>
              </a:cxn>
              <a:cxn ang="0">
                <a:pos x="3828" y="287"/>
              </a:cxn>
              <a:cxn ang="0">
                <a:pos x="3122" y="783"/>
              </a:cxn>
              <a:cxn ang="0">
                <a:pos x="3124" y="739"/>
              </a:cxn>
              <a:cxn ang="0">
                <a:pos x="3171" y="677"/>
              </a:cxn>
              <a:cxn ang="0">
                <a:pos x="3862" y="221"/>
              </a:cxn>
              <a:cxn ang="0">
                <a:pos x="3913" y="142"/>
              </a:cxn>
              <a:cxn ang="0">
                <a:pos x="3668" y="242"/>
              </a:cxn>
              <a:cxn ang="0">
                <a:pos x="3225" y="529"/>
              </a:cxn>
              <a:cxn ang="0">
                <a:pos x="2781" y="836"/>
              </a:cxn>
              <a:cxn ang="0">
                <a:pos x="2153" y="1280"/>
              </a:cxn>
              <a:cxn ang="0">
                <a:pos x="1865" y="1621"/>
              </a:cxn>
              <a:cxn ang="0">
                <a:pos x="1577" y="1928"/>
              </a:cxn>
              <a:cxn ang="0">
                <a:pos x="1301" y="2011"/>
              </a:cxn>
              <a:cxn ang="0">
                <a:pos x="1036" y="1486"/>
              </a:cxn>
              <a:cxn ang="0">
                <a:pos x="740" y="1512"/>
              </a:cxn>
              <a:cxn ang="0">
                <a:pos x="512" y="1607"/>
              </a:cxn>
              <a:cxn ang="0">
                <a:pos x="237" y="1696"/>
              </a:cxn>
            </a:cxnLst>
            <a:rect l="0" t="0" r="r" b="b"/>
            <a:pathLst>
              <a:path w="4933" h="3474">
                <a:moveTo>
                  <a:pt x="0" y="1838"/>
                </a:moveTo>
                <a:lnTo>
                  <a:pt x="12" y="1853"/>
                </a:lnTo>
                <a:lnTo>
                  <a:pt x="25" y="1869"/>
                </a:lnTo>
                <a:lnTo>
                  <a:pt x="38" y="1884"/>
                </a:lnTo>
                <a:lnTo>
                  <a:pt x="53" y="1900"/>
                </a:lnTo>
                <a:lnTo>
                  <a:pt x="68" y="1914"/>
                </a:lnTo>
                <a:lnTo>
                  <a:pt x="83" y="1931"/>
                </a:lnTo>
                <a:lnTo>
                  <a:pt x="100" y="1946"/>
                </a:lnTo>
                <a:lnTo>
                  <a:pt x="116" y="1960"/>
                </a:lnTo>
                <a:lnTo>
                  <a:pt x="132" y="1976"/>
                </a:lnTo>
                <a:lnTo>
                  <a:pt x="148" y="1990"/>
                </a:lnTo>
                <a:lnTo>
                  <a:pt x="162" y="2005"/>
                </a:lnTo>
                <a:lnTo>
                  <a:pt x="179" y="2021"/>
                </a:lnTo>
                <a:lnTo>
                  <a:pt x="193" y="2036"/>
                </a:lnTo>
                <a:lnTo>
                  <a:pt x="207" y="2051"/>
                </a:lnTo>
                <a:lnTo>
                  <a:pt x="220" y="2066"/>
                </a:lnTo>
                <a:lnTo>
                  <a:pt x="231" y="2082"/>
                </a:lnTo>
                <a:lnTo>
                  <a:pt x="245" y="2110"/>
                </a:lnTo>
                <a:lnTo>
                  <a:pt x="262" y="2133"/>
                </a:lnTo>
                <a:lnTo>
                  <a:pt x="282" y="2151"/>
                </a:lnTo>
                <a:lnTo>
                  <a:pt x="302" y="2168"/>
                </a:lnTo>
                <a:lnTo>
                  <a:pt x="323" y="2184"/>
                </a:lnTo>
                <a:lnTo>
                  <a:pt x="343" y="2202"/>
                </a:lnTo>
                <a:lnTo>
                  <a:pt x="361" y="2224"/>
                </a:lnTo>
                <a:lnTo>
                  <a:pt x="376" y="2251"/>
                </a:lnTo>
                <a:lnTo>
                  <a:pt x="392" y="2280"/>
                </a:lnTo>
                <a:lnTo>
                  <a:pt x="416" y="2314"/>
                </a:lnTo>
                <a:lnTo>
                  <a:pt x="443" y="2352"/>
                </a:lnTo>
                <a:lnTo>
                  <a:pt x="472" y="2393"/>
                </a:lnTo>
                <a:lnTo>
                  <a:pt x="502" y="2433"/>
                </a:lnTo>
                <a:lnTo>
                  <a:pt x="529" y="2470"/>
                </a:lnTo>
                <a:lnTo>
                  <a:pt x="552" y="2504"/>
                </a:lnTo>
                <a:lnTo>
                  <a:pt x="571" y="2532"/>
                </a:lnTo>
                <a:lnTo>
                  <a:pt x="582" y="2555"/>
                </a:lnTo>
                <a:lnTo>
                  <a:pt x="599" y="2583"/>
                </a:lnTo>
                <a:lnTo>
                  <a:pt x="618" y="2617"/>
                </a:lnTo>
                <a:lnTo>
                  <a:pt x="640" y="2652"/>
                </a:lnTo>
                <a:lnTo>
                  <a:pt x="665" y="2693"/>
                </a:lnTo>
                <a:lnTo>
                  <a:pt x="691" y="2734"/>
                </a:lnTo>
                <a:lnTo>
                  <a:pt x="720" y="2778"/>
                </a:lnTo>
                <a:lnTo>
                  <a:pt x="750" y="2822"/>
                </a:lnTo>
                <a:lnTo>
                  <a:pt x="777" y="2866"/>
                </a:lnTo>
                <a:lnTo>
                  <a:pt x="806" y="2910"/>
                </a:lnTo>
                <a:lnTo>
                  <a:pt x="833" y="2952"/>
                </a:lnTo>
                <a:lnTo>
                  <a:pt x="858" y="2991"/>
                </a:lnTo>
                <a:lnTo>
                  <a:pt x="881" y="3027"/>
                </a:lnTo>
                <a:lnTo>
                  <a:pt x="900" y="3059"/>
                </a:lnTo>
                <a:lnTo>
                  <a:pt x="917" y="3088"/>
                </a:lnTo>
                <a:lnTo>
                  <a:pt x="929" y="3110"/>
                </a:lnTo>
                <a:lnTo>
                  <a:pt x="940" y="3112"/>
                </a:lnTo>
                <a:lnTo>
                  <a:pt x="950" y="3113"/>
                </a:lnTo>
                <a:lnTo>
                  <a:pt x="960" y="3115"/>
                </a:lnTo>
                <a:lnTo>
                  <a:pt x="969" y="3117"/>
                </a:lnTo>
                <a:lnTo>
                  <a:pt x="980" y="3117"/>
                </a:lnTo>
                <a:lnTo>
                  <a:pt x="991" y="3120"/>
                </a:lnTo>
                <a:lnTo>
                  <a:pt x="1000" y="3121"/>
                </a:lnTo>
                <a:lnTo>
                  <a:pt x="1010" y="3123"/>
                </a:lnTo>
                <a:lnTo>
                  <a:pt x="1012" y="3133"/>
                </a:lnTo>
                <a:lnTo>
                  <a:pt x="1015" y="3142"/>
                </a:lnTo>
                <a:lnTo>
                  <a:pt x="1017" y="3151"/>
                </a:lnTo>
                <a:lnTo>
                  <a:pt x="1019" y="3162"/>
                </a:lnTo>
                <a:lnTo>
                  <a:pt x="1029" y="3162"/>
                </a:lnTo>
                <a:lnTo>
                  <a:pt x="1037" y="3164"/>
                </a:lnTo>
                <a:lnTo>
                  <a:pt x="1046" y="3165"/>
                </a:lnTo>
                <a:lnTo>
                  <a:pt x="1055" y="3166"/>
                </a:lnTo>
                <a:lnTo>
                  <a:pt x="1064" y="3169"/>
                </a:lnTo>
                <a:lnTo>
                  <a:pt x="1073" y="3170"/>
                </a:lnTo>
                <a:lnTo>
                  <a:pt x="1083" y="3171"/>
                </a:lnTo>
                <a:lnTo>
                  <a:pt x="1091" y="3172"/>
                </a:lnTo>
                <a:lnTo>
                  <a:pt x="1108" y="3182"/>
                </a:lnTo>
                <a:lnTo>
                  <a:pt x="1125" y="3193"/>
                </a:lnTo>
                <a:lnTo>
                  <a:pt x="1141" y="3201"/>
                </a:lnTo>
                <a:lnTo>
                  <a:pt x="1156" y="3210"/>
                </a:lnTo>
                <a:lnTo>
                  <a:pt x="1172" y="3220"/>
                </a:lnTo>
                <a:lnTo>
                  <a:pt x="1189" y="3228"/>
                </a:lnTo>
                <a:lnTo>
                  <a:pt x="1206" y="3237"/>
                </a:lnTo>
                <a:lnTo>
                  <a:pt x="1222" y="3245"/>
                </a:lnTo>
                <a:lnTo>
                  <a:pt x="1233" y="3246"/>
                </a:lnTo>
                <a:lnTo>
                  <a:pt x="1244" y="3248"/>
                </a:lnTo>
                <a:lnTo>
                  <a:pt x="1255" y="3250"/>
                </a:lnTo>
                <a:lnTo>
                  <a:pt x="1267" y="3251"/>
                </a:lnTo>
                <a:lnTo>
                  <a:pt x="1278" y="3251"/>
                </a:lnTo>
                <a:lnTo>
                  <a:pt x="1289" y="3252"/>
                </a:lnTo>
                <a:lnTo>
                  <a:pt x="1302" y="3253"/>
                </a:lnTo>
                <a:lnTo>
                  <a:pt x="1313" y="3253"/>
                </a:lnTo>
                <a:lnTo>
                  <a:pt x="1321" y="3264"/>
                </a:lnTo>
                <a:lnTo>
                  <a:pt x="1330" y="3276"/>
                </a:lnTo>
                <a:lnTo>
                  <a:pt x="1340" y="3288"/>
                </a:lnTo>
                <a:lnTo>
                  <a:pt x="1348" y="3297"/>
                </a:lnTo>
                <a:lnTo>
                  <a:pt x="1367" y="3299"/>
                </a:lnTo>
                <a:lnTo>
                  <a:pt x="1388" y="3301"/>
                </a:lnTo>
                <a:lnTo>
                  <a:pt x="1407" y="3303"/>
                </a:lnTo>
                <a:lnTo>
                  <a:pt x="1427" y="3303"/>
                </a:lnTo>
                <a:lnTo>
                  <a:pt x="1448" y="3305"/>
                </a:lnTo>
                <a:lnTo>
                  <a:pt x="1467" y="3305"/>
                </a:lnTo>
                <a:lnTo>
                  <a:pt x="1487" y="3307"/>
                </a:lnTo>
                <a:lnTo>
                  <a:pt x="1507" y="3308"/>
                </a:lnTo>
                <a:lnTo>
                  <a:pt x="1531" y="3321"/>
                </a:lnTo>
                <a:lnTo>
                  <a:pt x="1552" y="3334"/>
                </a:lnTo>
                <a:lnTo>
                  <a:pt x="1577" y="3348"/>
                </a:lnTo>
                <a:lnTo>
                  <a:pt x="1600" y="3361"/>
                </a:lnTo>
                <a:lnTo>
                  <a:pt x="1625" y="3377"/>
                </a:lnTo>
                <a:lnTo>
                  <a:pt x="1649" y="3390"/>
                </a:lnTo>
                <a:lnTo>
                  <a:pt x="1673" y="3404"/>
                </a:lnTo>
                <a:lnTo>
                  <a:pt x="1698" y="3417"/>
                </a:lnTo>
                <a:lnTo>
                  <a:pt x="1707" y="3417"/>
                </a:lnTo>
                <a:lnTo>
                  <a:pt x="1717" y="3417"/>
                </a:lnTo>
                <a:lnTo>
                  <a:pt x="1727" y="3417"/>
                </a:lnTo>
                <a:lnTo>
                  <a:pt x="1738" y="3417"/>
                </a:lnTo>
                <a:lnTo>
                  <a:pt x="1748" y="3417"/>
                </a:lnTo>
                <a:lnTo>
                  <a:pt x="1757" y="3417"/>
                </a:lnTo>
                <a:lnTo>
                  <a:pt x="1768" y="3417"/>
                </a:lnTo>
                <a:lnTo>
                  <a:pt x="1778" y="3417"/>
                </a:lnTo>
                <a:lnTo>
                  <a:pt x="1786" y="3426"/>
                </a:lnTo>
                <a:lnTo>
                  <a:pt x="1796" y="3432"/>
                </a:lnTo>
                <a:lnTo>
                  <a:pt x="1806" y="3438"/>
                </a:lnTo>
                <a:lnTo>
                  <a:pt x="1815" y="3444"/>
                </a:lnTo>
                <a:lnTo>
                  <a:pt x="1823" y="3450"/>
                </a:lnTo>
                <a:lnTo>
                  <a:pt x="1832" y="3454"/>
                </a:lnTo>
                <a:lnTo>
                  <a:pt x="1841" y="3460"/>
                </a:lnTo>
                <a:lnTo>
                  <a:pt x="1850" y="3465"/>
                </a:lnTo>
                <a:lnTo>
                  <a:pt x="1877" y="3472"/>
                </a:lnTo>
                <a:lnTo>
                  <a:pt x="1896" y="3474"/>
                </a:lnTo>
                <a:lnTo>
                  <a:pt x="1907" y="3471"/>
                </a:lnTo>
                <a:lnTo>
                  <a:pt x="1911" y="3464"/>
                </a:lnTo>
                <a:lnTo>
                  <a:pt x="1911" y="3454"/>
                </a:lnTo>
                <a:lnTo>
                  <a:pt x="1905" y="3441"/>
                </a:lnTo>
                <a:lnTo>
                  <a:pt x="1898" y="3427"/>
                </a:lnTo>
                <a:lnTo>
                  <a:pt x="1890" y="3412"/>
                </a:lnTo>
                <a:lnTo>
                  <a:pt x="1883" y="3397"/>
                </a:lnTo>
                <a:lnTo>
                  <a:pt x="1874" y="3382"/>
                </a:lnTo>
                <a:lnTo>
                  <a:pt x="1870" y="3370"/>
                </a:lnTo>
                <a:lnTo>
                  <a:pt x="1869" y="3358"/>
                </a:lnTo>
                <a:lnTo>
                  <a:pt x="1873" y="3352"/>
                </a:lnTo>
                <a:lnTo>
                  <a:pt x="1884" y="3348"/>
                </a:lnTo>
                <a:lnTo>
                  <a:pt x="1902" y="3350"/>
                </a:lnTo>
                <a:lnTo>
                  <a:pt x="1929" y="3357"/>
                </a:lnTo>
                <a:lnTo>
                  <a:pt x="1942" y="3334"/>
                </a:lnTo>
                <a:lnTo>
                  <a:pt x="1953" y="3314"/>
                </a:lnTo>
                <a:lnTo>
                  <a:pt x="1964" y="3295"/>
                </a:lnTo>
                <a:lnTo>
                  <a:pt x="1972" y="3275"/>
                </a:lnTo>
                <a:lnTo>
                  <a:pt x="1982" y="3257"/>
                </a:lnTo>
                <a:lnTo>
                  <a:pt x="1991" y="3235"/>
                </a:lnTo>
                <a:lnTo>
                  <a:pt x="2002" y="3214"/>
                </a:lnTo>
                <a:lnTo>
                  <a:pt x="2014" y="3191"/>
                </a:lnTo>
                <a:lnTo>
                  <a:pt x="2015" y="3177"/>
                </a:lnTo>
                <a:lnTo>
                  <a:pt x="2020" y="3162"/>
                </a:lnTo>
                <a:lnTo>
                  <a:pt x="2026" y="3145"/>
                </a:lnTo>
                <a:lnTo>
                  <a:pt x="2033" y="3126"/>
                </a:lnTo>
                <a:lnTo>
                  <a:pt x="2042" y="3108"/>
                </a:lnTo>
                <a:lnTo>
                  <a:pt x="2048" y="3090"/>
                </a:lnTo>
                <a:lnTo>
                  <a:pt x="2052" y="3075"/>
                </a:lnTo>
                <a:lnTo>
                  <a:pt x="2053" y="3061"/>
                </a:lnTo>
                <a:lnTo>
                  <a:pt x="2066" y="3042"/>
                </a:lnTo>
                <a:lnTo>
                  <a:pt x="2079" y="3021"/>
                </a:lnTo>
                <a:lnTo>
                  <a:pt x="2092" y="3002"/>
                </a:lnTo>
                <a:lnTo>
                  <a:pt x="2103" y="2983"/>
                </a:lnTo>
                <a:lnTo>
                  <a:pt x="2114" y="2964"/>
                </a:lnTo>
                <a:lnTo>
                  <a:pt x="2126" y="2945"/>
                </a:lnTo>
                <a:lnTo>
                  <a:pt x="2137" y="2927"/>
                </a:lnTo>
                <a:lnTo>
                  <a:pt x="2149" y="2907"/>
                </a:lnTo>
                <a:lnTo>
                  <a:pt x="2156" y="2853"/>
                </a:lnTo>
                <a:lnTo>
                  <a:pt x="2167" y="2811"/>
                </a:lnTo>
                <a:lnTo>
                  <a:pt x="2178" y="2769"/>
                </a:lnTo>
                <a:lnTo>
                  <a:pt x="2181" y="2716"/>
                </a:lnTo>
                <a:lnTo>
                  <a:pt x="2195" y="2707"/>
                </a:lnTo>
                <a:lnTo>
                  <a:pt x="2209" y="2695"/>
                </a:lnTo>
                <a:lnTo>
                  <a:pt x="2224" y="2682"/>
                </a:lnTo>
                <a:lnTo>
                  <a:pt x="2240" y="2669"/>
                </a:lnTo>
                <a:lnTo>
                  <a:pt x="2255" y="2656"/>
                </a:lnTo>
                <a:lnTo>
                  <a:pt x="2270" y="2642"/>
                </a:lnTo>
                <a:lnTo>
                  <a:pt x="2284" y="2631"/>
                </a:lnTo>
                <a:lnTo>
                  <a:pt x="2297" y="2621"/>
                </a:lnTo>
                <a:lnTo>
                  <a:pt x="2306" y="2569"/>
                </a:lnTo>
                <a:lnTo>
                  <a:pt x="2312" y="2527"/>
                </a:lnTo>
                <a:lnTo>
                  <a:pt x="2317" y="2486"/>
                </a:lnTo>
                <a:lnTo>
                  <a:pt x="2328" y="2431"/>
                </a:lnTo>
                <a:lnTo>
                  <a:pt x="2338" y="2421"/>
                </a:lnTo>
                <a:lnTo>
                  <a:pt x="2355" y="2409"/>
                </a:lnTo>
                <a:lnTo>
                  <a:pt x="2374" y="2396"/>
                </a:lnTo>
                <a:lnTo>
                  <a:pt x="2397" y="2381"/>
                </a:lnTo>
                <a:lnTo>
                  <a:pt x="2420" y="2366"/>
                </a:lnTo>
                <a:lnTo>
                  <a:pt x="2440" y="2352"/>
                </a:lnTo>
                <a:lnTo>
                  <a:pt x="2456" y="2342"/>
                </a:lnTo>
                <a:lnTo>
                  <a:pt x="2465" y="2332"/>
                </a:lnTo>
                <a:lnTo>
                  <a:pt x="2463" y="2317"/>
                </a:lnTo>
                <a:lnTo>
                  <a:pt x="2463" y="2304"/>
                </a:lnTo>
                <a:lnTo>
                  <a:pt x="2468" y="2291"/>
                </a:lnTo>
                <a:lnTo>
                  <a:pt x="2471" y="2278"/>
                </a:lnTo>
                <a:lnTo>
                  <a:pt x="2476" y="2264"/>
                </a:lnTo>
                <a:lnTo>
                  <a:pt x="2479" y="2251"/>
                </a:lnTo>
                <a:lnTo>
                  <a:pt x="2481" y="2235"/>
                </a:lnTo>
                <a:lnTo>
                  <a:pt x="2479" y="2222"/>
                </a:lnTo>
                <a:lnTo>
                  <a:pt x="2490" y="2220"/>
                </a:lnTo>
                <a:lnTo>
                  <a:pt x="2501" y="2216"/>
                </a:lnTo>
                <a:lnTo>
                  <a:pt x="2513" y="2213"/>
                </a:lnTo>
                <a:lnTo>
                  <a:pt x="2525" y="2208"/>
                </a:lnTo>
                <a:lnTo>
                  <a:pt x="2536" y="2204"/>
                </a:lnTo>
                <a:lnTo>
                  <a:pt x="2547" y="2201"/>
                </a:lnTo>
                <a:lnTo>
                  <a:pt x="2558" y="2196"/>
                </a:lnTo>
                <a:lnTo>
                  <a:pt x="2569" y="2193"/>
                </a:lnTo>
                <a:lnTo>
                  <a:pt x="2574" y="2172"/>
                </a:lnTo>
                <a:lnTo>
                  <a:pt x="2581" y="2153"/>
                </a:lnTo>
                <a:lnTo>
                  <a:pt x="2589" y="2133"/>
                </a:lnTo>
                <a:lnTo>
                  <a:pt x="2598" y="2111"/>
                </a:lnTo>
                <a:lnTo>
                  <a:pt x="2606" y="2115"/>
                </a:lnTo>
                <a:lnTo>
                  <a:pt x="2612" y="2117"/>
                </a:lnTo>
                <a:lnTo>
                  <a:pt x="2619" y="2120"/>
                </a:lnTo>
                <a:lnTo>
                  <a:pt x="2627" y="2123"/>
                </a:lnTo>
                <a:lnTo>
                  <a:pt x="2634" y="2126"/>
                </a:lnTo>
                <a:lnTo>
                  <a:pt x="2643" y="2128"/>
                </a:lnTo>
                <a:lnTo>
                  <a:pt x="2651" y="2131"/>
                </a:lnTo>
                <a:lnTo>
                  <a:pt x="2659" y="2133"/>
                </a:lnTo>
                <a:lnTo>
                  <a:pt x="2667" y="2115"/>
                </a:lnTo>
                <a:lnTo>
                  <a:pt x="2673" y="2098"/>
                </a:lnTo>
                <a:lnTo>
                  <a:pt x="2677" y="2080"/>
                </a:lnTo>
                <a:lnTo>
                  <a:pt x="2682" y="2064"/>
                </a:lnTo>
                <a:lnTo>
                  <a:pt x="2687" y="2058"/>
                </a:lnTo>
                <a:lnTo>
                  <a:pt x="2692" y="2053"/>
                </a:lnTo>
                <a:lnTo>
                  <a:pt x="2698" y="2049"/>
                </a:lnTo>
                <a:lnTo>
                  <a:pt x="2704" y="2042"/>
                </a:lnTo>
                <a:lnTo>
                  <a:pt x="2710" y="2038"/>
                </a:lnTo>
                <a:lnTo>
                  <a:pt x="2715" y="2032"/>
                </a:lnTo>
                <a:lnTo>
                  <a:pt x="2721" y="2026"/>
                </a:lnTo>
                <a:lnTo>
                  <a:pt x="2725" y="2021"/>
                </a:lnTo>
                <a:lnTo>
                  <a:pt x="2735" y="2005"/>
                </a:lnTo>
                <a:lnTo>
                  <a:pt x="2746" y="1989"/>
                </a:lnTo>
                <a:lnTo>
                  <a:pt x="2757" y="1972"/>
                </a:lnTo>
                <a:lnTo>
                  <a:pt x="2769" y="1957"/>
                </a:lnTo>
                <a:lnTo>
                  <a:pt x="2781" y="1940"/>
                </a:lnTo>
                <a:lnTo>
                  <a:pt x="2793" y="1925"/>
                </a:lnTo>
                <a:lnTo>
                  <a:pt x="2807" y="1907"/>
                </a:lnTo>
                <a:lnTo>
                  <a:pt x="2821" y="1891"/>
                </a:lnTo>
                <a:lnTo>
                  <a:pt x="2844" y="1871"/>
                </a:lnTo>
                <a:lnTo>
                  <a:pt x="2869" y="1850"/>
                </a:lnTo>
                <a:lnTo>
                  <a:pt x="2892" y="1829"/>
                </a:lnTo>
                <a:lnTo>
                  <a:pt x="2916" y="1809"/>
                </a:lnTo>
                <a:lnTo>
                  <a:pt x="2940" y="1787"/>
                </a:lnTo>
                <a:lnTo>
                  <a:pt x="2963" y="1765"/>
                </a:lnTo>
                <a:lnTo>
                  <a:pt x="2985" y="1743"/>
                </a:lnTo>
                <a:lnTo>
                  <a:pt x="3008" y="1721"/>
                </a:lnTo>
                <a:lnTo>
                  <a:pt x="3030" y="1698"/>
                </a:lnTo>
                <a:lnTo>
                  <a:pt x="3054" y="1676"/>
                </a:lnTo>
                <a:lnTo>
                  <a:pt x="3077" y="1653"/>
                </a:lnTo>
                <a:lnTo>
                  <a:pt x="3100" y="1629"/>
                </a:lnTo>
                <a:lnTo>
                  <a:pt x="3122" y="1605"/>
                </a:lnTo>
                <a:lnTo>
                  <a:pt x="3146" y="1581"/>
                </a:lnTo>
                <a:lnTo>
                  <a:pt x="3171" y="1558"/>
                </a:lnTo>
                <a:lnTo>
                  <a:pt x="3194" y="1534"/>
                </a:lnTo>
                <a:lnTo>
                  <a:pt x="3219" y="1508"/>
                </a:lnTo>
                <a:lnTo>
                  <a:pt x="3244" y="1485"/>
                </a:lnTo>
                <a:lnTo>
                  <a:pt x="3270" y="1460"/>
                </a:lnTo>
                <a:lnTo>
                  <a:pt x="3296" y="1435"/>
                </a:lnTo>
                <a:lnTo>
                  <a:pt x="3322" y="1409"/>
                </a:lnTo>
                <a:lnTo>
                  <a:pt x="3350" y="1385"/>
                </a:lnTo>
                <a:lnTo>
                  <a:pt x="3380" y="1360"/>
                </a:lnTo>
                <a:lnTo>
                  <a:pt x="3409" y="1335"/>
                </a:lnTo>
                <a:lnTo>
                  <a:pt x="3439" y="1309"/>
                </a:lnTo>
                <a:lnTo>
                  <a:pt x="3470" y="1283"/>
                </a:lnTo>
                <a:lnTo>
                  <a:pt x="3501" y="1258"/>
                </a:lnTo>
                <a:lnTo>
                  <a:pt x="3535" y="1231"/>
                </a:lnTo>
                <a:lnTo>
                  <a:pt x="3569" y="1208"/>
                </a:lnTo>
                <a:lnTo>
                  <a:pt x="3604" y="1181"/>
                </a:lnTo>
                <a:lnTo>
                  <a:pt x="3641" y="1156"/>
                </a:lnTo>
                <a:lnTo>
                  <a:pt x="3679" y="1130"/>
                </a:lnTo>
                <a:lnTo>
                  <a:pt x="3695" y="1119"/>
                </a:lnTo>
                <a:lnTo>
                  <a:pt x="3712" y="1107"/>
                </a:lnTo>
                <a:lnTo>
                  <a:pt x="3730" y="1097"/>
                </a:lnTo>
                <a:lnTo>
                  <a:pt x="3746" y="1085"/>
                </a:lnTo>
                <a:lnTo>
                  <a:pt x="3764" y="1076"/>
                </a:lnTo>
                <a:lnTo>
                  <a:pt x="3781" y="1065"/>
                </a:lnTo>
                <a:lnTo>
                  <a:pt x="3799" y="1054"/>
                </a:lnTo>
                <a:lnTo>
                  <a:pt x="3818" y="1045"/>
                </a:lnTo>
                <a:lnTo>
                  <a:pt x="3827" y="1039"/>
                </a:lnTo>
                <a:lnTo>
                  <a:pt x="3839" y="1035"/>
                </a:lnTo>
                <a:lnTo>
                  <a:pt x="3849" y="1030"/>
                </a:lnTo>
                <a:lnTo>
                  <a:pt x="3859" y="1025"/>
                </a:lnTo>
                <a:lnTo>
                  <a:pt x="3869" y="1019"/>
                </a:lnTo>
                <a:lnTo>
                  <a:pt x="3880" y="1015"/>
                </a:lnTo>
                <a:lnTo>
                  <a:pt x="3890" y="1008"/>
                </a:lnTo>
                <a:lnTo>
                  <a:pt x="3901" y="1003"/>
                </a:lnTo>
                <a:lnTo>
                  <a:pt x="3920" y="991"/>
                </a:lnTo>
                <a:lnTo>
                  <a:pt x="3938" y="980"/>
                </a:lnTo>
                <a:lnTo>
                  <a:pt x="3957" y="970"/>
                </a:lnTo>
                <a:lnTo>
                  <a:pt x="3975" y="956"/>
                </a:lnTo>
                <a:lnTo>
                  <a:pt x="3994" y="946"/>
                </a:lnTo>
                <a:lnTo>
                  <a:pt x="4012" y="932"/>
                </a:lnTo>
                <a:lnTo>
                  <a:pt x="4031" y="922"/>
                </a:lnTo>
                <a:lnTo>
                  <a:pt x="4049" y="910"/>
                </a:lnTo>
                <a:lnTo>
                  <a:pt x="4061" y="901"/>
                </a:lnTo>
                <a:lnTo>
                  <a:pt x="4074" y="891"/>
                </a:lnTo>
                <a:lnTo>
                  <a:pt x="4085" y="882"/>
                </a:lnTo>
                <a:lnTo>
                  <a:pt x="4099" y="872"/>
                </a:lnTo>
                <a:lnTo>
                  <a:pt x="4112" y="863"/>
                </a:lnTo>
                <a:lnTo>
                  <a:pt x="4125" y="854"/>
                </a:lnTo>
                <a:lnTo>
                  <a:pt x="4137" y="845"/>
                </a:lnTo>
                <a:lnTo>
                  <a:pt x="4151" y="835"/>
                </a:lnTo>
                <a:lnTo>
                  <a:pt x="4156" y="823"/>
                </a:lnTo>
                <a:lnTo>
                  <a:pt x="4161" y="811"/>
                </a:lnTo>
                <a:lnTo>
                  <a:pt x="4166" y="801"/>
                </a:lnTo>
                <a:lnTo>
                  <a:pt x="4170" y="792"/>
                </a:lnTo>
                <a:lnTo>
                  <a:pt x="4179" y="783"/>
                </a:lnTo>
                <a:lnTo>
                  <a:pt x="4187" y="778"/>
                </a:lnTo>
                <a:lnTo>
                  <a:pt x="4195" y="770"/>
                </a:lnTo>
                <a:lnTo>
                  <a:pt x="4204" y="764"/>
                </a:lnTo>
                <a:lnTo>
                  <a:pt x="4212" y="756"/>
                </a:lnTo>
                <a:lnTo>
                  <a:pt x="4221" y="750"/>
                </a:lnTo>
                <a:lnTo>
                  <a:pt x="4230" y="743"/>
                </a:lnTo>
                <a:lnTo>
                  <a:pt x="4239" y="737"/>
                </a:lnTo>
                <a:lnTo>
                  <a:pt x="4242" y="743"/>
                </a:lnTo>
                <a:lnTo>
                  <a:pt x="4245" y="749"/>
                </a:lnTo>
                <a:lnTo>
                  <a:pt x="4248" y="755"/>
                </a:lnTo>
                <a:lnTo>
                  <a:pt x="4250" y="762"/>
                </a:lnTo>
                <a:lnTo>
                  <a:pt x="4264" y="752"/>
                </a:lnTo>
                <a:lnTo>
                  <a:pt x="4276" y="746"/>
                </a:lnTo>
                <a:lnTo>
                  <a:pt x="4290" y="737"/>
                </a:lnTo>
                <a:lnTo>
                  <a:pt x="4304" y="728"/>
                </a:lnTo>
                <a:lnTo>
                  <a:pt x="4317" y="721"/>
                </a:lnTo>
                <a:lnTo>
                  <a:pt x="4331" y="712"/>
                </a:lnTo>
                <a:lnTo>
                  <a:pt x="4345" y="705"/>
                </a:lnTo>
                <a:lnTo>
                  <a:pt x="4356" y="697"/>
                </a:lnTo>
                <a:lnTo>
                  <a:pt x="4366" y="683"/>
                </a:lnTo>
                <a:lnTo>
                  <a:pt x="4375" y="665"/>
                </a:lnTo>
                <a:lnTo>
                  <a:pt x="4385" y="649"/>
                </a:lnTo>
                <a:lnTo>
                  <a:pt x="4393" y="634"/>
                </a:lnTo>
                <a:lnTo>
                  <a:pt x="4404" y="624"/>
                </a:lnTo>
                <a:lnTo>
                  <a:pt x="4416" y="615"/>
                </a:lnTo>
                <a:lnTo>
                  <a:pt x="4429" y="606"/>
                </a:lnTo>
                <a:lnTo>
                  <a:pt x="4441" y="598"/>
                </a:lnTo>
                <a:lnTo>
                  <a:pt x="4452" y="590"/>
                </a:lnTo>
                <a:lnTo>
                  <a:pt x="4465" y="580"/>
                </a:lnTo>
                <a:lnTo>
                  <a:pt x="4475" y="570"/>
                </a:lnTo>
                <a:lnTo>
                  <a:pt x="4485" y="562"/>
                </a:lnTo>
                <a:lnTo>
                  <a:pt x="4490" y="547"/>
                </a:lnTo>
                <a:lnTo>
                  <a:pt x="4494" y="532"/>
                </a:lnTo>
                <a:lnTo>
                  <a:pt x="4499" y="517"/>
                </a:lnTo>
                <a:lnTo>
                  <a:pt x="4506" y="501"/>
                </a:lnTo>
                <a:lnTo>
                  <a:pt x="4516" y="492"/>
                </a:lnTo>
                <a:lnTo>
                  <a:pt x="4529" y="484"/>
                </a:lnTo>
                <a:lnTo>
                  <a:pt x="4541" y="477"/>
                </a:lnTo>
                <a:lnTo>
                  <a:pt x="4553" y="468"/>
                </a:lnTo>
                <a:lnTo>
                  <a:pt x="4564" y="459"/>
                </a:lnTo>
                <a:lnTo>
                  <a:pt x="4577" y="450"/>
                </a:lnTo>
                <a:lnTo>
                  <a:pt x="4587" y="443"/>
                </a:lnTo>
                <a:lnTo>
                  <a:pt x="4597" y="435"/>
                </a:lnTo>
                <a:lnTo>
                  <a:pt x="4611" y="430"/>
                </a:lnTo>
                <a:lnTo>
                  <a:pt x="4625" y="426"/>
                </a:lnTo>
                <a:lnTo>
                  <a:pt x="4638" y="422"/>
                </a:lnTo>
                <a:lnTo>
                  <a:pt x="4650" y="418"/>
                </a:lnTo>
                <a:lnTo>
                  <a:pt x="4664" y="413"/>
                </a:lnTo>
                <a:lnTo>
                  <a:pt x="4676" y="410"/>
                </a:lnTo>
                <a:lnTo>
                  <a:pt x="4688" y="405"/>
                </a:lnTo>
                <a:lnTo>
                  <a:pt x="4702" y="401"/>
                </a:lnTo>
                <a:lnTo>
                  <a:pt x="4708" y="393"/>
                </a:lnTo>
                <a:lnTo>
                  <a:pt x="4714" y="384"/>
                </a:lnTo>
                <a:lnTo>
                  <a:pt x="4720" y="377"/>
                </a:lnTo>
                <a:lnTo>
                  <a:pt x="4726" y="367"/>
                </a:lnTo>
                <a:lnTo>
                  <a:pt x="4733" y="359"/>
                </a:lnTo>
                <a:lnTo>
                  <a:pt x="4739" y="350"/>
                </a:lnTo>
                <a:lnTo>
                  <a:pt x="4745" y="341"/>
                </a:lnTo>
                <a:lnTo>
                  <a:pt x="4751" y="332"/>
                </a:lnTo>
                <a:lnTo>
                  <a:pt x="4761" y="326"/>
                </a:lnTo>
                <a:lnTo>
                  <a:pt x="4772" y="319"/>
                </a:lnTo>
                <a:lnTo>
                  <a:pt x="4781" y="312"/>
                </a:lnTo>
                <a:lnTo>
                  <a:pt x="4790" y="305"/>
                </a:lnTo>
                <a:lnTo>
                  <a:pt x="4800" y="298"/>
                </a:lnTo>
                <a:lnTo>
                  <a:pt x="4810" y="291"/>
                </a:lnTo>
                <a:lnTo>
                  <a:pt x="4819" y="283"/>
                </a:lnTo>
                <a:lnTo>
                  <a:pt x="4827" y="275"/>
                </a:lnTo>
                <a:lnTo>
                  <a:pt x="4833" y="280"/>
                </a:lnTo>
                <a:lnTo>
                  <a:pt x="4840" y="285"/>
                </a:lnTo>
                <a:lnTo>
                  <a:pt x="4848" y="292"/>
                </a:lnTo>
                <a:lnTo>
                  <a:pt x="4852" y="297"/>
                </a:lnTo>
                <a:lnTo>
                  <a:pt x="4862" y="289"/>
                </a:lnTo>
                <a:lnTo>
                  <a:pt x="4873" y="280"/>
                </a:lnTo>
                <a:lnTo>
                  <a:pt x="4882" y="272"/>
                </a:lnTo>
                <a:lnTo>
                  <a:pt x="4893" y="264"/>
                </a:lnTo>
                <a:lnTo>
                  <a:pt x="4902" y="253"/>
                </a:lnTo>
                <a:lnTo>
                  <a:pt x="4912" y="244"/>
                </a:lnTo>
                <a:lnTo>
                  <a:pt x="4923" y="236"/>
                </a:lnTo>
                <a:lnTo>
                  <a:pt x="4933" y="228"/>
                </a:lnTo>
                <a:lnTo>
                  <a:pt x="4921" y="233"/>
                </a:lnTo>
                <a:lnTo>
                  <a:pt x="4910" y="239"/>
                </a:lnTo>
                <a:lnTo>
                  <a:pt x="4898" y="246"/>
                </a:lnTo>
                <a:lnTo>
                  <a:pt x="4884" y="250"/>
                </a:lnTo>
                <a:lnTo>
                  <a:pt x="4873" y="257"/>
                </a:lnTo>
                <a:lnTo>
                  <a:pt x="4862" y="262"/>
                </a:lnTo>
                <a:lnTo>
                  <a:pt x="4850" y="267"/>
                </a:lnTo>
                <a:lnTo>
                  <a:pt x="4838" y="272"/>
                </a:lnTo>
                <a:lnTo>
                  <a:pt x="4849" y="246"/>
                </a:lnTo>
                <a:lnTo>
                  <a:pt x="4858" y="223"/>
                </a:lnTo>
                <a:lnTo>
                  <a:pt x="4864" y="199"/>
                </a:lnTo>
                <a:lnTo>
                  <a:pt x="4869" y="175"/>
                </a:lnTo>
                <a:lnTo>
                  <a:pt x="4861" y="182"/>
                </a:lnTo>
                <a:lnTo>
                  <a:pt x="4852" y="191"/>
                </a:lnTo>
                <a:lnTo>
                  <a:pt x="4842" y="200"/>
                </a:lnTo>
                <a:lnTo>
                  <a:pt x="4832" y="208"/>
                </a:lnTo>
                <a:lnTo>
                  <a:pt x="4823" y="216"/>
                </a:lnTo>
                <a:lnTo>
                  <a:pt x="4813" y="224"/>
                </a:lnTo>
                <a:lnTo>
                  <a:pt x="4801" y="233"/>
                </a:lnTo>
                <a:lnTo>
                  <a:pt x="4792" y="242"/>
                </a:lnTo>
                <a:lnTo>
                  <a:pt x="4785" y="252"/>
                </a:lnTo>
                <a:lnTo>
                  <a:pt x="4776" y="262"/>
                </a:lnTo>
                <a:lnTo>
                  <a:pt x="4768" y="272"/>
                </a:lnTo>
                <a:lnTo>
                  <a:pt x="4761" y="283"/>
                </a:lnTo>
                <a:lnTo>
                  <a:pt x="4754" y="295"/>
                </a:lnTo>
                <a:lnTo>
                  <a:pt x="4746" y="305"/>
                </a:lnTo>
                <a:lnTo>
                  <a:pt x="4739" y="317"/>
                </a:lnTo>
                <a:lnTo>
                  <a:pt x="4732" y="328"/>
                </a:lnTo>
                <a:lnTo>
                  <a:pt x="4724" y="332"/>
                </a:lnTo>
                <a:lnTo>
                  <a:pt x="4717" y="337"/>
                </a:lnTo>
                <a:lnTo>
                  <a:pt x="4710" y="343"/>
                </a:lnTo>
                <a:lnTo>
                  <a:pt x="4704" y="349"/>
                </a:lnTo>
                <a:lnTo>
                  <a:pt x="4696" y="354"/>
                </a:lnTo>
                <a:lnTo>
                  <a:pt x="4689" y="359"/>
                </a:lnTo>
                <a:lnTo>
                  <a:pt x="4683" y="363"/>
                </a:lnTo>
                <a:lnTo>
                  <a:pt x="4676" y="368"/>
                </a:lnTo>
                <a:lnTo>
                  <a:pt x="4671" y="367"/>
                </a:lnTo>
                <a:lnTo>
                  <a:pt x="4666" y="366"/>
                </a:lnTo>
                <a:lnTo>
                  <a:pt x="4662" y="363"/>
                </a:lnTo>
                <a:lnTo>
                  <a:pt x="4658" y="362"/>
                </a:lnTo>
                <a:lnTo>
                  <a:pt x="4653" y="361"/>
                </a:lnTo>
                <a:lnTo>
                  <a:pt x="4648" y="359"/>
                </a:lnTo>
                <a:lnTo>
                  <a:pt x="4642" y="357"/>
                </a:lnTo>
                <a:lnTo>
                  <a:pt x="4638" y="357"/>
                </a:lnTo>
                <a:lnTo>
                  <a:pt x="4616" y="374"/>
                </a:lnTo>
                <a:lnTo>
                  <a:pt x="4595" y="393"/>
                </a:lnTo>
                <a:lnTo>
                  <a:pt x="4573" y="412"/>
                </a:lnTo>
                <a:lnTo>
                  <a:pt x="4552" y="430"/>
                </a:lnTo>
                <a:lnTo>
                  <a:pt x="4529" y="449"/>
                </a:lnTo>
                <a:lnTo>
                  <a:pt x="4506" y="468"/>
                </a:lnTo>
                <a:lnTo>
                  <a:pt x="4484" y="487"/>
                </a:lnTo>
                <a:lnTo>
                  <a:pt x="4461" y="506"/>
                </a:lnTo>
                <a:lnTo>
                  <a:pt x="4450" y="511"/>
                </a:lnTo>
                <a:lnTo>
                  <a:pt x="4441" y="517"/>
                </a:lnTo>
                <a:lnTo>
                  <a:pt x="4431" y="521"/>
                </a:lnTo>
                <a:lnTo>
                  <a:pt x="4422" y="528"/>
                </a:lnTo>
                <a:lnTo>
                  <a:pt x="4411" y="532"/>
                </a:lnTo>
                <a:lnTo>
                  <a:pt x="4403" y="537"/>
                </a:lnTo>
                <a:lnTo>
                  <a:pt x="4393" y="543"/>
                </a:lnTo>
                <a:lnTo>
                  <a:pt x="4385" y="548"/>
                </a:lnTo>
                <a:lnTo>
                  <a:pt x="4378" y="546"/>
                </a:lnTo>
                <a:lnTo>
                  <a:pt x="4372" y="543"/>
                </a:lnTo>
                <a:lnTo>
                  <a:pt x="4366" y="541"/>
                </a:lnTo>
                <a:lnTo>
                  <a:pt x="4362" y="537"/>
                </a:lnTo>
                <a:lnTo>
                  <a:pt x="4355" y="535"/>
                </a:lnTo>
                <a:lnTo>
                  <a:pt x="4351" y="532"/>
                </a:lnTo>
                <a:lnTo>
                  <a:pt x="4345" y="530"/>
                </a:lnTo>
                <a:lnTo>
                  <a:pt x="4339" y="528"/>
                </a:lnTo>
                <a:lnTo>
                  <a:pt x="4314" y="546"/>
                </a:lnTo>
                <a:lnTo>
                  <a:pt x="4289" y="563"/>
                </a:lnTo>
                <a:lnTo>
                  <a:pt x="4264" y="581"/>
                </a:lnTo>
                <a:lnTo>
                  <a:pt x="4239" y="599"/>
                </a:lnTo>
                <a:lnTo>
                  <a:pt x="4215" y="617"/>
                </a:lnTo>
                <a:lnTo>
                  <a:pt x="4189" y="635"/>
                </a:lnTo>
                <a:lnTo>
                  <a:pt x="4164" y="653"/>
                </a:lnTo>
                <a:lnTo>
                  <a:pt x="4139" y="670"/>
                </a:lnTo>
                <a:lnTo>
                  <a:pt x="4114" y="688"/>
                </a:lnTo>
                <a:lnTo>
                  <a:pt x="4089" y="708"/>
                </a:lnTo>
                <a:lnTo>
                  <a:pt x="4064" y="724"/>
                </a:lnTo>
                <a:lnTo>
                  <a:pt x="4039" y="743"/>
                </a:lnTo>
                <a:lnTo>
                  <a:pt x="4014" y="761"/>
                </a:lnTo>
                <a:lnTo>
                  <a:pt x="3988" y="779"/>
                </a:lnTo>
                <a:lnTo>
                  <a:pt x="3964" y="798"/>
                </a:lnTo>
                <a:lnTo>
                  <a:pt x="3938" y="816"/>
                </a:lnTo>
                <a:lnTo>
                  <a:pt x="3932" y="808"/>
                </a:lnTo>
                <a:lnTo>
                  <a:pt x="3926" y="801"/>
                </a:lnTo>
                <a:lnTo>
                  <a:pt x="3920" y="791"/>
                </a:lnTo>
                <a:lnTo>
                  <a:pt x="3916" y="780"/>
                </a:lnTo>
                <a:lnTo>
                  <a:pt x="3926" y="773"/>
                </a:lnTo>
                <a:lnTo>
                  <a:pt x="3934" y="766"/>
                </a:lnTo>
                <a:lnTo>
                  <a:pt x="3944" y="756"/>
                </a:lnTo>
                <a:lnTo>
                  <a:pt x="3953" y="748"/>
                </a:lnTo>
                <a:lnTo>
                  <a:pt x="3963" y="739"/>
                </a:lnTo>
                <a:lnTo>
                  <a:pt x="3972" y="731"/>
                </a:lnTo>
                <a:lnTo>
                  <a:pt x="3982" y="721"/>
                </a:lnTo>
                <a:lnTo>
                  <a:pt x="3993" y="713"/>
                </a:lnTo>
                <a:lnTo>
                  <a:pt x="4000" y="711"/>
                </a:lnTo>
                <a:lnTo>
                  <a:pt x="4007" y="708"/>
                </a:lnTo>
                <a:lnTo>
                  <a:pt x="4014" y="708"/>
                </a:lnTo>
                <a:lnTo>
                  <a:pt x="4023" y="705"/>
                </a:lnTo>
                <a:lnTo>
                  <a:pt x="4031" y="702"/>
                </a:lnTo>
                <a:lnTo>
                  <a:pt x="4038" y="699"/>
                </a:lnTo>
                <a:lnTo>
                  <a:pt x="4047" y="696"/>
                </a:lnTo>
                <a:lnTo>
                  <a:pt x="4054" y="694"/>
                </a:lnTo>
                <a:lnTo>
                  <a:pt x="4058" y="687"/>
                </a:lnTo>
                <a:lnTo>
                  <a:pt x="4063" y="680"/>
                </a:lnTo>
                <a:lnTo>
                  <a:pt x="4069" y="674"/>
                </a:lnTo>
                <a:lnTo>
                  <a:pt x="4074" y="666"/>
                </a:lnTo>
                <a:lnTo>
                  <a:pt x="4078" y="659"/>
                </a:lnTo>
                <a:lnTo>
                  <a:pt x="4083" y="652"/>
                </a:lnTo>
                <a:lnTo>
                  <a:pt x="4089" y="644"/>
                </a:lnTo>
                <a:lnTo>
                  <a:pt x="4094" y="636"/>
                </a:lnTo>
                <a:lnTo>
                  <a:pt x="4104" y="632"/>
                </a:lnTo>
                <a:lnTo>
                  <a:pt x="4113" y="626"/>
                </a:lnTo>
                <a:lnTo>
                  <a:pt x="4123" y="621"/>
                </a:lnTo>
                <a:lnTo>
                  <a:pt x="4133" y="615"/>
                </a:lnTo>
                <a:lnTo>
                  <a:pt x="4141" y="609"/>
                </a:lnTo>
                <a:lnTo>
                  <a:pt x="4151" y="604"/>
                </a:lnTo>
                <a:lnTo>
                  <a:pt x="4161" y="598"/>
                </a:lnTo>
                <a:lnTo>
                  <a:pt x="4170" y="593"/>
                </a:lnTo>
                <a:lnTo>
                  <a:pt x="4177" y="579"/>
                </a:lnTo>
                <a:lnTo>
                  <a:pt x="4185" y="566"/>
                </a:lnTo>
                <a:lnTo>
                  <a:pt x="4191" y="552"/>
                </a:lnTo>
                <a:lnTo>
                  <a:pt x="4199" y="537"/>
                </a:lnTo>
                <a:lnTo>
                  <a:pt x="4205" y="530"/>
                </a:lnTo>
                <a:lnTo>
                  <a:pt x="4212" y="524"/>
                </a:lnTo>
                <a:lnTo>
                  <a:pt x="4219" y="517"/>
                </a:lnTo>
                <a:lnTo>
                  <a:pt x="4226" y="511"/>
                </a:lnTo>
                <a:lnTo>
                  <a:pt x="4233" y="505"/>
                </a:lnTo>
                <a:lnTo>
                  <a:pt x="4241" y="499"/>
                </a:lnTo>
                <a:lnTo>
                  <a:pt x="4249" y="492"/>
                </a:lnTo>
                <a:lnTo>
                  <a:pt x="4256" y="486"/>
                </a:lnTo>
                <a:lnTo>
                  <a:pt x="4250" y="484"/>
                </a:lnTo>
                <a:lnTo>
                  <a:pt x="4245" y="481"/>
                </a:lnTo>
                <a:lnTo>
                  <a:pt x="4239" y="479"/>
                </a:lnTo>
                <a:lnTo>
                  <a:pt x="4233" y="475"/>
                </a:lnTo>
                <a:lnTo>
                  <a:pt x="4228" y="473"/>
                </a:lnTo>
                <a:lnTo>
                  <a:pt x="4221" y="469"/>
                </a:lnTo>
                <a:lnTo>
                  <a:pt x="4216" y="466"/>
                </a:lnTo>
                <a:lnTo>
                  <a:pt x="4210" y="461"/>
                </a:lnTo>
                <a:lnTo>
                  <a:pt x="4221" y="453"/>
                </a:lnTo>
                <a:lnTo>
                  <a:pt x="4232" y="444"/>
                </a:lnTo>
                <a:lnTo>
                  <a:pt x="4243" y="436"/>
                </a:lnTo>
                <a:lnTo>
                  <a:pt x="4255" y="426"/>
                </a:lnTo>
                <a:lnTo>
                  <a:pt x="4267" y="418"/>
                </a:lnTo>
                <a:lnTo>
                  <a:pt x="4278" y="410"/>
                </a:lnTo>
                <a:lnTo>
                  <a:pt x="4289" y="401"/>
                </a:lnTo>
                <a:lnTo>
                  <a:pt x="4300" y="392"/>
                </a:lnTo>
                <a:lnTo>
                  <a:pt x="4306" y="386"/>
                </a:lnTo>
                <a:lnTo>
                  <a:pt x="4314" y="381"/>
                </a:lnTo>
                <a:lnTo>
                  <a:pt x="4322" y="374"/>
                </a:lnTo>
                <a:lnTo>
                  <a:pt x="4327" y="367"/>
                </a:lnTo>
                <a:lnTo>
                  <a:pt x="4336" y="357"/>
                </a:lnTo>
                <a:lnTo>
                  <a:pt x="4347" y="346"/>
                </a:lnTo>
                <a:lnTo>
                  <a:pt x="4354" y="334"/>
                </a:lnTo>
                <a:lnTo>
                  <a:pt x="4362" y="323"/>
                </a:lnTo>
                <a:lnTo>
                  <a:pt x="4371" y="311"/>
                </a:lnTo>
                <a:lnTo>
                  <a:pt x="4380" y="300"/>
                </a:lnTo>
                <a:lnTo>
                  <a:pt x="4389" y="289"/>
                </a:lnTo>
                <a:lnTo>
                  <a:pt x="4397" y="277"/>
                </a:lnTo>
                <a:lnTo>
                  <a:pt x="4375" y="288"/>
                </a:lnTo>
                <a:lnTo>
                  <a:pt x="4356" y="297"/>
                </a:lnTo>
                <a:lnTo>
                  <a:pt x="4335" y="306"/>
                </a:lnTo>
                <a:lnTo>
                  <a:pt x="4316" y="315"/>
                </a:lnTo>
                <a:lnTo>
                  <a:pt x="4294" y="326"/>
                </a:lnTo>
                <a:lnTo>
                  <a:pt x="4274" y="335"/>
                </a:lnTo>
                <a:lnTo>
                  <a:pt x="4252" y="347"/>
                </a:lnTo>
                <a:lnTo>
                  <a:pt x="4232" y="357"/>
                </a:lnTo>
                <a:lnTo>
                  <a:pt x="4228" y="354"/>
                </a:lnTo>
                <a:lnTo>
                  <a:pt x="4224" y="351"/>
                </a:lnTo>
                <a:lnTo>
                  <a:pt x="4218" y="350"/>
                </a:lnTo>
                <a:lnTo>
                  <a:pt x="4214" y="348"/>
                </a:lnTo>
                <a:lnTo>
                  <a:pt x="4208" y="347"/>
                </a:lnTo>
                <a:lnTo>
                  <a:pt x="4204" y="343"/>
                </a:lnTo>
                <a:lnTo>
                  <a:pt x="4200" y="343"/>
                </a:lnTo>
                <a:lnTo>
                  <a:pt x="4195" y="342"/>
                </a:lnTo>
                <a:lnTo>
                  <a:pt x="4201" y="336"/>
                </a:lnTo>
                <a:lnTo>
                  <a:pt x="4208" y="330"/>
                </a:lnTo>
                <a:lnTo>
                  <a:pt x="4214" y="324"/>
                </a:lnTo>
                <a:lnTo>
                  <a:pt x="4219" y="317"/>
                </a:lnTo>
                <a:lnTo>
                  <a:pt x="4226" y="310"/>
                </a:lnTo>
                <a:lnTo>
                  <a:pt x="4232" y="304"/>
                </a:lnTo>
                <a:lnTo>
                  <a:pt x="4239" y="298"/>
                </a:lnTo>
                <a:lnTo>
                  <a:pt x="4247" y="292"/>
                </a:lnTo>
                <a:lnTo>
                  <a:pt x="4266" y="277"/>
                </a:lnTo>
                <a:lnTo>
                  <a:pt x="4287" y="259"/>
                </a:lnTo>
                <a:lnTo>
                  <a:pt x="4312" y="239"/>
                </a:lnTo>
                <a:lnTo>
                  <a:pt x="4339" y="219"/>
                </a:lnTo>
                <a:lnTo>
                  <a:pt x="4366" y="200"/>
                </a:lnTo>
                <a:lnTo>
                  <a:pt x="4391" y="181"/>
                </a:lnTo>
                <a:lnTo>
                  <a:pt x="4413" y="165"/>
                </a:lnTo>
                <a:lnTo>
                  <a:pt x="4430" y="150"/>
                </a:lnTo>
                <a:lnTo>
                  <a:pt x="4434" y="126"/>
                </a:lnTo>
                <a:lnTo>
                  <a:pt x="4431" y="115"/>
                </a:lnTo>
                <a:lnTo>
                  <a:pt x="4424" y="115"/>
                </a:lnTo>
                <a:lnTo>
                  <a:pt x="4414" y="121"/>
                </a:lnTo>
                <a:lnTo>
                  <a:pt x="4402" y="129"/>
                </a:lnTo>
                <a:lnTo>
                  <a:pt x="4391" y="137"/>
                </a:lnTo>
                <a:lnTo>
                  <a:pt x="4383" y="143"/>
                </a:lnTo>
                <a:lnTo>
                  <a:pt x="4375" y="142"/>
                </a:lnTo>
                <a:lnTo>
                  <a:pt x="4366" y="149"/>
                </a:lnTo>
                <a:lnTo>
                  <a:pt x="4353" y="155"/>
                </a:lnTo>
                <a:lnTo>
                  <a:pt x="4337" y="163"/>
                </a:lnTo>
                <a:lnTo>
                  <a:pt x="4322" y="169"/>
                </a:lnTo>
                <a:lnTo>
                  <a:pt x="4306" y="177"/>
                </a:lnTo>
                <a:lnTo>
                  <a:pt x="4290" y="182"/>
                </a:lnTo>
                <a:lnTo>
                  <a:pt x="4276" y="191"/>
                </a:lnTo>
                <a:lnTo>
                  <a:pt x="4266" y="199"/>
                </a:lnTo>
                <a:lnTo>
                  <a:pt x="4261" y="208"/>
                </a:lnTo>
                <a:lnTo>
                  <a:pt x="4258" y="218"/>
                </a:lnTo>
                <a:lnTo>
                  <a:pt x="4255" y="229"/>
                </a:lnTo>
                <a:lnTo>
                  <a:pt x="4252" y="239"/>
                </a:lnTo>
                <a:lnTo>
                  <a:pt x="4247" y="244"/>
                </a:lnTo>
                <a:lnTo>
                  <a:pt x="4242" y="250"/>
                </a:lnTo>
                <a:lnTo>
                  <a:pt x="4236" y="257"/>
                </a:lnTo>
                <a:lnTo>
                  <a:pt x="4230" y="262"/>
                </a:lnTo>
                <a:lnTo>
                  <a:pt x="4221" y="268"/>
                </a:lnTo>
                <a:lnTo>
                  <a:pt x="4216" y="273"/>
                </a:lnTo>
                <a:lnTo>
                  <a:pt x="4208" y="279"/>
                </a:lnTo>
                <a:lnTo>
                  <a:pt x="4201" y="284"/>
                </a:lnTo>
                <a:lnTo>
                  <a:pt x="4195" y="277"/>
                </a:lnTo>
                <a:lnTo>
                  <a:pt x="4191" y="270"/>
                </a:lnTo>
                <a:lnTo>
                  <a:pt x="4185" y="264"/>
                </a:lnTo>
                <a:lnTo>
                  <a:pt x="4177" y="257"/>
                </a:lnTo>
                <a:lnTo>
                  <a:pt x="4172" y="249"/>
                </a:lnTo>
                <a:lnTo>
                  <a:pt x="4164" y="243"/>
                </a:lnTo>
                <a:lnTo>
                  <a:pt x="4158" y="237"/>
                </a:lnTo>
                <a:lnTo>
                  <a:pt x="4153" y="231"/>
                </a:lnTo>
                <a:lnTo>
                  <a:pt x="4161" y="217"/>
                </a:lnTo>
                <a:lnTo>
                  <a:pt x="4168" y="205"/>
                </a:lnTo>
                <a:lnTo>
                  <a:pt x="4175" y="191"/>
                </a:lnTo>
                <a:lnTo>
                  <a:pt x="4185" y="177"/>
                </a:lnTo>
                <a:lnTo>
                  <a:pt x="4195" y="171"/>
                </a:lnTo>
                <a:lnTo>
                  <a:pt x="4203" y="163"/>
                </a:lnTo>
                <a:lnTo>
                  <a:pt x="4211" y="155"/>
                </a:lnTo>
                <a:lnTo>
                  <a:pt x="4219" y="148"/>
                </a:lnTo>
                <a:lnTo>
                  <a:pt x="4229" y="140"/>
                </a:lnTo>
                <a:lnTo>
                  <a:pt x="4237" y="132"/>
                </a:lnTo>
                <a:lnTo>
                  <a:pt x="4245" y="125"/>
                </a:lnTo>
                <a:lnTo>
                  <a:pt x="4252" y="118"/>
                </a:lnTo>
                <a:lnTo>
                  <a:pt x="4259" y="109"/>
                </a:lnTo>
                <a:lnTo>
                  <a:pt x="4264" y="101"/>
                </a:lnTo>
                <a:lnTo>
                  <a:pt x="4270" y="92"/>
                </a:lnTo>
                <a:lnTo>
                  <a:pt x="4275" y="84"/>
                </a:lnTo>
                <a:lnTo>
                  <a:pt x="4281" y="74"/>
                </a:lnTo>
                <a:lnTo>
                  <a:pt x="4286" y="66"/>
                </a:lnTo>
                <a:lnTo>
                  <a:pt x="4292" y="56"/>
                </a:lnTo>
                <a:lnTo>
                  <a:pt x="4298" y="47"/>
                </a:lnTo>
                <a:lnTo>
                  <a:pt x="4289" y="48"/>
                </a:lnTo>
                <a:lnTo>
                  <a:pt x="4279" y="51"/>
                </a:lnTo>
                <a:lnTo>
                  <a:pt x="4270" y="53"/>
                </a:lnTo>
                <a:lnTo>
                  <a:pt x="4259" y="53"/>
                </a:lnTo>
                <a:lnTo>
                  <a:pt x="4249" y="56"/>
                </a:lnTo>
                <a:lnTo>
                  <a:pt x="4239" y="57"/>
                </a:lnTo>
                <a:lnTo>
                  <a:pt x="4229" y="60"/>
                </a:lnTo>
                <a:lnTo>
                  <a:pt x="4218" y="61"/>
                </a:lnTo>
                <a:lnTo>
                  <a:pt x="4221" y="44"/>
                </a:lnTo>
                <a:lnTo>
                  <a:pt x="4226" y="30"/>
                </a:lnTo>
                <a:lnTo>
                  <a:pt x="4228" y="15"/>
                </a:lnTo>
                <a:lnTo>
                  <a:pt x="4230" y="0"/>
                </a:lnTo>
                <a:lnTo>
                  <a:pt x="4219" y="6"/>
                </a:lnTo>
                <a:lnTo>
                  <a:pt x="4210" y="12"/>
                </a:lnTo>
                <a:lnTo>
                  <a:pt x="4200" y="18"/>
                </a:lnTo>
                <a:lnTo>
                  <a:pt x="4191" y="26"/>
                </a:lnTo>
                <a:lnTo>
                  <a:pt x="4181" y="33"/>
                </a:lnTo>
                <a:lnTo>
                  <a:pt x="4172" y="41"/>
                </a:lnTo>
                <a:lnTo>
                  <a:pt x="4164" y="48"/>
                </a:lnTo>
                <a:lnTo>
                  <a:pt x="4154" y="56"/>
                </a:lnTo>
                <a:lnTo>
                  <a:pt x="4149" y="64"/>
                </a:lnTo>
                <a:lnTo>
                  <a:pt x="4143" y="74"/>
                </a:lnTo>
                <a:lnTo>
                  <a:pt x="4137" y="84"/>
                </a:lnTo>
                <a:lnTo>
                  <a:pt x="4133" y="94"/>
                </a:lnTo>
                <a:lnTo>
                  <a:pt x="4127" y="104"/>
                </a:lnTo>
                <a:lnTo>
                  <a:pt x="4122" y="115"/>
                </a:lnTo>
                <a:lnTo>
                  <a:pt x="4116" y="125"/>
                </a:lnTo>
                <a:lnTo>
                  <a:pt x="4112" y="136"/>
                </a:lnTo>
                <a:lnTo>
                  <a:pt x="4102" y="136"/>
                </a:lnTo>
                <a:lnTo>
                  <a:pt x="4094" y="136"/>
                </a:lnTo>
                <a:lnTo>
                  <a:pt x="4085" y="136"/>
                </a:lnTo>
                <a:lnTo>
                  <a:pt x="4078" y="136"/>
                </a:lnTo>
                <a:lnTo>
                  <a:pt x="4069" y="136"/>
                </a:lnTo>
                <a:lnTo>
                  <a:pt x="4061" y="136"/>
                </a:lnTo>
                <a:lnTo>
                  <a:pt x="4052" y="136"/>
                </a:lnTo>
                <a:lnTo>
                  <a:pt x="4044" y="135"/>
                </a:lnTo>
                <a:lnTo>
                  <a:pt x="4030" y="146"/>
                </a:lnTo>
                <a:lnTo>
                  <a:pt x="4014" y="157"/>
                </a:lnTo>
                <a:lnTo>
                  <a:pt x="4000" y="169"/>
                </a:lnTo>
                <a:lnTo>
                  <a:pt x="3985" y="179"/>
                </a:lnTo>
                <a:lnTo>
                  <a:pt x="3970" y="190"/>
                </a:lnTo>
                <a:lnTo>
                  <a:pt x="3955" y="202"/>
                </a:lnTo>
                <a:lnTo>
                  <a:pt x="3941" y="212"/>
                </a:lnTo>
                <a:lnTo>
                  <a:pt x="3924" y="223"/>
                </a:lnTo>
                <a:lnTo>
                  <a:pt x="3877" y="257"/>
                </a:lnTo>
                <a:lnTo>
                  <a:pt x="3828" y="287"/>
                </a:lnTo>
                <a:lnTo>
                  <a:pt x="3781" y="314"/>
                </a:lnTo>
                <a:lnTo>
                  <a:pt x="3733" y="339"/>
                </a:lnTo>
                <a:lnTo>
                  <a:pt x="3685" y="365"/>
                </a:lnTo>
                <a:lnTo>
                  <a:pt x="3638" y="390"/>
                </a:lnTo>
                <a:lnTo>
                  <a:pt x="3589" y="415"/>
                </a:lnTo>
                <a:lnTo>
                  <a:pt x="3542" y="439"/>
                </a:lnTo>
                <a:lnTo>
                  <a:pt x="3495" y="467"/>
                </a:lnTo>
                <a:lnTo>
                  <a:pt x="3448" y="497"/>
                </a:lnTo>
                <a:lnTo>
                  <a:pt x="3400" y="529"/>
                </a:lnTo>
                <a:lnTo>
                  <a:pt x="3353" y="563"/>
                </a:lnTo>
                <a:lnTo>
                  <a:pt x="3307" y="604"/>
                </a:lnTo>
                <a:lnTo>
                  <a:pt x="3261" y="649"/>
                </a:lnTo>
                <a:lnTo>
                  <a:pt x="3214" y="698"/>
                </a:lnTo>
                <a:lnTo>
                  <a:pt x="3166" y="754"/>
                </a:lnTo>
                <a:lnTo>
                  <a:pt x="3122" y="783"/>
                </a:lnTo>
                <a:lnTo>
                  <a:pt x="3088" y="806"/>
                </a:lnTo>
                <a:lnTo>
                  <a:pt x="3063" y="823"/>
                </a:lnTo>
                <a:lnTo>
                  <a:pt x="3046" y="832"/>
                </a:lnTo>
                <a:lnTo>
                  <a:pt x="3038" y="835"/>
                </a:lnTo>
                <a:lnTo>
                  <a:pt x="3036" y="834"/>
                </a:lnTo>
                <a:lnTo>
                  <a:pt x="3038" y="829"/>
                </a:lnTo>
                <a:lnTo>
                  <a:pt x="3045" y="820"/>
                </a:lnTo>
                <a:lnTo>
                  <a:pt x="3055" y="810"/>
                </a:lnTo>
                <a:lnTo>
                  <a:pt x="3066" y="798"/>
                </a:lnTo>
                <a:lnTo>
                  <a:pt x="3080" y="785"/>
                </a:lnTo>
                <a:lnTo>
                  <a:pt x="3094" y="773"/>
                </a:lnTo>
                <a:lnTo>
                  <a:pt x="3105" y="762"/>
                </a:lnTo>
                <a:lnTo>
                  <a:pt x="3115" y="750"/>
                </a:lnTo>
                <a:lnTo>
                  <a:pt x="3122" y="743"/>
                </a:lnTo>
                <a:lnTo>
                  <a:pt x="3124" y="739"/>
                </a:lnTo>
                <a:lnTo>
                  <a:pt x="3147" y="727"/>
                </a:lnTo>
                <a:lnTo>
                  <a:pt x="3165" y="717"/>
                </a:lnTo>
                <a:lnTo>
                  <a:pt x="3178" y="708"/>
                </a:lnTo>
                <a:lnTo>
                  <a:pt x="3186" y="702"/>
                </a:lnTo>
                <a:lnTo>
                  <a:pt x="3191" y="698"/>
                </a:lnTo>
                <a:lnTo>
                  <a:pt x="3194" y="694"/>
                </a:lnTo>
                <a:lnTo>
                  <a:pt x="3191" y="692"/>
                </a:lnTo>
                <a:lnTo>
                  <a:pt x="3188" y="691"/>
                </a:lnTo>
                <a:lnTo>
                  <a:pt x="3184" y="691"/>
                </a:lnTo>
                <a:lnTo>
                  <a:pt x="3180" y="691"/>
                </a:lnTo>
                <a:lnTo>
                  <a:pt x="3175" y="690"/>
                </a:lnTo>
                <a:lnTo>
                  <a:pt x="3171" y="688"/>
                </a:lnTo>
                <a:lnTo>
                  <a:pt x="3168" y="686"/>
                </a:lnTo>
                <a:lnTo>
                  <a:pt x="3168" y="683"/>
                </a:lnTo>
                <a:lnTo>
                  <a:pt x="3171" y="677"/>
                </a:lnTo>
                <a:lnTo>
                  <a:pt x="3176" y="670"/>
                </a:lnTo>
                <a:lnTo>
                  <a:pt x="3184" y="661"/>
                </a:lnTo>
                <a:lnTo>
                  <a:pt x="3196" y="649"/>
                </a:lnTo>
                <a:lnTo>
                  <a:pt x="3214" y="635"/>
                </a:lnTo>
                <a:lnTo>
                  <a:pt x="3236" y="618"/>
                </a:lnTo>
                <a:lnTo>
                  <a:pt x="3264" y="598"/>
                </a:lnTo>
                <a:lnTo>
                  <a:pt x="3299" y="574"/>
                </a:lnTo>
                <a:lnTo>
                  <a:pt x="3339" y="546"/>
                </a:lnTo>
                <a:lnTo>
                  <a:pt x="3387" y="515"/>
                </a:lnTo>
                <a:lnTo>
                  <a:pt x="3444" y="477"/>
                </a:lnTo>
                <a:lnTo>
                  <a:pt x="3507" y="437"/>
                </a:lnTo>
                <a:lnTo>
                  <a:pt x="3581" y="392"/>
                </a:lnTo>
                <a:lnTo>
                  <a:pt x="3664" y="339"/>
                </a:lnTo>
                <a:lnTo>
                  <a:pt x="3757" y="284"/>
                </a:lnTo>
                <a:lnTo>
                  <a:pt x="3862" y="221"/>
                </a:lnTo>
                <a:lnTo>
                  <a:pt x="3976" y="153"/>
                </a:lnTo>
                <a:lnTo>
                  <a:pt x="4003" y="135"/>
                </a:lnTo>
                <a:lnTo>
                  <a:pt x="4025" y="118"/>
                </a:lnTo>
                <a:lnTo>
                  <a:pt x="4043" y="101"/>
                </a:lnTo>
                <a:lnTo>
                  <a:pt x="4056" y="86"/>
                </a:lnTo>
                <a:lnTo>
                  <a:pt x="4064" y="72"/>
                </a:lnTo>
                <a:lnTo>
                  <a:pt x="4069" y="62"/>
                </a:lnTo>
                <a:lnTo>
                  <a:pt x="4069" y="55"/>
                </a:lnTo>
                <a:lnTo>
                  <a:pt x="4064" y="53"/>
                </a:lnTo>
                <a:lnTo>
                  <a:pt x="4039" y="57"/>
                </a:lnTo>
                <a:lnTo>
                  <a:pt x="4012" y="70"/>
                </a:lnTo>
                <a:lnTo>
                  <a:pt x="3985" y="90"/>
                </a:lnTo>
                <a:lnTo>
                  <a:pt x="3958" y="109"/>
                </a:lnTo>
                <a:lnTo>
                  <a:pt x="3934" y="128"/>
                </a:lnTo>
                <a:lnTo>
                  <a:pt x="3913" y="142"/>
                </a:lnTo>
                <a:lnTo>
                  <a:pt x="3896" y="146"/>
                </a:lnTo>
                <a:lnTo>
                  <a:pt x="3884" y="135"/>
                </a:lnTo>
                <a:lnTo>
                  <a:pt x="3870" y="157"/>
                </a:lnTo>
                <a:lnTo>
                  <a:pt x="3868" y="165"/>
                </a:lnTo>
                <a:lnTo>
                  <a:pt x="3870" y="163"/>
                </a:lnTo>
                <a:lnTo>
                  <a:pt x="3874" y="154"/>
                </a:lnTo>
                <a:lnTo>
                  <a:pt x="3871" y="146"/>
                </a:lnTo>
                <a:lnTo>
                  <a:pt x="3858" y="146"/>
                </a:lnTo>
                <a:lnTo>
                  <a:pt x="3826" y="155"/>
                </a:lnTo>
                <a:lnTo>
                  <a:pt x="3772" y="181"/>
                </a:lnTo>
                <a:lnTo>
                  <a:pt x="3755" y="191"/>
                </a:lnTo>
                <a:lnTo>
                  <a:pt x="3735" y="202"/>
                </a:lnTo>
                <a:lnTo>
                  <a:pt x="3714" y="213"/>
                </a:lnTo>
                <a:lnTo>
                  <a:pt x="3691" y="228"/>
                </a:lnTo>
                <a:lnTo>
                  <a:pt x="3668" y="242"/>
                </a:lnTo>
                <a:lnTo>
                  <a:pt x="3643" y="257"/>
                </a:lnTo>
                <a:lnTo>
                  <a:pt x="3616" y="273"/>
                </a:lnTo>
                <a:lnTo>
                  <a:pt x="3589" y="291"/>
                </a:lnTo>
                <a:lnTo>
                  <a:pt x="3561" y="308"/>
                </a:lnTo>
                <a:lnTo>
                  <a:pt x="3532" y="326"/>
                </a:lnTo>
                <a:lnTo>
                  <a:pt x="3503" y="346"/>
                </a:lnTo>
                <a:lnTo>
                  <a:pt x="3472" y="365"/>
                </a:lnTo>
                <a:lnTo>
                  <a:pt x="3443" y="384"/>
                </a:lnTo>
                <a:lnTo>
                  <a:pt x="3412" y="405"/>
                </a:lnTo>
                <a:lnTo>
                  <a:pt x="3380" y="425"/>
                </a:lnTo>
                <a:lnTo>
                  <a:pt x="3349" y="446"/>
                </a:lnTo>
                <a:lnTo>
                  <a:pt x="3318" y="467"/>
                </a:lnTo>
                <a:lnTo>
                  <a:pt x="3285" y="487"/>
                </a:lnTo>
                <a:lnTo>
                  <a:pt x="3256" y="508"/>
                </a:lnTo>
                <a:lnTo>
                  <a:pt x="3225" y="529"/>
                </a:lnTo>
                <a:lnTo>
                  <a:pt x="3195" y="548"/>
                </a:lnTo>
                <a:lnTo>
                  <a:pt x="3165" y="570"/>
                </a:lnTo>
                <a:lnTo>
                  <a:pt x="3138" y="588"/>
                </a:lnTo>
                <a:lnTo>
                  <a:pt x="3109" y="608"/>
                </a:lnTo>
                <a:lnTo>
                  <a:pt x="3082" y="626"/>
                </a:lnTo>
                <a:lnTo>
                  <a:pt x="3057" y="644"/>
                </a:lnTo>
                <a:lnTo>
                  <a:pt x="3032" y="661"/>
                </a:lnTo>
                <a:lnTo>
                  <a:pt x="3008" y="677"/>
                </a:lnTo>
                <a:lnTo>
                  <a:pt x="2985" y="694"/>
                </a:lnTo>
                <a:lnTo>
                  <a:pt x="2965" y="708"/>
                </a:lnTo>
                <a:lnTo>
                  <a:pt x="2946" y="721"/>
                </a:lnTo>
                <a:lnTo>
                  <a:pt x="2928" y="733"/>
                </a:lnTo>
                <a:lnTo>
                  <a:pt x="2879" y="768"/>
                </a:lnTo>
                <a:lnTo>
                  <a:pt x="2829" y="803"/>
                </a:lnTo>
                <a:lnTo>
                  <a:pt x="2781" y="836"/>
                </a:lnTo>
                <a:lnTo>
                  <a:pt x="2732" y="868"/>
                </a:lnTo>
                <a:lnTo>
                  <a:pt x="2684" y="901"/>
                </a:lnTo>
                <a:lnTo>
                  <a:pt x="2637" y="932"/>
                </a:lnTo>
                <a:lnTo>
                  <a:pt x="2590" y="963"/>
                </a:lnTo>
                <a:lnTo>
                  <a:pt x="2544" y="994"/>
                </a:lnTo>
                <a:lnTo>
                  <a:pt x="2499" y="1025"/>
                </a:lnTo>
                <a:lnTo>
                  <a:pt x="2455" y="1057"/>
                </a:lnTo>
                <a:lnTo>
                  <a:pt x="2410" y="1087"/>
                </a:lnTo>
                <a:lnTo>
                  <a:pt x="2367" y="1117"/>
                </a:lnTo>
                <a:lnTo>
                  <a:pt x="2324" y="1146"/>
                </a:lnTo>
                <a:lnTo>
                  <a:pt x="2281" y="1177"/>
                </a:lnTo>
                <a:lnTo>
                  <a:pt x="2240" y="1208"/>
                </a:lnTo>
                <a:lnTo>
                  <a:pt x="2199" y="1237"/>
                </a:lnTo>
                <a:lnTo>
                  <a:pt x="2175" y="1258"/>
                </a:lnTo>
                <a:lnTo>
                  <a:pt x="2153" y="1280"/>
                </a:lnTo>
                <a:lnTo>
                  <a:pt x="2132" y="1303"/>
                </a:lnTo>
                <a:lnTo>
                  <a:pt x="2111" y="1326"/>
                </a:lnTo>
                <a:lnTo>
                  <a:pt x="2092" y="1349"/>
                </a:lnTo>
                <a:lnTo>
                  <a:pt x="2072" y="1372"/>
                </a:lnTo>
                <a:lnTo>
                  <a:pt x="2055" y="1396"/>
                </a:lnTo>
                <a:lnTo>
                  <a:pt x="2036" y="1419"/>
                </a:lnTo>
                <a:lnTo>
                  <a:pt x="2017" y="1443"/>
                </a:lnTo>
                <a:lnTo>
                  <a:pt x="2001" y="1466"/>
                </a:lnTo>
                <a:lnTo>
                  <a:pt x="1982" y="1490"/>
                </a:lnTo>
                <a:lnTo>
                  <a:pt x="1964" y="1512"/>
                </a:lnTo>
                <a:lnTo>
                  <a:pt x="1945" y="1536"/>
                </a:lnTo>
                <a:lnTo>
                  <a:pt x="1927" y="1556"/>
                </a:lnTo>
                <a:lnTo>
                  <a:pt x="1907" y="1578"/>
                </a:lnTo>
                <a:lnTo>
                  <a:pt x="1888" y="1599"/>
                </a:lnTo>
                <a:lnTo>
                  <a:pt x="1865" y="1621"/>
                </a:lnTo>
                <a:lnTo>
                  <a:pt x="1841" y="1647"/>
                </a:lnTo>
                <a:lnTo>
                  <a:pt x="1817" y="1679"/>
                </a:lnTo>
                <a:lnTo>
                  <a:pt x="1792" y="1714"/>
                </a:lnTo>
                <a:lnTo>
                  <a:pt x="1768" y="1747"/>
                </a:lnTo>
                <a:lnTo>
                  <a:pt x="1744" y="1778"/>
                </a:lnTo>
                <a:lnTo>
                  <a:pt x="1722" y="1805"/>
                </a:lnTo>
                <a:lnTo>
                  <a:pt x="1703" y="1824"/>
                </a:lnTo>
                <a:lnTo>
                  <a:pt x="1675" y="1845"/>
                </a:lnTo>
                <a:lnTo>
                  <a:pt x="1657" y="1860"/>
                </a:lnTo>
                <a:lnTo>
                  <a:pt x="1643" y="1869"/>
                </a:lnTo>
                <a:lnTo>
                  <a:pt x="1634" y="1876"/>
                </a:lnTo>
                <a:lnTo>
                  <a:pt x="1624" y="1882"/>
                </a:lnTo>
                <a:lnTo>
                  <a:pt x="1613" y="1893"/>
                </a:lnTo>
                <a:lnTo>
                  <a:pt x="1598" y="1906"/>
                </a:lnTo>
                <a:lnTo>
                  <a:pt x="1577" y="1928"/>
                </a:lnTo>
                <a:lnTo>
                  <a:pt x="1555" y="1962"/>
                </a:lnTo>
                <a:lnTo>
                  <a:pt x="1537" y="1996"/>
                </a:lnTo>
                <a:lnTo>
                  <a:pt x="1519" y="2034"/>
                </a:lnTo>
                <a:lnTo>
                  <a:pt x="1504" y="2073"/>
                </a:lnTo>
                <a:lnTo>
                  <a:pt x="1487" y="2109"/>
                </a:lnTo>
                <a:lnTo>
                  <a:pt x="1471" y="2146"/>
                </a:lnTo>
                <a:lnTo>
                  <a:pt x="1457" y="2183"/>
                </a:lnTo>
                <a:lnTo>
                  <a:pt x="1440" y="2216"/>
                </a:lnTo>
                <a:lnTo>
                  <a:pt x="1425" y="2187"/>
                </a:lnTo>
                <a:lnTo>
                  <a:pt x="1406" y="2158"/>
                </a:lnTo>
                <a:lnTo>
                  <a:pt x="1388" y="2128"/>
                </a:lnTo>
                <a:lnTo>
                  <a:pt x="1367" y="2098"/>
                </a:lnTo>
                <a:lnTo>
                  <a:pt x="1345" y="2070"/>
                </a:lnTo>
                <a:lnTo>
                  <a:pt x="1323" y="2040"/>
                </a:lnTo>
                <a:lnTo>
                  <a:pt x="1301" y="2011"/>
                </a:lnTo>
                <a:lnTo>
                  <a:pt x="1278" y="1982"/>
                </a:lnTo>
                <a:lnTo>
                  <a:pt x="1255" y="1952"/>
                </a:lnTo>
                <a:lnTo>
                  <a:pt x="1234" y="1922"/>
                </a:lnTo>
                <a:lnTo>
                  <a:pt x="1214" y="1894"/>
                </a:lnTo>
                <a:lnTo>
                  <a:pt x="1196" y="1864"/>
                </a:lnTo>
                <a:lnTo>
                  <a:pt x="1178" y="1835"/>
                </a:lnTo>
                <a:lnTo>
                  <a:pt x="1163" y="1806"/>
                </a:lnTo>
                <a:lnTo>
                  <a:pt x="1150" y="1776"/>
                </a:lnTo>
                <a:lnTo>
                  <a:pt x="1141" y="1748"/>
                </a:lnTo>
                <a:lnTo>
                  <a:pt x="1125" y="1708"/>
                </a:lnTo>
                <a:lnTo>
                  <a:pt x="1109" y="1665"/>
                </a:lnTo>
                <a:lnTo>
                  <a:pt x="1090" y="1621"/>
                </a:lnTo>
                <a:lnTo>
                  <a:pt x="1072" y="1576"/>
                </a:lnTo>
                <a:lnTo>
                  <a:pt x="1053" y="1531"/>
                </a:lnTo>
                <a:lnTo>
                  <a:pt x="1036" y="1486"/>
                </a:lnTo>
                <a:lnTo>
                  <a:pt x="1019" y="1443"/>
                </a:lnTo>
                <a:lnTo>
                  <a:pt x="1006" y="1401"/>
                </a:lnTo>
                <a:lnTo>
                  <a:pt x="982" y="1410"/>
                </a:lnTo>
                <a:lnTo>
                  <a:pt x="961" y="1421"/>
                </a:lnTo>
                <a:lnTo>
                  <a:pt x="938" y="1429"/>
                </a:lnTo>
                <a:lnTo>
                  <a:pt x="917" y="1438"/>
                </a:lnTo>
                <a:lnTo>
                  <a:pt x="894" y="1447"/>
                </a:lnTo>
                <a:lnTo>
                  <a:pt x="873" y="1454"/>
                </a:lnTo>
                <a:lnTo>
                  <a:pt x="850" y="1462"/>
                </a:lnTo>
                <a:lnTo>
                  <a:pt x="828" y="1472"/>
                </a:lnTo>
                <a:lnTo>
                  <a:pt x="811" y="1480"/>
                </a:lnTo>
                <a:lnTo>
                  <a:pt x="793" y="1487"/>
                </a:lnTo>
                <a:lnTo>
                  <a:pt x="775" y="1496"/>
                </a:lnTo>
                <a:lnTo>
                  <a:pt x="758" y="1505"/>
                </a:lnTo>
                <a:lnTo>
                  <a:pt x="740" y="1512"/>
                </a:lnTo>
                <a:lnTo>
                  <a:pt x="724" y="1521"/>
                </a:lnTo>
                <a:lnTo>
                  <a:pt x="706" y="1528"/>
                </a:lnTo>
                <a:lnTo>
                  <a:pt x="689" y="1537"/>
                </a:lnTo>
                <a:lnTo>
                  <a:pt x="672" y="1545"/>
                </a:lnTo>
                <a:lnTo>
                  <a:pt x="654" y="1553"/>
                </a:lnTo>
                <a:lnTo>
                  <a:pt x="638" y="1561"/>
                </a:lnTo>
                <a:lnTo>
                  <a:pt x="621" y="1570"/>
                </a:lnTo>
                <a:lnTo>
                  <a:pt x="604" y="1576"/>
                </a:lnTo>
                <a:lnTo>
                  <a:pt x="588" y="1585"/>
                </a:lnTo>
                <a:lnTo>
                  <a:pt x="571" y="1593"/>
                </a:lnTo>
                <a:lnTo>
                  <a:pt x="555" y="1601"/>
                </a:lnTo>
                <a:lnTo>
                  <a:pt x="551" y="1601"/>
                </a:lnTo>
                <a:lnTo>
                  <a:pt x="543" y="1601"/>
                </a:lnTo>
                <a:lnTo>
                  <a:pt x="529" y="1603"/>
                </a:lnTo>
                <a:lnTo>
                  <a:pt x="512" y="1607"/>
                </a:lnTo>
                <a:lnTo>
                  <a:pt x="493" y="1611"/>
                </a:lnTo>
                <a:lnTo>
                  <a:pt x="470" y="1617"/>
                </a:lnTo>
                <a:lnTo>
                  <a:pt x="447" y="1625"/>
                </a:lnTo>
                <a:lnTo>
                  <a:pt x="422" y="1632"/>
                </a:lnTo>
                <a:lnTo>
                  <a:pt x="397" y="1638"/>
                </a:lnTo>
                <a:lnTo>
                  <a:pt x="374" y="1645"/>
                </a:lnTo>
                <a:lnTo>
                  <a:pt x="352" y="1653"/>
                </a:lnTo>
                <a:lnTo>
                  <a:pt x="334" y="1657"/>
                </a:lnTo>
                <a:lnTo>
                  <a:pt x="316" y="1661"/>
                </a:lnTo>
                <a:lnTo>
                  <a:pt x="305" y="1665"/>
                </a:lnTo>
                <a:lnTo>
                  <a:pt x="298" y="1665"/>
                </a:lnTo>
                <a:lnTo>
                  <a:pt x="295" y="1663"/>
                </a:lnTo>
                <a:lnTo>
                  <a:pt x="275" y="1674"/>
                </a:lnTo>
                <a:lnTo>
                  <a:pt x="257" y="1685"/>
                </a:lnTo>
                <a:lnTo>
                  <a:pt x="237" y="1696"/>
                </a:lnTo>
                <a:lnTo>
                  <a:pt x="220" y="1708"/>
                </a:lnTo>
                <a:lnTo>
                  <a:pt x="199" y="1718"/>
                </a:lnTo>
                <a:lnTo>
                  <a:pt x="181" y="1728"/>
                </a:lnTo>
                <a:lnTo>
                  <a:pt x="161" y="1739"/>
                </a:lnTo>
                <a:lnTo>
                  <a:pt x="143" y="1750"/>
                </a:lnTo>
                <a:lnTo>
                  <a:pt x="124" y="1761"/>
                </a:lnTo>
                <a:lnTo>
                  <a:pt x="106" y="1773"/>
                </a:lnTo>
                <a:lnTo>
                  <a:pt x="88" y="1783"/>
                </a:lnTo>
                <a:lnTo>
                  <a:pt x="70" y="1794"/>
                </a:lnTo>
                <a:lnTo>
                  <a:pt x="53" y="1805"/>
                </a:lnTo>
                <a:lnTo>
                  <a:pt x="35" y="1816"/>
                </a:lnTo>
                <a:lnTo>
                  <a:pt x="18" y="1827"/>
                </a:lnTo>
                <a:lnTo>
                  <a:pt x="0" y="1838"/>
                </a:lnTo>
                <a:close/>
              </a:path>
            </a:pathLst>
          </a:custGeom>
          <a:solidFill>
            <a:srgbClr val="C00000"/>
          </a:solidFill>
          <a:ln w="9525">
            <a:noFill/>
            <a:round/>
            <a:headEnd/>
            <a:tailEnd/>
          </a:ln>
        </p:spPr>
        <p:txBody>
          <a:bodyPr lIns="36000" tIns="36000" rIns="36000" bIns="36000" anchor="ctr" anchorCtr="0"/>
          <a:lstStyle/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endParaRPr kumimoji="1" lang="ko-KR" altLang="en-US" sz="1100" b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000000"/>
              </a:solidFill>
              <a:latin typeface="하나 M" panose="02020603020101020101" pitchFamily="18" charset="-127"/>
              <a:ea typeface="하나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1595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7791B-886C-3F78-2291-754EA848F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597B0C82-4D1E-7636-57E1-DD17B35320B3}"/>
              </a:ext>
            </a:extLst>
          </p:cNvPr>
          <p:cNvSpPr/>
          <p:nvPr/>
        </p:nvSpPr>
        <p:spPr>
          <a:xfrm>
            <a:off x="5086376" y="4530650"/>
            <a:ext cx="4292944" cy="957998"/>
          </a:xfrm>
          <a:prstGeom prst="roundRect">
            <a:avLst>
              <a:gd name="adj" fmla="val 8906"/>
            </a:avLst>
          </a:prstGeom>
          <a:solidFill>
            <a:srgbClr val="F2F9FF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F04E2C1-200F-CED8-31C3-9CD65FB5AB19}"/>
              </a:ext>
            </a:extLst>
          </p:cNvPr>
          <p:cNvSpPr/>
          <p:nvPr/>
        </p:nvSpPr>
        <p:spPr>
          <a:xfrm>
            <a:off x="520356" y="4530650"/>
            <a:ext cx="4292944" cy="957998"/>
          </a:xfrm>
          <a:prstGeom prst="roundRect">
            <a:avLst>
              <a:gd name="adj" fmla="val 8906"/>
            </a:avLst>
          </a:prstGeom>
          <a:solidFill>
            <a:srgbClr val="F2F9FF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BDDA0240-101C-A571-6BA7-2E85E0A8C624}"/>
              </a:ext>
            </a:extLst>
          </p:cNvPr>
          <p:cNvSpPr/>
          <p:nvPr/>
        </p:nvSpPr>
        <p:spPr>
          <a:xfrm>
            <a:off x="5086376" y="3547929"/>
            <a:ext cx="4292944" cy="957998"/>
          </a:xfrm>
          <a:prstGeom prst="roundRect">
            <a:avLst>
              <a:gd name="adj" fmla="val 8906"/>
            </a:avLst>
          </a:prstGeom>
          <a:solidFill>
            <a:srgbClr val="F2F9FF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441ADC3E-A6D5-3DF5-23BE-3D21634DC400}"/>
              </a:ext>
            </a:extLst>
          </p:cNvPr>
          <p:cNvSpPr/>
          <p:nvPr/>
        </p:nvSpPr>
        <p:spPr>
          <a:xfrm>
            <a:off x="520356" y="3547929"/>
            <a:ext cx="4292944" cy="957998"/>
          </a:xfrm>
          <a:prstGeom prst="roundRect">
            <a:avLst>
              <a:gd name="adj" fmla="val 8906"/>
            </a:avLst>
          </a:prstGeom>
          <a:solidFill>
            <a:srgbClr val="F2F9FF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B30C59C8-9A3A-CD78-17A7-B762CB30E52B}"/>
              </a:ext>
            </a:extLst>
          </p:cNvPr>
          <p:cNvSpPr/>
          <p:nvPr/>
        </p:nvSpPr>
        <p:spPr>
          <a:xfrm>
            <a:off x="520356" y="2622094"/>
            <a:ext cx="4292944" cy="897873"/>
          </a:xfrm>
          <a:prstGeom prst="roundRect">
            <a:avLst>
              <a:gd name="adj" fmla="val 8906"/>
            </a:avLst>
          </a:prstGeom>
          <a:solidFill>
            <a:srgbClr val="F2F9FF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ADC68D07-974A-D5A1-CC3A-14AF4028FBDA}"/>
              </a:ext>
            </a:extLst>
          </p:cNvPr>
          <p:cNvSpPr/>
          <p:nvPr/>
        </p:nvSpPr>
        <p:spPr>
          <a:xfrm>
            <a:off x="5085383" y="2622094"/>
            <a:ext cx="4292944" cy="897873"/>
          </a:xfrm>
          <a:prstGeom prst="roundRect">
            <a:avLst>
              <a:gd name="adj" fmla="val 8906"/>
            </a:avLst>
          </a:prstGeom>
          <a:solidFill>
            <a:srgbClr val="F2F9FF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6CFBDD2E-2EF6-6675-52CC-FBF306486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126" y="946206"/>
            <a:ext cx="8928100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buClr>
                <a:srgbClr val="00338D"/>
              </a:buClr>
              <a:buSzPct val="90000"/>
            </a:pP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classification algorithms were evaluated to identify employees at risk of attrition, with Naive Bayes demonstrating stronger overall predictive performance.</a:t>
            </a:r>
          </a:p>
        </p:txBody>
      </p:sp>
      <p:sp>
        <p:nvSpPr>
          <p:cNvPr id="3" name="Rectangle 39">
            <a:extLst>
              <a:ext uri="{FF2B5EF4-FFF2-40B4-BE49-F238E27FC236}">
                <a16:creationId xmlns:a16="http://schemas.microsoft.com/office/drawing/2014/main" id="{197DABC3-A141-AAB9-6493-14675DD6F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65693"/>
            <a:ext cx="8928100" cy="3560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marL="342900" indent="-342900" eaLnBrk="0" fontAlgn="b" hangingPunct="0">
              <a:lnSpc>
                <a:spcPts val="3300"/>
              </a:lnSpc>
              <a:buClr>
                <a:srgbClr val="1F497D"/>
              </a:buClr>
              <a:defRPr/>
            </a:pPr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KNN &amp; Naive Bayes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E4613B-741A-6F42-883D-8FF988FBFA08}"/>
              </a:ext>
            </a:extLst>
          </p:cNvPr>
          <p:cNvSpPr txBox="1"/>
          <p:nvPr/>
        </p:nvSpPr>
        <p:spPr>
          <a:xfrm>
            <a:off x="6936782" y="526127"/>
            <a:ext cx="2610897" cy="235193"/>
          </a:xfrm>
          <a:prstGeom prst="rect">
            <a:avLst/>
          </a:prstGeom>
          <a:noFill/>
        </p:spPr>
        <p:txBody>
          <a:bodyPr wrap="square" lIns="54610" tIns="54610" rIns="54610" bIns="54610" rtlCol="0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altLang="ko-KR" sz="1000" b="1" dirty="0">
                <a:ln w="3175">
                  <a:solidFill>
                    <a:schemeClr val="accent1">
                      <a:alpha val="0"/>
                    </a:schemeClr>
                  </a:solidFill>
                </a:ln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Predictive Modeling</a:t>
            </a:r>
            <a:endParaRPr lang="en-US" altLang="ko-KR" sz="1000" b="1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2F523B-EB1A-B968-7C7F-B244CF0755C1}"/>
              </a:ext>
            </a:extLst>
          </p:cNvPr>
          <p:cNvSpPr txBox="1"/>
          <p:nvPr/>
        </p:nvSpPr>
        <p:spPr>
          <a:xfrm>
            <a:off x="488950" y="1423629"/>
            <a:ext cx="4370389" cy="219017"/>
          </a:xfrm>
          <a:prstGeom prst="snip2SameRect">
            <a:avLst/>
          </a:prstGeom>
          <a:solidFill>
            <a:srgbClr val="00338D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KNN</a:t>
            </a: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D504A9-B32D-AA38-D810-FABB3FD9C7F0}"/>
              </a:ext>
            </a:extLst>
          </p:cNvPr>
          <p:cNvSpPr txBox="1"/>
          <p:nvPr/>
        </p:nvSpPr>
        <p:spPr>
          <a:xfrm>
            <a:off x="5046661" y="1423629"/>
            <a:ext cx="4370389" cy="219017"/>
          </a:xfrm>
          <a:prstGeom prst="snip2SameRect">
            <a:avLst/>
          </a:prstGeom>
          <a:solidFill>
            <a:srgbClr val="00338D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Naïve Bayes</a:t>
            </a: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97DB360-26D9-D429-D434-858BA3FE5B69}"/>
              </a:ext>
            </a:extLst>
          </p:cNvPr>
          <p:cNvSpPr/>
          <p:nvPr/>
        </p:nvSpPr>
        <p:spPr>
          <a:xfrm>
            <a:off x="946149" y="1959745"/>
            <a:ext cx="1332000" cy="219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r>
              <a:rPr lang="en-US" altLang="ko-KR" sz="1200" b="1" dirty="0">
                <a:solidFill>
                  <a:srgbClr val="005EB8"/>
                </a:solidFill>
                <a:latin typeface="Aptos" panose="020B0004020202020204" pitchFamily="34" charset="0"/>
              </a:rPr>
              <a:t>Methodology</a:t>
            </a:r>
            <a:endParaRPr lang="ko-KR" altLang="en-US" sz="1200" b="1" dirty="0" err="1">
              <a:solidFill>
                <a:srgbClr val="005EB8"/>
              </a:solidFill>
              <a:latin typeface="Aptos" panose="020B0004020202020204" pitchFamily="34" charset="0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609B538-945D-CD4C-4676-F0831CD3CC3C}"/>
              </a:ext>
            </a:extLst>
          </p:cNvPr>
          <p:cNvSpPr/>
          <p:nvPr/>
        </p:nvSpPr>
        <p:spPr>
          <a:xfrm>
            <a:off x="488950" y="5620610"/>
            <a:ext cx="8889377" cy="400778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altLang="ko-KR" sz="1100" dirty="0">
                <a:solidFill>
                  <a:srgbClr val="002060"/>
                </a:solidFill>
                <a:latin typeface="Aptos" panose="020B0004020202020204" pitchFamily="34" charset="0"/>
              </a:rPr>
              <a:t>Naive Bayes maintained the same sensitivity as KNN (71.43%), while achieving higher accuracy (82.76%), specificity (84.93%), </a:t>
            </a:r>
          </a:p>
          <a:p>
            <a:pPr algn="ctr"/>
            <a:r>
              <a:rPr lang="en-US" altLang="ko-KR" sz="1100" dirty="0">
                <a:solidFill>
                  <a:srgbClr val="002060"/>
                </a:solidFill>
                <a:latin typeface="Aptos" panose="020B0004020202020204" pitchFamily="34" charset="0"/>
              </a:rPr>
              <a:t>and F1 score (57.14%), with fewer false positives (22 vs. 31).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F302BBA-5E4B-5894-0FA5-25EF045CA72E}"/>
              </a:ext>
            </a:extLst>
          </p:cNvPr>
          <p:cNvSpPr/>
          <p:nvPr/>
        </p:nvSpPr>
        <p:spPr>
          <a:xfrm>
            <a:off x="488950" y="1653833"/>
            <a:ext cx="4370388" cy="3883990"/>
          </a:xfrm>
          <a:prstGeom prst="rect">
            <a:avLst/>
          </a:prstGeom>
          <a:noFill/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E6216B8-8817-4189-6444-7137D4565F57}"/>
              </a:ext>
            </a:extLst>
          </p:cNvPr>
          <p:cNvSpPr/>
          <p:nvPr/>
        </p:nvSpPr>
        <p:spPr>
          <a:xfrm>
            <a:off x="5046661" y="1653833"/>
            <a:ext cx="4370388" cy="3883990"/>
          </a:xfrm>
          <a:prstGeom prst="rect">
            <a:avLst/>
          </a:prstGeom>
          <a:noFill/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9071D7B-A0F4-F8F7-7771-4E08FD8BB5ED}"/>
              </a:ext>
            </a:extLst>
          </p:cNvPr>
          <p:cNvSpPr/>
          <p:nvPr/>
        </p:nvSpPr>
        <p:spPr>
          <a:xfrm>
            <a:off x="520356" y="1689911"/>
            <a:ext cx="4292944" cy="900000"/>
          </a:xfrm>
          <a:prstGeom prst="roundRect">
            <a:avLst>
              <a:gd name="adj" fmla="val 8906"/>
            </a:avLst>
          </a:prstGeom>
          <a:solidFill>
            <a:srgbClr val="F2F9FF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" name="화살표: 오각형 7">
            <a:extLst>
              <a:ext uri="{FF2B5EF4-FFF2-40B4-BE49-F238E27FC236}">
                <a16:creationId xmlns:a16="http://schemas.microsoft.com/office/drawing/2014/main" id="{1850CC97-CF22-5F25-40FD-CAEDFD5A905E}"/>
              </a:ext>
            </a:extLst>
          </p:cNvPr>
          <p:cNvSpPr/>
          <p:nvPr/>
        </p:nvSpPr>
        <p:spPr>
          <a:xfrm>
            <a:off x="506592" y="1694929"/>
            <a:ext cx="1578519" cy="889965"/>
          </a:xfrm>
          <a:prstGeom prst="homePlate">
            <a:avLst>
              <a:gd name="adj" fmla="val 11527"/>
            </a:avLst>
          </a:prstGeom>
          <a:solidFill>
            <a:srgbClr val="005EB8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Aptos" panose="020B0004020202020204" pitchFamily="34" charset="0"/>
              </a:rPr>
              <a:t>Methodology</a:t>
            </a:r>
            <a:endParaRPr lang="ko-KR" altLang="en-US" sz="1200" b="1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1D81852-EA6B-D4DD-741F-26C1E01B1DBF}"/>
              </a:ext>
            </a:extLst>
          </p:cNvPr>
          <p:cNvSpPr/>
          <p:nvPr/>
        </p:nvSpPr>
        <p:spPr>
          <a:xfrm>
            <a:off x="2156538" y="1694929"/>
            <a:ext cx="2656762" cy="8899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Aptos" panose="020B0004020202020204" pitchFamily="34" charset="0"/>
              </a:rPr>
              <a:t>KNN identifies employees with similar characteristics using Euclidean distance and predicts attrition based on their observed outcomes, with an adjusted classification threshold.</a:t>
            </a:r>
            <a:endParaRPr lang="ko-KR" altLang="en-US" sz="1000" dirty="0" err="1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34" name="그래픽 33" descr="단일 톱니바퀴 단색으로 채워진">
            <a:extLst>
              <a:ext uri="{FF2B5EF4-FFF2-40B4-BE49-F238E27FC236}">
                <a16:creationId xmlns:a16="http://schemas.microsoft.com/office/drawing/2014/main" id="{DADF1FED-E6DE-8F21-C3E8-0D39C13247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1001" y="1955744"/>
            <a:ext cx="360000" cy="360000"/>
          </a:xfrm>
          <a:prstGeom prst="rect">
            <a:avLst/>
          </a:prstGeom>
        </p:spPr>
      </p:pic>
      <p:sp>
        <p:nvSpPr>
          <p:cNvPr id="42" name="화살표: 오각형 41">
            <a:extLst>
              <a:ext uri="{FF2B5EF4-FFF2-40B4-BE49-F238E27FC236}">
                <a16:creationId xmlns:a16="http://schemas.microsoft.com/office/drawing/2014/main" id="{C0100FBE-E442-2D13-3C49-53977EFAFE0D}"/>
              </a:ext>
            </a:extLst>
          </p:cNvPr>
          <p:cNvSpPr/>
          <p:nvPr/>
        </p:nvSpPr>
        <p:spPr>
          <a:xfrm>
            <a:off x="506592" y="2625481"/>
            <a:ext cx="1535519" cy="897725"/>
          </a:xfrm>
          <a:prstGeom prst="homePlate">
            <a:avLst>
              <a:gd name="adj" fmla="val 6923"/>
            </a:avLst>
          </a:prstGeom>
          <a:solidFill>
            <a:srgbClr val="005EB8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Aptos" panose="020B0004020202020204" pitchFamily="34" charset="0"/>
              </a:rPr>
              <a:t>Model Setup</a:t>
            </a:r>
            <a:endParaRPr lang="ko-KR" altLang="en-US" sz="1200" b="1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4" name="화살표: 오각형 43">
            <a:extLst>
              <a:ext uri="{FF2B5EF4-FFF2-40B4-BE49-F238E27FC236}">
                <a16:creationId xmlns:a16="http://schemas.microsoft.com/office/drawing/2014/main" id="{2F96E7B0-EBAE-C5FA-383B-6AC2173FA151}"/>
              </a:ext>
            </a:extLst>
          </p:cNvPr>
          <p:cNvSpPr/>
          <p:nvPr/>
        </p:nvSpPr>
        <p:spPr>
          <a:xfrm>
            <a:off x="506592" y="3553681"/>
            <a:ext cx="1535519" cy="952246"/>
          </a:xfrm>
          <a:prstGeom prst="homePlate">
            <a:avLst>
              <a:gd name="adj" fmla="val 6852"/>
            </a:avLst>
          </a:prstGeom>
          <a:solidFill>
            <a:srgbClr val="005EB8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Aptos" panose="020B0004020202020204" pitchFamily="34" charset="0"/>
              </a:rPr>
              <a:t>Confusion Matrix</a:t>
            </a:r>
            <a:endParaRPr lang="ko-KR" altLang="en-US" sz="1200" b="1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5" name="화살표: 오각형 44">
            <a:extLst>
              <a:ext uri="{FF2B5EF4-FFF2-40B4-BE49-F238E27FC236}">
                <a16:creationId xmlns:a16="http://schemas.microsoft.com/office/drawing/2014/main" id="{8688BBAE-1BC6-85C9-3866-281BD8669733}"/>
              </a:ext>
            </a:extLst>
          </p:cNvPr>
          <p:cNvSpPr/>
          <p:nvPr/>
        </p:nvSpPr>
        <p:spPr>
          <a:xfrm>
            <a:off x="506592" y="4539212"/>
            <a:ext cx="1535519" cy="949436"/>
          </a:xfrm>
          <a:prstGeom prst="homePlate">
            <a:avLst>
              <a:gd name="adj" fmla="val 7480"/>
            </a:avLst>
          </a:prstGeom>
          <a:solidFill>
            <a:srgbClr val="005EB8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Aptos" panose="020B0004020202020204" pitchFamily="34" charset="0"/>
              </a:rPr>
              <a:t>Performance</a:t>
            </a:r>
            <a:endParaRPr lang="ko-KR" altLang="en-US" sz="1200" b="1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EE265548-D94C-FC3E-5593-FD54F6AA2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512455"/>
              </p:ext>
            </p:extLst>
          </p:nvPr>
        </p:nvGraphicFramePr>
        <p:xfrm>
          <a:off x="2659156" y="3763271"/>
          <a:ext cx="2005832" cy="688612"/>
        </p:xfrm>
        <a:graphic>
          <a:graphicData uri="http://schemas.openxmlformats.org/drawingml/2006/table">
            <a:tbl>
              <a:tblPr/>
              <a:tblGrid>
                <a:gridCol w="501458">
                  <a:extLst>
                    <a:ext uri="{9D8B030D-6E8A-4147-A177-3AD203B41FA5}">
                      <a16:colId xmlns:a16="http://schemas.microsoft.com/office/drawing/2014/main" val="3110454863"/>
                    </a:ext>
                  </a:extLst>
                </a:gridCol>
                <a:gridCol w="501458">
                  <a:extLst>
                    <a:ext uri="{9D8B030D-6E8A-4147-A177-3AD203B41FA5}">
                      <a16:colId xmlns:a16="http://schemas.microsoft.com/office/drawing/2014/main" val="2067654984"/>
                    </a:ext>
                  </a:extLst>
                </a:gridCol>
                <a:gridCol w="501458">
                  <a:extLst>
                    <a:ext uri="{9D8B030D-6E8A-4147-A177-3AD203B41FA5}">
                      <a16:colId xmlns:a16="http://schemas.microsoft.com/office/drawing/2014/main" val="1612596214"/>
                    </a:ext>
                  </a:extLst>
                </a:gridCol>
                <a:gridCol w="501458">
                  <a:extLst>
                    <a:ext uri="{9D8B030D-6E8A-4147-A177-3AD203B41FA5}">
                      <a16:colId xmlns:a16="http://schemas.microsoft.com/office/drawing/2014/main" val="3324161982"/>
                    </a:ext>
                  </a:extLst>
                </a:gridCol>
              </a:tblGrid>
              <a:tr h="1721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03" marR="7803" marT="7803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Yes</a:t>
                      </a:r>
                    </a:p>
                  </a:txBody>
                  <a:tcPr marL="7803" marR="7803" marT="780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7803" marR="7803" marT="780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03" marR="7803" marT="78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224299"/>
                  </a:ext>
                </a:extLst>
              </a:tr>
              <a:tr h="1721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Yes</a:t>
                      </a:r>
                    </a:p>
                  </a:txBody>
                  <a:tcPr marL="7803" marR="7803" marT="7803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7803" marR="7803" marT="780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31</a:t>
                      </a:r>
                    </a:p>
                  </a:txBody>
                  <a:tcPr marL="7803" marR="7803" marT="780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51</a:t>
                      </a:r>
                    </a:p>
                  </a:txBody>
                  <a:tcPr marL="7803" marR="7803" marT="78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983504"/>
                  </a:ext>
                </a:extLst>
              </a:tr>
              <a:tr h="1721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7803" marR="7803" marT="7803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7803" marR="7803" marT="780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115</a:t>
                      </a:r>
                    </a:p>
                  </a:txBody>
                  <a:tcPr marL="7803" marR="7803" marT="780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123</a:t>
                      </a:r>
                    </a:p>
                  </a:txBody>
                  <a:tcPr marL="7803" marR="7803" marT="78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6399022"/>
                  </a:ext>
                </a:extLst>
              </a:tr>
              <a:tr h="1721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03" marR="7803" marT="7803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28</a:t>
                      </a:r>
                    </a:p>
                  </a:txBody>
                  <a:tcPr marL="7803" marR="7803" marT="780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146</a:t>
                      </a:r>
                    </a:p>
                  </a:txBody>
                  <a:tcPr marL="7803" marR="7803" marT="780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174</a:t>
                      </a:r>
                    </a:p>
                  </a:txBody>
                  <a:tcPr marL="7803" marR="7803" marT="780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4150"/>
                  </a:ext>
                </a:extLst>
              </a:tr>
            </a:tbl>
          </a:graphicData>
        </a:graphic>
      </p:graphicFrame>
      <p:sp>
        <p:nvSpPr>
          <p:cNvPr id="51" name="직사각형 50">
            <a:extLst>
              <a:ext uri="{FF2B5EF4-FFF2-40B4-BE49-F238E27FC236}">
                <a16:creationId xmlns:a16="http://schemas.microsoft.com/office/drawing/2014/main" id="{735A1171-2E0D-4A3A-5A12-5499D77F6DE4}"/>
              </a:ext>
            </a:extLst>
          </p:cNvPr>
          <p:cNvSpPr/>
          <p:nvPr/>
        </p:nvSpPr>
        <p:spPr>
          <a:xfrm>
            <a:off x="3168650" y="3580370"/>
            <a:ext cx="1038228" cy="1866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Aptos" panose="020B0004020202020204" pitchFamily="34" charset="0"/>
              </a:rPr>
              <a:t>Actual</a:t>
            </a:r>
            <a:endParaRPr lang="ko-KR" altLang="en-US" sz="1000" b="1" dirty="0" err="1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F444B6D4-7B86-C437-0591-6B55BF4DD0FC}"/>
              </a:ext>
            </a:extLst>
          </p:cNvPr>
          <p:cNvSpPr/>
          <p:nvPr/>
        </p:nvSpPr>
        <p:spPr>
          <a:xfrm rot="16200000">
            <a:off x="2139364" y="4011963"/>
            <a:ext cx="684000" cy="1866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Aptos" panose="020B0004020202020204" pitchFamily="34" charset="0"/>
              </a:rPr>
              <a:t>Predicted</a:t>
            </a:r>
            <a:endParaRPr lang="ko-KR" altLang="en-US" sz="1000" b="1" dirty="0" err="1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ECCF708-F814-4921-C1AB-4AC26A70F6BA}"/>
              </a:ext>
            </a:extLst>
          </p:cNvPr>
          <p:cNvSpPr/>
          <p:nvPr/>
        </p:nvSpPr>
        <p:spPr>
          <a:xfrm>
            <a:off x="2156538" y="2625481"/>
            <a:ext cx="2584389" cy="8899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r>
              <a:rPr lang="en-US" altLang="ko-KR" sz="700" b="1" dirty="0">
                <a:solidFill>
                  <a:schemeClr val="tx1"/>
                </a:solidFill>
                <a:latin typeface="Aptos" panose="020B0004020202020204" pitchFamily="34" charset="0"/>
              </a:rPr>
              <a:t>4 Predictors</a:t>
            </a:r>
            <a:endParaRPr lang="en-US" altLang="ko-KR" sz="800" b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800" dirty="0">
                <a:solidFill>
                  <a:schemeClr val="tx1"/>
                </a:solidFill>
                <a:latin typeface="Aptos" panose="020B0004020202020204" pitchFamily="34" charset="0"/>
              </a:rPr>
              <a:t>Employee Profile: Age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800" dirty="0">
                <a:solidFill>
                  <a:schemeClr val="tx1"/>
                </a:solidFill>
                <a:latin typeface="Aptos" panose="020B0004020202020204" pitchFamily="34" charset="0"/>
              </a:rPr>
              <a:t>Career &amp; Tenure: Years in Current Role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800" dirty="0">
                <a:solidFill>
                  <a:schemeClr val="tx1"/>
                </a:solidFill>
                <a:latin typeface="Aptos" panose="020B0004020202020204" pitchFamily="34" charset="0"/>
              </a:rPr>
              <a:t>Work Conditions: </a:t>
            </a:r>
            <a:r>
              <a:rPr lang="en-US" altLang="ko-KR" sz="800" dirty="0" err="1">
                <a:solidFill>
                  <a:schemeClr val="tx1"/>
                </a:solidFill>
                <a:latin typeface="Aptos" panose="020B0004020202020204" pitchFamily="34" charset="0"/>
              </a:rPr>
              <a:t>OverTime</a:t>
            </a:r>
            <a:endParaRPr lang="en-US" altLang="ko-KR" sz="8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800" dirty="0">
                <a:solidFill>
                  <a:schemeClr val="tx1"/>
                </a:solidFill>
                <a:latin typeface="Aptos" panose="020B0004020202020204" pitchFamily="34" charset="0"/>
              </a:rPr>
              <a:t>Job Characteristics: Job Role</a:t>
            </a:r>
            <a:endParaRPr lang="ko-KR" altLang="en-US" sz="800" dirty="0" err="1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7C41E48-5BF6-15C8-38A4-5A77321F818E}"/>
              </a:ext>
            </a:extLst>
          </p:cNvPr>
          <p:cNvSpPr/>
          <p:nvPr/>
        </p:nvSpPr>
        <p:spPr>
          <a:xfrm>
            <a:off x="2139364" y="4579798"/>
            <a:ext cx="2610072" cy="1866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100" b="1" dirty="0">
                <a:solidFill>
                  <a:schemeClr val="tx1"/>
                </a:solidFill>
                <a:latin typeface="Aptos" panose="020B0004020202020204" pitchFamily="34" charset="0"/>
              </a:rPr>
              <a:t>Accuracy</a:t>
            </a:r>
            <a:r>
              <a:rPr lang="en-US" altLang="ko-KR" sz="1100" dirty="0">
                <a:solidFill>
                  <a:schemeClr val="tx1"/>
                </a:solidFill>
                <a:latin typeface="Aptos" panose="020B0004020202020204" pitchFamily="34" charset="0"/>
              </a:rPr>
              <a:t> = (20+115) / 174 = </a:t>
            </a:r>
            <a:r>
              <a:rPr lang="en-US" altLang="ko-KR" sz="1100" b="1" dirty="0">
                <a:solidFill>
                  <a:schemeClr val="tx2"/>
                </a:solidFill>
                <a:latin typeface="Aptos" panose="020B0004020202020204" pitchFamily="34" charset="0"/>
              </a:rPr>
              <a:t>77.59%</a:t>
            </a:r>
            <a:endParaRPr lang="ko-KR" altLang="en-US" sz="1100" b="1" dirty="0" err="1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88043ECB-977F-4998-5F63-EC90BEACF6B6}"/>
              </a:ext>
            </a:extLst>
          </p:cNvPr>
          <p:cNvSpPr/>
          <p:nvPr/>
        </p:nvSpPr>
        <p:spPr>
          <a:xfrm>
            <a:off x="2139364" y="4809953"/>
            <a:ext cx="2610072" cy="1866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100" b="1" dirty="0">
                <a:solidFill>
                  <a:schemeClr val="tx1"/>
                </a:solidFill>
                <a:latin typeface="Aptos" panose="020B0004020202020204" pitchFamily="34" charset="0"/>
              </a:rPr>
              <a:t>Sensitivity</a:t>
            </a:r>
            <a:r>
              <a:rPr lang="en-US" altLang="ko-KR" sz="1100" dirty="0">
                <a:solidFill>
                  <a:schemeClr val="tx1"/>
                </a:solidFill>
                <a:latin typeface="Aptos" panose="020B0004020202020204" pitchFamily="34" charset="0"/>
              </a:rPr>
              <a:t> = 20/28 = </a:t>
            </a:r>
            <a:r>
              <a:rPr lang="en-US" altLang="ko-KR" sz="1100" b="1" dirty="0">
                <a:solidFill>
                  <a:schemeClr val="tx2"/>
                </a:solidFill>
                <a:latin typeface="Aptos" panose="020B0004020202020204" pitchFamily="34" charset="0"/>
              </a:rPr>
              <a:t>71.43%</a:t>
            </a:r>
            <a:endParaRPr lang="ko-KR" altLang="en-US" sz="1100" b="1" dirty="0" err="1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35AC43C-0115-115F-C419-CCC75DE9D1CA}"/>
              </a:ext>
            </a:extLst>
          </p:cNvPr>
          <p:cNvSpPr/>
          <p:nvPr/>
        </p:nvSpPr>
        <p:spPr>
          <a:xfrm>
            <a:off x="2139364" y="5270262"/>
            <a:ext cx="2610072" cy="1866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100" b="1" dirty="0">
                <a:solidFill>
                  <a:schemeClr val="tx1"/>
                </a:solidFill>
                <a:latin typeface="Aptos" panose="020B0004020202020204" pitchFamily="34" charset="0"/>
              </a:rPr>
              <a:t>F1</a:t>
            </a:r>
            <a:r>
              <a:rPr lang="en-US" altLang="ko-KR" sz="1100" dirty="0">
                <a:solidFill>
                  <a:schemeClr val="tx1"/>
                </a:solidFill>
                <a:latin typeface="Aptos" panose="020B0004020202020204" pitchFamily="34" charset="0"/>
              </a:rPr>
              <a:t> = 2*20/(2*20+31+8) = </a:t>
            </a:r>
            <a:r>
              <a:rPr lang="en-US" altLang="ko-KR" sz="1100" b="1" dirty="0">
                <a:solidFill>
                  <a:schemeClr val="tx2"/>
                </a:solidFill>
                <a:latin typeface="Aptos" panose="020B0004020202020204" pitchFamily="34" charset="0"/>
              </a:rPr>
              <a:t>50.63%</a:t>
            </a:r>
            <a:endParaRPr lang="ko-KR" altLang="en-US" sz="1100" b="1" dirty="0" err="1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EDAA3998-4C5F-AD69-30B7-EA73F4B85F25}"/>
              </a:ext>
            </a:extLst>
          </p:cNvPr>
          <p:cNvSpPr/>
          <p:nvPr/>
        </p:nvSpPr>
        <p:spPr>
          <a:xfrm>
            <a:off x="6722492" y="4579798"/>
            <a:ext cx="2610072" cy="1866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100" b="1" dirty="0">
                <a:solidFill>
                  <a:schemeClr val="tx1"/>
                </a:solidFill>
                <a:latin typeface="Aptos" panose="020B0004020202020204" pitchFamily="34" charset="0"/>
              </a:rPr>
              <a:t>Accuracy</a:t>
            </a:r>
            <a:r>
              <a:rPr lang="en-US" altLang="ko-KR" sz="1100" dirty="0">
                <a:solidFill>
                  <a:schemeClr val="tx1"/>
                </a:solidFill>
                <a:latin typeface="Aptos" panose="020B0004020202020204" pitchFamily="34" charset="0"/>
              </a:rPr>
              <a:t> = (20+124)/174 = </a:t>
            </a:r>
            <a:r>
              <a:rPr lang="en-US" altLang="ko-KR" sz="1100" b="1" dirty="0">
                <a:solidFill>
                  <a:schemeClr val="tx2"/>
                </a:solidFill>
                <a:latin typeface="Aptos" panose="020B0004020202020204" pitchFamily="34" charset="0"/>
              </a:rPr>
              <a:t>82.76%</a:t>
            </a:r>
            <a:endParaRPr lang="ko-KR" altLang="en-US" sz="1100" b="1" dirty="0" err="1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9C59EC82-7855-B1ED-FEDF-A9EF46C59DFA}"/>
              </a:ext>
            </a:extLst>
          </p:cNvPr>
          <p:cNvSpPr/>
          <p:nvPr/>
        </p:nvSpPr>
        <p:spPr>
          <a:xfrm>
            <a:off x="6722492" y="4809953"/>
            <a:ext cx="2610072" cy="1866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100" b="1" dirty="0">
                <a:solidFill>
                  <a:schemeClr val="tx1"/>
                </a:solidFill>
                <a:latin typeface="Aptos" panose="020B0004020202020204" pitchFamily="34" charset="0"/>
              </a:rPr>
              <a:t>Sensitivity</a:t>
            </a:r>
            <a:r>
              <a:rPr lang="en-US" altLang="ko-KR" sz="1100" dirty="0">
                <a:solidFill>
                  <a:schemeClr val="tx1"/>
                </a:solidFill>
                <a:latin typeface="Aptos" panose="020B0004020202020204" pitchFamily="34" charset="0"/>
              </a:rPr>
              <a:t> = 20/28 = </a:t>
            </a:r>
            <a:r>
              <a:rPr lang="en-US" altLang="ko-KR" sz="1100" b="1" dirty="0">
                <a:solidFill>
                  <a:schemeClr val="tx2"/>
                </a:solidFill>
                <a:latin typeface="Aptos" panose="020B0004020202020204" pitchFamily="34" charset="0"/>
              </a:rPr>
              <a:t>71.43%</a:t>
            </a:r>
            <a:endParaRPr lang="ko-KR" altLang="en-US" sz="1100" b="1" dirty="0" err="1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EA49DF57-7E99-AC8A-5CC5-B9548D9C58A9}"/>
              </a:ext>
            </a:extLst>
          </p:cNvPr>
          <p:cNvSpPr/>
          <p:nvPr/>
        </p:nvSpPr>
        <p:spPr>
          <a:xfrm>
            <a:off x="6722492" y="5270262"/>
            <a:ext cx="2610072" cy="1866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100" b="1" dirty="0">
                <a:solidFill>
                  <a:schemeClr val="tx1"/>
                </a:solidFill>
                <a:latin typeface="Aptos" panose="020B0004020202020204" pitchFamily="34" charset="0"/>
              </a:rPr>
              <a:t>F1</a:t>
            </a:r>
            <a:r>
              <a:rPr lang="en-US" altLang="ko-KR" sz="1100" dirty="0">
                <a:solidFill>
                  <a:schemeClr val="tx1"/>
                </a:solidFill>
                <a:latin typeface="Aptos" panose="020B0004020202020204" pitchFamily="34" charset="0"/>
              </a:rPr>
              <a:t> = 2*20/(2*20+22+8) = </a:t>
            </a:r>
            <a:r>
              <a:rPr lang="en-US" altLang="ko-KR" sz="1100" b="1" dirty="0">
                <a:solidFill>
                  <a:schemeClr val="tx2"/>
                </a:solidFill>
                <a:latin typeface="Aptos" panose="020B0004020202020204" pitchFamily="34" charset="0"/>
              </a:rPr>
              <a:t>57.14%</a:t>
            </a:r>
            <a:endParaRPr lang="ko-KR" altLang="en-US" sz="1100" b="1" dirty="0" err="1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060834FF-CB91-2E73-5CAA-E79796783D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793237"/>
              </p:ext>
            </p:extLst>
          </p:nvPr>
        </p:nvGraphicFramePr>
        <p:xfrm>
          <a:off x="7238623" y="3755333"/>
          <a:ext cx="2005832" cy="688612"/>
        </p:xfrm>
        <a:graphic>
          <a:graphicData uri="http://schemas.openxmlformats.org/drawingml/2006/table">
            <a:tbl>
              <a:tblPr/>
              <a:tblGrid>
                <a:gridCol w="501458">
                  <a:extLst>
                    <a:ext uri="{9D8B030D-6E8A-4147-A177-3AD203B41FA5}">
                      <a16:colId xmlns:a16="http://schemas.microsoft.com/office/drawing/2014/main" val="3110454863"/>
                    </a:ext>
                  </a:extLst>
                </a:gridCol>
                <a:gridCol w="501458">
                  <a:extLst>
                    <a:ext uri="{9D8B030D-6E8A-4147-A177-3AD203B41FA5}">
                      <a16:colId xmlns:a16="http://schemas.microsoft.com/office/drawing/2014/main" val="2067654984"/>
                    </a:ext>
                  </a:extLst>
                </a:gridCol>
                <a:gridCol w="501458">
                  <a:extLst>
                    <a:ext uri="{9D8B030D-6E8A-4147-A177-3AD203B41FA5}">
                      <a16:colId xmlns:a16="http://schemas.microsoft.com/office/drawing/2014/main" val="1612596214"/>
                    </a:ext>
                  </a:extLst>
                </a:gridCol>
                <a:gridCol w="501458">
                  <a:extLst>
                    <a:ext uri="{9D8B030D-6E8A-4147-A177-3AD203B41FA5}">
                      <a16:colId xmlns:a16="http://schemas.microsoft.com/office/drawing/2014/main" val="3324161982"/>
                    </a:ext>
                  </a:extLst>
                </a:gridCol>
              </a:tblGrid>
              <a:tr h="1721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03" marR="7803" marT="7803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Yes</a:t>
                      </a:r>
                    </a:p>
                  </a:txBody>
                  <a:tcPr marL="7803" marR="7803" marT="780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7803" marR="7803" marT="780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03" marR="7803" marT="78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224299"/>
                  </a:ext>
                </a:extLst>
              </a:tr>
              <a:tr h="1721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Yes</a:t>
                      </a:r>
                    </a:p>
                  </a:txBody>
                  <a:tcPr marL="7803" marR="7803" marT="7803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7803" marR="7803" marT="780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7803" marR="7803" marT="780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42</a:t>
                      </a:r>
                    </a:p>
                  </a:txBody>
                  <a:tcPr marL="7803" marR="7803" marT="78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983504"/>
                  </a:ext>
                </a:extLst>
              </a:tr>
              <a:tr h="1721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7803" marR="7803" marT="7803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7803" marR="7803" marT="780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124</a:t>
                      </a:r>
                    </a:p>
                  </a:txBody>
                  <a:tcPr marL="7803" marR="7803" marT="780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132</a:t>
                      </a:r>
                    </a:p>
                  </a:txBody>
                  <a:tcPr marL="7803" marR="7803" marT="780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6399022"/>
                  </a:ext>
                </a:extLst>
              </a:tr>
              <a:tr h="1721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803" marR="7803" marT="7803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28</a:t>
                      </a:r>
                    </a:p>
                  </a:txBody>
                  <a:tcPr marL="7803" marR="7803" marT="780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146</a:t>
                      </a:r>
                    </a:p>
                  </a:txBody>
                  <a:tcPr marL="7803" marR="7803" marT="780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174</a:t>
                      </a:r>
                    </a:p>
                  </a:txBody>
                  <a:tcPr marL="7803" marR="7803" marT="780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4150"/>
                  </a:ext>
                </a:extLst>
              </a:tr>
            </a:tbl>
          </a:graphicData>
        </a:graphic>
      </p:graphicFrame>
      <p:sp>
        <p:nvSpPr>
          <p:cNvPr id="71" name="직사각형 70">
            <a:extLst>
              <a:ext uri="{FF2B5EF4-FFF2-40B4-BE49-F238E27FC236}">
                <a16:creationId xmlns:a16="http://schemas.microsoft.com/office/drawing/2014/main" id="{466BC636-CBD7-777F-21AD-FDF4B0A93770}"/>
              </a:ext>
            </a:extLst>
          </p:cNvPr>
          <p:cNvSpPr/>
          <p:nvPr/>
        </p:nvSpPr>
        <p:spPr>
          <a:xfrm>
            <a:off x="7748117" y="3572432"/>
            <a:ext cx="1038228" cy="1866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Aptos" panose="020B0004020202020204" pitchFamily="34" charset="0"/>
              </a:rPr>
              <a:t>Actual</a:t>
            </a:r>
            <a:endParaRPr lang="ko-KR" altLang="en-US" sz="1000" b="1" dirty="0" err="1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C462F3C0-3C90-92F0-0192-9C5568CAA152}"/>
              </a:ext>
            </a:extLst>
          </p:cNvPr>
          <p:cNvSpPr/>
          <p:nvPr/>
        </p:nvSpPr>
        <p:spPr>
          <a:xfrm rot="16200000">
            <a:off x="6715205" y="4004025"/>
            <a:ext cx="684000" cy="1866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Aptos" panose="020B0004020202020204" pitchFamily="34" charset="0"/>
              </a:rPr>
              <a:t>Predicted</a:t>
            </a:r>
            <a:endParaRPr lang="ko-KR" altLang="en-US" sz="1000" b="1" dirty="0" err="1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99496A9A-917C-4DCF-5104-E7DEC84D8348}"/>
              </a:ext>
            </a:extLst>
          </p:cNvPr>
          <p:cNvSpPr/>
          <p:nvPr/>
        </p:nvSpPr>
        <p:spPr>
          <a:xfrm>
            <a:off x="5085383" y="1689911"/>
            <a:ext cx="4292944" cy="900000"/>
          </a:xfrm>
          <a:prstGeom prst="roundRect">
            <a:avLst>
              <a:gd name="adj" fmla="val 8906"/>
            </a:avLst>
          </a:prstGeom>
          <a:solidFill>
            <a:srgbClr val="F2F9FF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02B1B42-3CBD-E2BB-75F0-A18D00EF6299}"/>
              </a:ext>
            </a:extLst>
          </p:cNvPr>
          <p:cNvSpPr/>
          <p:nvPr/>
        </p:nvSpPr>
        <p:spPr>
          <a:xfrm>
            <a:off x="6783478" y="1694929"/>
            <a:ext cx="2594849" cy="8899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Aptos" panose="020B0004020202020204" pitchFamily="34" charset="0"/>
              </a:rPr>
              <a:t>Naive Bayes estimates the probability of employee attrition using Bayes' theorem, assuming predictors are conditionally independent given attrition status.</a:t>
            </a:r>
            <a:endParaRPr lang="ko-KR" altLang="en-US" sz="1000" dirty="0" err="1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BBB864A1-5D39-F276-6EA5-02E37B987E84}"/>
              </a:ext>
            </a:extLst>
          </p:cNvPr>
          <p:cNvSpPr/>
          <p:nvPr/>
        </p:nvSpPr>
        <p:spPr>
          <a:xfrm>
            <a:off x="6698933" y="2625481"/>
            <a:ext cx="2679393" cy="8899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r>
              <a:rPr lang="en-US" altLang="ko-KR" sz="700" b="1" dirty="0">
                <a:solidFill>
                  <a:schemeClr val="tx1"/>
                </a:solidFill>
                <a:latin typeface="Aptos" panose="020B0004020202020204" pitchFamily="34" charset="0"/>
              </a:rPr>
              <a:t>8 Predictors</a:t>
            </a:r>
            <a:endParaRPr lang="en-US" altLang="ko-KR" sz="800" b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800" dirty="0">
                <a:solidFill>
                  <a:schemeClr val="tx1"/>
                </a:solidFill>
                <a:latin typeface="Aptos" panose="020B0004020202020204" pitchFamily="34" charset="0"/>
              </a:rPr>
              <a:t>Employee Profile: Age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800" dirty="0">
                <a:solidFill>
                  <a:schemeClr val="tx1"/>
                </a:solidFill>
                <a:latin typeface="Aptos" panose="020B0004020202020204" pitchFamily="34" charset="0"/>
              </a:rPr>
              <a:t>Career &amp; Tenure: Years at Company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800" dirty="0">
                <a:solidFill>
                  <a:schemeClr val="tx1"/>
                </a:solidFill>
                <a:latin typeface="Aptos" panose="020B0004020202020204" pitchFamily="34" charset="0"/>
              </a:rPr>
              <a:t>Work Conditions: </a:t>
            </a:r>
            <a:r>
              <a:rPr lang="en-US" altLang="ko-KR" sz="800" dirty="0" err="1">
                <a:solidFill>
                  <a:schemeClr val="tx1"/>
                </a:solidFill>
                <a:latin typeface="Aptos" panose="020B0004020202020204" pitchFamily="34" charset="0"/>
              </a:rPr>
              <a:t>OverTime</a:t>
            </a:r>
            <a:r>
              <a:rPr lang="en-US" altLang="ko-KR" sz="800" dirty="0">
                <a:solidFill>
                  <a:schemeClr val="tx1"/>
                </a:solidFill>
                <a:latin typeface="Aptos" panose="020B0004020202020204" pitchFamily="34" charset="0"/>
              </a:rPr>
              <a:t>, Business Travel, </a:t>
            </a:r>
            <a:br>
              <a:rPr lang="en-US" altLang="ko-KR" sz="8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US" altLang="ko-KR" sz="800" dirty="0">
                <a:solidFill>
                  <a:schemeClr val="tx1"/>
                </a:solidFill>
                <a:latin typeface="Aptos" panose="020B0004020202020204" pitchFamily="34" charset="0"/>
              </a:rPr>
              <a:t>Work-Life Balance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800" dirty="0">
                <a:solidFill>
                  <a:schemeClr val="tx1"/>
                </a:solidFill>
                <a:latin typeface="Aptos" panose="020B0004020202020204" pitchFamily="34" charset="0"/>
              </a:rPr>
              <a:t>Job Characteristics: Job Role, Job Involvement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800" dirty="0">
                <a:solidFill>
                  <a:schemeClr val="tx1"/>
                </a:solidFill>
                <a:latin typeface="Aptos" panose="020B0004020202020204" pitchFamily="34" charset="0"/>
              </a:rPr>
              <a:t>Commute &amp; Location: Distance from Home</a:t>
            </a:r>
          </a:p>
        </p:txBody>
      </p:sp>
      <p:pic>
        <p:nvPicPr>
          <p:cNvPr id="91" name="그래픽 90" descr="데이터베이스 단색으로 채워진">
            <a:extLst>
              <a:ext uri="{FF2B5EF4-FFF2-40B4-BE49-F238E27FC236}">
                <a16:creationId xmlns:a16="http://schemas.microsoft.com/office/drawing/2014/main" id="{721AE3E5-A6F1-9F8E-C787-5D27DACD21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5961" y="2888930"/>
            <a:ext cx="360000" cy="360000"/>
          </a:xfrm>
          <a:prstGeom prst="rect">
            <a:avLst/>
          </a:prstGeom>
        </p:spPr>
      </p:pic>
      <p:pic>
        <p:nvPicPr>
          <p:cNvPr id="96" name="그래픽 95" descr="클립보드 혼합됨 단색으로 채워진">
            <a:extLst>
              <a:ext uri="{FF2B5EF4-FFF2-40B4-BE49-F238E27FC236}">
                <a16:creationId xmlns:a16="http://schemas.microsoft.com/office/drawing/2014/main" id="{EE8E8AC7-AB2A-ADE9-1FF6-6A2BA95F01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5961" y="4829649"/>
            <a:ext cx="360000" cy="360000"/>
          </a:xfrm>
          <a:prstGeom prst="rect">
            <a:avLst/>
          </a:prstGeom>
        </p:spPr>
      </p:pic>
      <p:pic>
        <p:nvPicPr>
          <p:cNvPr id="98" name="그래픽 97" descr="테이블 단색으로 채워진">
            <a:extLst>
              <a:ext uri="{FF2B5EF4-FFF2-40B4-BE49-F238E27FC236}">
                <a16:creationId xmlns:a16="http://schemas.microsoft.com/office/drawing/2014/main" id="{93711255-24B7-7EDF-5C6A-12B5A91022C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5961" y="3846928"/>
            <a:ext cx="360000" cy="360000"/>
          </a:xfrm>
          <a:prstGeom prst="rect">
            <a:avLst/>
          </a:prstGeom>
        </p:spPr>
      </p:pic>
      <p:sp>
        <p:nvSpPr>
          <p:cNvPr id="5" name="화살표: 오각형 4">
            <a:extLst>
              <a:ext uri="{FF2B5EF4-FFF2-40B4-BE49-F238E27FC236}">
                <a16:creationId xmlns:a16="http://schemas.microsoft.com/office/drawing/2014/main" id="{376A073C-6580-53A6-FE1B-E4D17F272C18}"/>
              </a:ext>
            </a:extLst>
          </p:cNvPr>
          <p:cNvSpPr/>
          <p:nvPr/>
        </p:nvSpPr>
        <p:spPr>
          <a:xfrm>
            <a:off x="5085383" y="1694929"/>
            <a:ext cx="1578519" cy="889965"/>
          </a:xfrm>
          <a:prstGeom prst="homePlate">
            <a:avLst>
              <a:gd name="adj" fmla="val 11527"/>
            </a:avLst>
          </a:prstGeom>
          <a:solidFill>
            <a:srgbClr val="005EB8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Aptos" panose="020B0004020202020204" pitchFamily="34" charset="0"/>
              </a:rPr>
              <a:t>Methodology</a:t>
            </a:r>
            <a:endParaRPr lang="ko-KR" altLang="en-US" sz="1200" b="1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9" name="화살표: 오각형 8">
            <a:extLst>
              <a:ext uri="{FF2B5EF4-FFF2-40B4-BE49-F238E27FC236}">
                <a16:creationId xmlns:a16="http://schemas.microsoft.com/office/drawing/2014/main" id="{BCDCD1DA-CD84-B766-8BC4-A30E89DCC303}"/>
              </a:ext>
            </a:extLst>
          </p:cNvPr>
          <p:cNvSpPr/>
          <p:nvPr/>
        </p:nvSpPr>
        <p:spPr>
          <a:xfrm>
            <a:off x="5085383" y="2625481"/>
            <a:ext cx="1535519" cy="897725"/>
          </a:xfrm>
          <a:prstGeom prst="homePlate">
            <a:avLst>
              <a:gd name="adj" fmla="val 6923"/>
            </a:avLst>
          </a:prstGeom>
          <a:solidFill>
            <a:srgbClr val="005EB8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Aptos" panose="020B0004020202020204" pitchFamily="34" charset="0"/>
              </a:rPr>
              <a:t>Model Setup</a:t>
            </a:r>
            <a:endParaRPr lang="ko-KR" altLang="en-US" sz="1200" b="1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0" name="화살표: 오각형 9">
            <a:extLst>
              <a:ext uri="{FF2B5EF4-FFF2-40B4-BE49-F238E27FC236}">
                <a16:creationId xmlns:a16="http://schemas.microsoft.com/office/drawing/2014/main" id="{1A55B656-1AAB-E8AC-1422-CE27213AACED}"/>
              </a:ext>
            </a:extLst>
          </p:cNvPr>
          <p:cNvSpPr/>
          <p:nvPr/>
        </p:nvSpPr>
        <p:spPr>
          <a:xfrm>
            <a:off x="5085383" y="3553681"/>
            <a:ext cx="1535519" cy="952246"/>
          </a:xfrm>
          <a:prstGeom prst="homePlate">
            <a:avLst>
              <a:gd name="adj" fmla="val 6852"/>
            </a:avLst>
          </a:prstGeom>
          <a:solidFill>
            <a:srgbClr val="005EB8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Aptos" panose="020B0004020202020204" pitchFamily="34" charset="0"/>
              </a:rPr>
              <a:t>Confusion Matrix</a:t>
            </a:r>
            <a:endParaRPr lang="ko-KR" altLang="en-US" sz="1200" b="1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2" name="화살표: 오각형 11">
            <a:extLst>
              <a:ext uri="{FF2B5EF4-FFF2-40B4-BE49-F238E27FC236}">
                <a16:creationId xmlns:a16="http://schemas.microsoft.com/office/drawing/2014/main" id="{46136F87-6898-5D5C-0958-F6262F4C89C7}"/>
              </a:ext>
            </a:extLst>
          </p:cNvPr>
          <p:cNvSpPr/>
          <p:nvPr/>
        </p:nvSpPr>
        <p:spPr>
          <a:xfrm>
            <a:off x="5085383" y="4539212"/>
            <a:ext cx="1535519" cy="949436"/>
          </a:xfrm>
          <a:prstGeom prst="homePlate">
            <a:avLst>
              <a:gd name="adj" fmla="val 7480"/>
            </a:avLst>
          </a:prstGeom>
          <a:solidFill>
            <a:srgbClr val="005EB8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0" rIns="0" bIns="0"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Aptos" panose="020B0004020202020204" pitchFamily="34" charset="0"/>
              </a:rPr>
              <a:t>Performance</a:t>
            </a:r>
            <a:endParaRPr lang="ko-KR" altLang="en-US" sz="1200" b="1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pic>
        <p:nvPicPr>
          <p:cNvPr id="19" name="그래픽 18" descr="단일 톱니바퀴 단색으로 채워진">
            <a:extLst>
              <a:ext uri="{FF2B5EF4-FFF2-40B4-BE49-F238E27FC236}">
                <a16:creationId xmlns:a16="http://schemas.microsoft.com/office/drawing/2014/main" id="{BBD2F713-D379-1527-AE4E-F4BF60B325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68454" y="1955744"/>
            <a:ext cx="360000" cy="360000"/>
          </a:xfrm>
          <a:prstGeom prst="rect">
            <a:avLst/>
          </a:prstGeom>
        </p:spPr>
      </p:pic>
      <p:pic>
        <p:nvPicPr>
          <p:cNvPr id="20" name="그래픽 19" descr="데이터베이스 단색으로 채워진">
            <a:extLst>
              <a:ext uri="{FF2B5EF4-FFF2-40B4-BE49-F238E27FC236}">
                <a16:creationId xmlns:a16="http://schemas.microsoft.com/office/drawing/2014/main" id="{97DEAAA7-2AAA-8B1A-BE14-966E00DA61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63414" y="2888930"/>
            <a:ext cx="360000" cy="360000"/>
          </a:xfrm>
          <a:prstGeom prst="rect">
            <a:avLst/>
          </a:prstGeom>
        </p:spPr>
      </p:pic>
      <p:pic>
        <p:nvPicPr>
          <p:cNvPr id="21" name="그래픽 20" descr="클립보드 혼합됨 단색으로 채워진">
            <a:extLst>
              <a:ext uri="{FF2B5EF4-FFF2-40B4-BE49-F238E27FC236}">
                <a16:creationId xmlns:a16="http://schemas.microsoft.com/office/drawing/2014/main" id="{A6531ECC-DE1E-0B5F-E8C8-D76E21DC53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63414" y="4829649"/>
            <a:ext cx="360000" cy="360000"/>
          </a:xfrm>
          <a:prstGeom prst="rect">
            <a:avLst/>
          </a:prstGeom>
        </p:spPr>
      </p:pic>
      <p:pic>
        <p:nvPicPr>
          <p:cNvPr id="22" name="그래픽 21" descr="테이블 단색으로 채워진">
            <a:extLst>
              <a:ext uri="{FF2B5EF4-FFF2-40B4-BE49-F238E27FC236}">
                <a16:creationId xmlns:a16="http://schemas.microsoft.com/office/drawing/2014/main" id="{64208625-67D0-C00E-D765-B857ACEFE79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63414" y="3846928"/>
            <a:ext cx="360000" cy="360000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A7AD5593-454E-0B6B-35EF-FF9C71FE01DA}"/>
              </a:ext>
            </a:extLst>
          </p:cNvPr>
          <p:cNvSpPr/>
          <p:nvPr/>
        </p:nvSpPr>
        <p:spPr>
          <a:xfrm>
            <a:off x="5523414" y="3237860"/>
            <a:ext cx="938769" cy="1465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Aptos" panose="020B0004020202020204" pitchFamily="34" charset="0"/>
              </a:rPr>
              <a:t>Threshold = 0.21</a:t>
            </a:r>
            <a:endParaRPr lang="en-US" altLang="ko-KR" sz="8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A430F29-C041-9297-79F9-B7E7136DD1AE}"/>
              </a:ext>
            </a:extLst>
          </p:cNvPr>
          <p:cNvSpPr/>
          <p:nvPr/>
        </p:nvSpPr>
        <p:spPr>
          <a:xfrm>
            <a:off x="939768" y="3237860"/>
            <a:ext cx="1008000" cy="1465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Aptos" panose="020B0004020202020204" pitchFamily="34" charset="0"/>
              </a:rPr>
              <a:t>K=29, Threshold = 0.20</a:t>
            </a:r>
            <a:endParaRPr lang="en-US" altLang="ko-KR" sz="8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7CF12A1-6E2F-A50E-3B12-98FCD0D79CD6}"/>
              </a:ext>
            </a:extLst>
          </p:cNvPr>
          <p:cNvSpPr/>
          <p:nvPr/>
        </p:nvSpPr>
        <p:spPr>
          <a:xfrm>
            <a:off x="2139364" y="5040108"/>
            <a:ext cx="2610072" cy="1866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100" b="1" dirty="0">
                <a:solidFill>
                  <a:schemeClr val="tx1"/>
                </a:solidFill>
                <a:latin typeface="Aptos" panose="020B0004020202020204" pitchFamily="34" charset="0"/>
              </a:rPr>
              <a:t>Specificity</a:t>
            </a:r>
            <a:r>
              <a:rPr lang="en-US" altLang="ko-KR" sz="1100" dirty="0">
                <a:solidFill>
                  <a:schemeClr val="tx1"/>
                </a:solidFill>
                <a:latin typeface="Aptos" panose="020B0004020202020204" pitchFamily="34" charset="0"/>
              </a:rPr>
              <a:t> = 115/146 = </a:t>
            </a:r>
            <a:r>
              <a:rPr lang="en-US" altLang="ko-KR" sz="1100" b="1" dirty="0">
                <a:solidFill>
                  <a:schemeClr val="tx2"/>
                </a:solidFill>
                <a:latin typeface="Aptos" panose="020B0004020202020204" pitchFamily="34" charset="0"/>
              </a:rPr>
              <a:t>78.77%</a:t>
            </a:r>
            <a:endParaRPr lang="ko-KR" altLang="en-US" sz="1100" b="1" dirty="0" err="1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29CB6CA-42B0-38A0-1F5B-3DE56B644C0C}"/>
              </a:ext>
            </a:extLst>
          </p:cNvPr>
          <p:cNvSpPr/>
          <p:nvPr/>
        </p:nvSpPr>
        <p:spPr>
          <a:xfrm>
            <a:off x="6722492" y="5040108"/>
            <a:ext cx="2610072" cy="1866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100" b="1" dirty="0">
                <a:solidFill>
                  <a:schemeClr val="tx1"/>
                </a:solidFill>
                <a:latin typeface="Aptos" panose="020B0004020202020204" pitchFamily="34" charset="0"/>
              </a:rPr>
              <a:t>Specificity</a:t>
            </a:r>
            <a:r>
              <a:rPr lang="en-US" altLang="ko-KR" sz="1100" dirty="0">
                <a:solidFill>
                  <a:schemeClr val="tx1"/>
                </a:solidFill>
                <a:latin typeface="Aptos" panose="020B0004020202020204" pitchFamily="34" charset="0"/>
              </a:rPr>
              <a:t> = 124/146 = </a:t>
            </a:r>
            <a:r>
              <a:rPr lang="en-US" altLang="ko-KR" sz="1100" b="1" dirty="0">
                <a:solidFill>
                  <a:schemeClr val="tx2"/>
                </a:solidFill>
                <a:latin typeface="Aptos" panose="020B0004020202020204" pitchFamily="34" charset="0"/>
              </a:rPr>
              <a:t>84.93%</a:t>
            </a:r>
            <a:endParaRPr lang="ko-KR" altLang="en-US" sz="1100" b="1" dirty="0" err="1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7BED21D-CF4E-8325-D18E-689F51944BB3}"/>
              </a:ext>
            </a:extLst>
          </p:cNvPr>
          <p:cNvSpPr/>
          <p:nvPr/>
        </p:nvSpPr>
        <p:spPr>
          <a:xfrm>
            <a:off x="788988" y="5236216"/>
            <a:ext cx="1158780" cy="1465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pt-BR" altLang="ko-KR" sz="700" dirty="0">
                <a:solidFill>
                  <a:schemeClr val="bg1"/>
                </a:solidFill>
                <a:latin typeface="Aptos" panose="020B0004020202020204" pitchFamily="34" charset="0"/>
              </a:rPr>
              <a:t>Train: n = 696  Test: n = 174</a:t>
            </a:r>
            <a:endParaRPr lang="en-US" altLang="ko-KR" sz="8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0CE798F-693B-2F0D-1E6E-E5AC7328E807}"/>
              </a:ext>
            </a:extLst>
          </p:cNvPr>
          <p:cNvSpPr/>
          <p:nvPr/>
        </p:nvSpPr>
        <p:spPr>
          <a:xfrm>
            <a:off x="5343414" y="5236216"/>
            <a:ext cx="1158780" cy="1465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pt-BR" altLang="ko-KR" sz="700" dirty="0">
                <a:solidFill>
                  <a:schemeClr val="bg1"/>
                </a:solidFill>
                <a:latin typeface="Aptos" panose="020B0004020202020204" pitchFamily="34" charset="0"/>
              </a:rPr>
              <a:t>Train: n = 696  Test: n = 174</a:t>
            </a:r>
            <a:endParaRPr lang="en-US" altLang="ko-KR" sz="8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378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86" grpId="0" animBg="1"/>
      <p:bldP spid="84" grpId="0" animBg="1"/>
      <p:bldP spid="83" grpId="0" animBg="1"/>
      <p:bldP spid="81" grpId="0" animBg="1"/>
      <p:bldP spid="82" grpId="0" animBg="1"/>
      <p:bldP spid="4" grpId="0" animBg="1"/>
      <p:bldP spid="11" grpId="0" animBg="1"/>
      <p:bldP spid="6" grpId="0"/>
      <p:bldP spid="28" grpId="0"/>
      <p:bldP spid="29" grpId="0" animBg="1"/>
      <p:bldP spid="30" grpId="0" animBg="1"/>
      <p:bldP spid="16" grpId="0" animBg="1"/>
      <p:bldP spid="8" grpId="0" animBg="1"/>
      <p:bldP spid="32" grpId="0"/>
      <p:bldP spid="42" grpId="0" animBg="1"/>
      <p:bldP spid="44" grpId="0" animBg="1"/>
      <p:bldP spid="45" grpId="0" animBg="1"/>
      <p:bldP spid="51" grpId="0"/>
      <p:bldP spid="59" grpId="0"/>
      <p:bldP spid="61" grpId="0"/>
      <p:bldP spid="62" grpId="0"/>
      <p:bldP spid="63" grpId="0"/>
      <p:bldP spid="64" grpId="0"/>
      <p:bldP spid="67" grpId="0"/>
      <p:bldP spid="68" grpId="0"/>
      <p:bldP spid="69" grpId="0"/>
      <p:bldP spid="71" grpId="0"/>
      <p:bldP spid="72" grpId="0"/>
      <p:bldP spid="77" grpId="0" animBg="1"/>
      <p:bldP spid="79" grpId="0"/>
      <p:bldP spid="87" grpId="0"/>
      <p:bldP spid="5" grpId="0" animBg="1"/>
      <p:bldP spid="9" grpId="0" animBg="1"/>
      <p:bldP spid="10" grpId="0" animBg="1"/>
      <p:bldP spid="12" grpId="0" animBg="1"/>
      <p:bldP spid="23" grpId="0"/>
      <p:bldP spid="24" grpId="0"/>
      <p:bldP spid="25" grpId="0"/>
      <p:bldP spid="26" grpId="0"/>
      <p:bldP spid="27" grpId="0"/>
      <p:bldP spid="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19794-ED14-FFA3-9489-06C15CE0F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3">
            <a:extLst>
              <a:ext uri="{FF2B5EF4-FFF2-40B4-BE49-F238E27FC236}">
                <a16:creationId xmlns:a16="http://schemas.microsoft.com/office/drawing/2014/main" id="{C09CA36F-90F4-8447-C0FA-3437066A4598}"/>
              </a:ext>
            </a:extLst>
          </p:cNvPr>
          <p:cNvGraphicFramePr>
            <a:graphicFrameLocks noGrp="1"/>
          </p:cNvGraphicFramePr>
          <p:nvPr/>
        </p:nvGraphicFramePr>
        <p:xfrm>
          <a:off x="1004207" y="2534970"/>
          <a:ext cx="7571977" cy="2687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6733">
                  <a:extLst>
                    <a:ext uri="{9D8B030D-6E8A-4147-A177-3AD203B41FA5}">
                      <a16:colId xmlns:a16="http://schemas.microsoft.com/office/drawing/2014/main" val="694772892"/>
                    </a:ext>
                  </a:extLst>
                </a:gridCol>
                <a:gridCol w="6975244">
                  <a:extLst>
                    <a:ext uri="{9D8B030D-6E8A-4147-A177-3AD203B41FA5}">
                      <a16:colId xmlns:a16="http://schemas.microsoft.com/office/drawing/2014/main" val="1726739505"/>
                    </a:ext>
                  </a:extLst>
                </a:gridCol>
              </a:tblGrid>
              <a:tr h="537497">
                <a:tc>
                  <a:txBody>
                    <a:bodyPr/>
                    <a:lstStyle/>
                    <a:p>
                      <a:pPr marL="12700" marR="5080" lvl="1" indent="-185738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Ⅰ.</a:t>
                      </a:r>
                      <a:endParaRPr lang="ko-KR" altLang="en-US" sz="2000" b="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700" marR="5080" lvl="1" indent="-185738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Dataset Overview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612474"/>
                  </a:ext>
                </a:extLst>
              </a:tr>
              <a:tr h="537497">
                <a:tc>
                  <a:txBody>
                    <a:bodyPr/>
                    <a:lstStyle/>
                    <a:p>
                      <a:pPr marL="12700" marR="5080" lvl="1" indent="-185738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Ⅱ.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700" marR="5080" lvl="1" indent="-185738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Exploratory Data Analysis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8481722"/>
                  </a:ext>
                </a:extLst>
              </a:tr>
              <a:tr h="537497">
                <a:tc>
                  <a:txBody>
                    <a:bodyPr/>
                    <a:lstStyle/>
                    <a:p>
                      <a:pPr marL="12700" marR="5080" lvl="1" indent="-185738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III.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700" marR="5080" lvl="1" indent="-185738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Predictive Modeling (KNN &amp; Naive Bayes)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1305908"/>
                  </a:ext>
                </a:extLst>
              </a:tr>
              <a:tr h="537497">
                <a:tc>
                  <a:txBody>
                    <a:bodyPr/>
                    <a:lstStyle/>
                    <a:p>
                      <a:pPr marL="12700" marR="5080" lvl="1" indent="-185738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IV.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700" marR="5080" lvl="1" indent="-185738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Conclusions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3546442"/>
                  </a:ext>
                </a:extLst>
              </a:tr>
              <a:tr h="537497">
                <a:tc>
                  <a:txBody>
                    <a:bodyPr/>
                    <a:lstStyle/>
                    <a:p>
                      <a:pPr marL="12700" marR="5080" lvl="1" indent="-185738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V.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700" marR="5080" lvl="1" indent="-185738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Appendix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3833752"/>
                  </a:ext>
                </a:extLst>
              </a:tr>
            </a:tbl>
          </a:graphicData>
        </a:graphic>
      </p:graphicFrame>
      <p:sp>
        <p:nvSpPr>
          <p:cNvPr id="3" name="Freeform 48">
            <a:extLst>
              <a:ext uri="{FF2B5EF4-FFF2-40B4-BE49-F238E27FC236}">
                <a16:creationId xmlns:a16="http://schemas.microsoft.com/office/drawing/2014/main" id="{743B68C2-E963-48F2-C144-B01656086BF5}"/>
              </a:ext>
            </a:extLst>
          </p:cNvPr>
          <p:cNvSpPr>
            <a:spLocks noChangeAspect="1"/>
          </p:cNvSpPr>
          <p:nvPr/>
        </p:nvSpPr>
        <p:spPr bwMode="auto">
          <a:xfrm>
            <a:off x="739362" y="4078307"/>
            <a:ext cx="529689" cy="452901"/>
          </a:xfrm>
          <a:custGeom>
            <a:avLst/>
            <a:gdLst/>
            <a:ahLst/>
            <a:cxnLst>
              <a:cxn ang="0">
                <a:pos x="207" y="2051"/>
              </a:cxn>
              <a:cxn ang="0">
                <a:pos x="502" y="2433"/>
              </a:cxn>
              <a:cxn ang="0">
                <a:pos x="858" y="2991"/>
              </a:cxn>
              <a:cxn ang="0">
                <a:pos x="1017" y="3151"/>
              </a:cxn>
              <a:cxn ang="0">
                <a:pos x="1189" y="3228"/>
              </a:cxn>
              <a:cxn ang="0">
                <a:pos x="1367" y="3299"/>
              </a:cxn>
              <a:cxn ang="0">
                <a:pos x="1698" y="3417"/>
              </a:cxn>
              <a:cxn ang="0">
                <a:pos x="1841" y="3460"/>
              </a:cxn>
              <a:cxn ang="0">
                <a:pos x="1884" y="3348"/>
              </a:cxn>
              <a:cxn ang="0">
                <a:pos x="2042" y="3108"/>
              </a:cxn>
              <a:cxn ang="0">
                <a:pos x="2181" y="2716"/>
              </a:cxn>
              <a:cxn ang="0">
                <a:pos x="2374" y="2396"/>
              </a:cxn>
              <a:cxn ang="0">
                <a:pos x="2501" y="2216"/>
              </a:cxn>
              <a:cxn ang="0">
                <a:pos x="2634" y="2126"/>
              </a:cxn>
              <a:cxn ang="0">
                <a:pos x="2725" y="2021"/>
              </a:cxn>
              <a:cxn ang="0">
                <a:pos x="2985" y="1743"/>
              </a:cxn>
              <a:cxn ang="0">
                <a:pos x="3350" y="1385"/>
              </a:cxn>
              <a:cxn ang="0">
                <a:pos x="3764" y="1076"/>
              </a:cxn>
              <a:cxn ang="0">
                <a:pos x="3975" y="956"/>
              </a:cxn>
              <a:cxn ang="0">
                <a:pos x="4166" y="801"/>
              </a:cxn>
              <a:cxn ang="0">
                <a:pos x="4276" y="746"/>
              </a:cxn>
              <a:cxn ang="0">
                <a:pos x="4452" y="590"/>
              </a:cxn>
              <a:cxn ang="0">
                <a:pos x="4597" y="435"/>
              </a:cxn>
              <a:cxn ang="0">
                <a:pos x="4745" y="341"/>
              </a:cxn>
              <a:cxn ang="0">
                <a:pos x="4873" y="280"/>
              </a:cxn>
              <a:cxn ang="0">
                <a:pos x="4849" y="246"/>
              </a:cxn>
              <a:cxn ang="0">
                <a:pos x="4761" y="283"/>
              </a:cxn>
              <a:cxn ang="0">
                <a:pos x="4662" y="363"/>
              </a:cxn>
              <a:cxn ang="0">
                <a:pos x="4441" y="517"/>
              </a:cxn>
              <a:cxn ang="0">
                <a:pos x="4314" y="546"/>
              </a:cxn>
              <a:cxn ang="0">
                <a:pos x="3938" y="816"/>
              </a:cxn>
              <a:cxn ang="0">
                <a:pos x="4014" y="708"/>
              </a:cxn>
              <a:cxn ang="0">
                <a:pos x="4113" y="626"/>
              </a:cxn>
              <a:cxn ang="0">
                <a:pos x="4233" y="505"/>
              </a:cxn>
              <a:cxn ang="0">
                <a:pos x="4255" y="426"/>
              </a:cxn>
              <a:cxn ang="0">
                <a:pos x="4389" y="289"/>
              </a:cxn>
              <a:cxn ang="0">
                <a:pos x="4204" y="343"/>
              </a:cxn>
              <a:cxn ang="0">
                <a:pos x="4366" y="200"/>
              </a:cxn>
              <a:cxn ang="0">
                <a:pos x="4322" y="169"/>
              </a:cxn>
              <a:cxn ang="0">
                <a:pos x="4208" y="279"/>
              </a:cxn>
              <a:cxn ang="0">
                <a:pos x="4203" y="163"/>
              </a:cxn>
              <a:cxn ang="0">
                <a:pos x="4289" y="48"/>
              </a:cxn>
              <a:cxn ang="0">
                <a:pos x="4191" y="26"/>
              </a:cxn>
              <a:cxn ang="0">
                <a:pos x="4085" y="136"/>
              </a:cxn>
              <a:cxn ang="0">
                <a:pos x="3828" y="287"/>
              </a:cxn>
              <a:cxn ang="0">
                <a:pos x="3122" y="783"/>
              </a:cxn>
              <a:cxn ang="0">
                <a:pos x="3124" y="739"/>
              </a:cxn>
              <a:cxn ang="0">
                <a:pos x="3171" y="677"/>
              </a:cxn>
              <a:cxn ang="0">
                <a:pos x="3862" y="221"/>
              </a:cxn>
              <a:cxn ang="0">
                <a:pos x="3913" y="142"/>
              </a:cxn>
              <a:cxn ang="0">
                <a:pos x="3668" y="242"/>
              </a:cxn>
              <a:cxn ang="0">
                <a:pos x="3225" y="529"/>
              </a:cxn>
              <a:cxn ang="0">
                <a:pos x="2781" y="836"/>
              </a:cxn>
              <a:cxn ang="0">
                <a:pos x="2153" y="1280"/>
              </a:cxn>
              <a:cxn ang="0">
                <a:pos x="1865" y="1621"/>
              </a:cxn>
              <a:cxn ang="0">
                <a:pos x="1577" y="1928"/>
              </a:cxn>
              <a:cxn ang="0">
                <a:pos x="1301" y="2011"/>
              </a:cxn>
              <a:cxn ang="0">
                <a:pos x="1036" y="1486"/>
              </a:cxn>
              <a:cxn ang="0">
                <a:pos x="740" y="1512"/>
              </a:cxn>
              <a:cxn ang="0">
                <a:pos x="512" y="1607"/>
              </a:cxn>
              <a:cxn ang="0">
                <a:pos x="237" y="1696"/>
              </a:cxn>
            </a:cxnLst>
            <a:rect l="0" t="0" r="r" b="b"/>
            <a:pathLst>
              <a:path w="4933" h="3474">
                <a:moveTo>
                  <a:pt x="0" y="1838"/>
                </a:moveTo>
                <a:lnTo>
                  <a:pt x="12" y="1853"/>
                </a:lnTo>
                <a:lnTo>
                  <a:pt x="25" y="1869"/>
                </a:lnTo>
                <a:lnTo>
                  <a:pt x="38" y="1884"/>
                </a:lnTo>
                <a:lnTo>
                  <a:pt x="53" y="1900"/>
                </a:lnTo>
                <a:lnTo>
                  <a:pt x="68" y="1914"/>
                </a:lnTo>
                <a:lnTo>
                  <a:pt x="83" y="1931"/>
                </a:lnTo>
                <a:lnTo>
                  <a:pt x="100" y="1946"/>
                </a:lnTo>
                <a:lnTo>
                  <a:pt x="116" y="1960"/>
                </a:lnTo>
                <a:lnTo>
                  <a:pt x="132" y="1976"/>
                </a:lnTo>
                <a:lnTo>
                  <a:pt x="148" y="1990"/>
                </a:lnTo>
                <a:lnTo>
                  <a:pt x="162" y="2005"/>
                </a:lnTo>
                <a:lnTo>
                  <a:pt x="179" y="2021"/>
                </a:lnTo>
                <a:lnTo>
                  <a:pt x="193" y="2036"/>
                </a:lnTo>
                <a:lnTo>
                  <a:pt x="207" y="2051"/>
                </a:lnTo>
                <a:lnTo>
                  <a:pt x="220" y="2066"/>
                </a:lnTo>
                <a:lnTo>
                  <a:pt x="231" y="2082"/>
                </a:lnTo>
                <a:lnTo>
                  <a:pt x="245" y="2110"/>
                </a:lnTo>
                <a:lnTo>
                  <a:pt x="262" y="2133"/>
                </a:lnTo>
                <a:lnTo>
                  <a:pt x="282" y="2151"/>
                </a:lnTo>
                <a:lnTo>
                  <a:pt x="302" y="2168"/>
                </a:lnTo>
                <a:lnTo>
                  <a:pt x="323" y="2184"/>
                </a:lnTo>
                <a:lnTo>
                  <a:pt x="343" y="2202"/>
                </a:lnTo>
                <a:lnTo>
                  <a:pt x="361" y="2224"/>
                </a:lnTo>
                <a:lnTo>
                  <a:pt x="376" y="2251"/>
                </a:lnTo>
                <a:lnTo>
                  <a:pt x="392" y="2280"/>
                </a:lnTo>
                <a:lnTo>
                  <a:pt x="416" y="2314"/>
                </a:lnTo>
                <a:lnTo>
                  <a:pt x="443" y="2352"/>
                </a:lnTo>
                <a:lnTo>
                  <a:pt x="472" y="2393"/>
                </a:lnTo>
                <a:lnTo>
                  <a:pt x="502" y="2433"/>
                </a:lnTo>
                <a:lnTo>
                  <a:pt x="529" y="2470"/>
                </a:lnTo>
                <a:lnTo>
                  <a:pt x="552" y="2504"/>
                </a:lnTo>
                <a:lnTo>
                  <a:pt x="571" y="2532"/>
                </a:lnTo>
                <a:lnTo>
                  <a:pt x="582" y="2555"/>
                </a:lnTo>
                <a:lnTo>
                  <a:pt x="599" y="2583"/>
                </a:lnTo>
                <a:lnTo>
                  <a:pt x="618" y="2617"/>
                </a:lnTo>
                <a:lnTo>
                  <a:pt x="640" y="2652"/>
                </a:lnTo>
                <a:lnTo>
                  <a:pt x="665" y="2693"/>
                </a:lnTo>
                <a:lnTo>
                  <a:pt x="691" y="2734"/>
                </a:lnTo>
                <a:lnTo>
                  <a:pt x="720" y="2778"/>
                </a:lnTo>
                <a:lnTo>
                  <a:pt x="750" y="2822"/>
                </a:lnTo>
                <a:lnTo>
                  <a:pt x="777" y="2866"/>
                </a:lnTo>
                <a:lnTo>
                  <a:pt x="806" y="2910"/>
                </a:lnTo>
                <a:lnTo>
                  <a:pt x="833" y="2952"/>
                </a:lnTo>
                <a:lnTo>
                  <a:pt x="858" y="2991"/>
                </a:lnTo>
                <a:lnTo>
                  <a:pt x="881" y="3027"/>
                </a:lnTo>
                <a:lnTo>
                  <a:pt x="900" y="3059"/>
                </a:lnTo>
                <a:lnTo>
                  <a:pt x="917" y="3088"/>
                </a:lnTo>
                <a:lnTo>
                  <a:pt x="929" y="3110"/>
                </a:lnTo>
                <a:lnTo>
                  <a:pt x="940" y="3112"/>
                </a:lnTo>
                <a:lnTo>
                  <a:pt x="950" y="3113"/>
                </a:lnTo>
                <a:lnTo>
                  <a:pt x="960" y="3115"/>
                </a:lnTo>
                <a:lnTo>
                  <a:pt x="969" y="3117"/>
                </a:lnTo>
                <a:lnTo>
                  <a:pt x="980" y="3117"/>
                </a:lnTo>
                <a:lnTo>
                  <a:pt x="991" y="3120"/>
                </a:lnTo>
                <a:lnTo>
                  <a:pt x="1000" y="3121"/>
                </a:lnTo>
                <a:lnTo>
                  <a:pt x="1010" y="3123"/>
                </a:lnTo>
                <a:lnTo>
                  <a:pt x="1012" y="3133"/>
                </a:lnTo>
                <a:lnTo>
                  <a:pt x="1015" y="3142"/>
                </a:lnTo>
                <a:lnTo>
                  <a:pt x="1017" y="3151"/>
                </a:lnTo>
                <a:lnTo>
                  <a:pt x="1019" y="3162"/>
                </a:lnTo>
                <a:lnTo>
                  <a:pt x="1029" y="3162"/>
                </a:lnTo>
                <a:lnTo>
                  <a:pt x="1037" y="3164"/>
                </a:lnTo>
                <a:lnTo>
                  <a:pt x="1046" y="3165"/>
                </a:lnTo>
                <a:lnTo>
                  <a:pt x="1055" y="3166"/>
                </a:lnTo>
                <a:lnTo>
                  <a:pt x="1064" y="3169"/>
                </a:lnTo>
                <a:lnTo>
                  <a:pt x="1073" y="3170"/>
                </a:lnTo>
                <a:lnTo>
                  <a:pt x="1083" y="3171"/>
                </a:lnTo>
                <a:lnTo>
                  <a:pt x="1091" y="3172"/>
                </a:lnTo>
                <a:lnTo>
                  <a:pt x="1108" y="3182"/>
                </a:lnTo>
                <a:lnTo>
                  <a:pt x="1125" y="3193"/>
                </a:lnTo>
                <a:lnTo>
                  <a:pt x="1141" y="3201"/>
                </a:lnTo>
                <a:lnTo>
                  <a:pt x="1156" y="3210"/>
                </a:lnTo>
                <a:lnTo>
                  <a:pt x="1172" y="3220"/>
                </a:lnTo>
                <a:lnTo>
                  <a:pt x="1189" y="3228"/>
                </a:lnTo>
                <a:lnTo>
                  <a:pt x="1206" y="3237"/>
                </a:lnTo>
                <a:lnTo>
                  <a:pt x="1222" y="3245"/>
                </a:lnTo>
                <a:lnTo>
                  <a:pt x="1233" y="3246"/>
                </a:lnTo>
                <a:lnTo>
                  <a:pt x="1244" y="3248"/>
                </a:lnTo>
                <a:lnTo>
                  <a:pt x="1255" y="3250"/>
                </a:lnTo>
                <a:lnTo>
                  <a:pt x="1267" y="3251"/>
                </a:lnTo>
                <a:lnTo>
                  <a:pt x="1278" y="3251"/>
                </a:lnTo>
                <a:lnTo>
                  <a:pt x="1289" y="3252"/>
                </a:lnTo>
                <a:lnTo>
                  <a:pt x="1302" y="3253"/>
                </a:lnTo>
                <a:lnTo>
                  <a:pt x="1313" y="3253"/>
                </a:lnTo>
                <a:lnTo>
                  <a:pt x="1321" y="3264"/>
                </a:lnTo>
                <a:lnTo>
                  <a:pt x="1330" y="3276"/>
                </a:lnTo>
                <a:lnTo>
                  <a:pt x="1340" y="3288"/>
                </a:lnTo>
                <a:lnTo>
                  <a:pt x="1348" y="3297"/>
                </a:lnTo>
                <a:lnTo>
                  <a:pt x="1367" y="3299"/>
                </a:lnTo>
                <a:lnTo>
                  <a:pt x="1388" y="3301"/>
                </a:lnTo>
                <a:lnTo>
                  <a:pt x="1407" y="3303"/>
                </a:lnTo>
                <a:lnTo>
                  <a:pt x="1427" y="3303"/>
                </a:lnTo>
                <a:lnTo>
                  <a:pt x="1448" y="3305"/>
                </a:lnTo>
                <a:lnTo>
                  <a:pt x="1467" y="3305"/>
                </a:lnTo>
                <a:lnTo>
                  <a:pt x="1487" y="3307"/>
                </a:lnTo>
                <a:lnTo>
                  <a:pt x="1507" y="3308"/>
                </a:lnTo>
                <a:lnTo>
                  <a:pt x="1531" y="3321"/>
                </a:lnTo>
                <a:lnTo>
                  <a:pt x="1552" y="3334"/>
                </a:lnTo>
                <a:lnTo>
                  <a:pt x="1577" y="3348"/>
                </a:lnTo>
                <a:lnTo>
                  <a:pt x="1600" y="3361"/>
                </a:lnTo>
                <a:lnTo>
                  <a:pt x="1625" y="3377"/>
                </a:lnTo>
                <a:lnTo>
                  <a:pt x="1649" y="3390"/>
                </a:lnTo>
                <a:lnTo>
                  <a:pt x="1673" y="3404"/>
                </a:lnTo>
                <a:lnTo>
                  <a:pt x="1698" y="3417"/>
                </a:lnTo>
                <a:lnTo>
                  <a:pt x="1707" y="3417"/>
                </a:lnTo>
                <a:lnTo>
                  <a:pt x="1717" y="3417"/>
                </a:lnTo>
                <a:lnTo>
                  <a:pt x="1727" y="3417"/>
                </a:lnTo>
                <a:lnTo>
                  <a:pt x="1738" y="3417"/>
                </a:lnTo>
                <a:lnTo>
                  <a:pt x="1748" y="3417"/>
                </a:lnTo>
                <a:lnTo>
                  <a:pt x="1757" y="3417"/>
                </a:lnTo>
                <a:lnTo>
                  <a:pt x="1768" y="3417"/>
                </a:lnTo>
                <a:lnTo>
                  <a:pt x="1778" y="3417"/>
                </a:lnTo>
                <a:lnTo>
                  <a:pt x="1786" y="3426"/>
                </a:lnTo>
                <a:lnTo>
                  <a:pt x="1796" y="3432"/>
                </a:lnTo>
                <a:lnTo>
                  <a:pt x="1806" y="3438"/>
                </a:lnTo>
                <a:lnTo>
                  <a:pt x="1815" y="3444"/>
                </a:lnTo>
                <a:lnTo>
                  <a:pt x="1823" y="3450"/>
                </a:lnTo>
                <a:lnTo>
                  <a:pt x="1832" y="3454"/>
                </a:lnTo>
                <a:lnTo>
                  <a:pt x="1841" y="3460"/>
                </a:lnTo>
                <a:lnTo>
                  <a:pt x="1850" y="3465"/>
                </a:lnTo>
                <a:lnTo>
                  <a:pt x="1877" y="3472"/>
                </a:lnTo>
                <a:lnTo>
                  <a:pt x="1896" y="3474"/>
                </a:lnTo>
                <a:lnTo>
                  <a:pt x="1907" y="3471"/>
                </a:lnTo>
                <a:lnTo>
                  <a:pt x="1911" y="3464"/>
                </a:lnTo>
                <a:lnTo>
                  <a:pt x="1911" y="3454"/>
                </a:lnTo>
                <a:lnTo>
                  <a:pt x="1905" y="3441"/>
                </a:lnTo>
                <a:lnTo>
                  <a:pt x="1898" y="3427"/>
                </a:lnTo>
                <a:lnTo>
                  <a:pt x="1890" y="3412"/>
                </a:lnTo>
                <a:lnTo>
                  <a:pt x="1883" y="3397"/>
                </a:lnTo>
                <a:lnTo>
                  <a:pt x="1874" y="3382"/>
                </a:lnTo>
                <a:lnTo>
                  <a:pt x="1870" y="3370"/>
                </a:lnTo>
                <a:lnTo>
                  <a:pt x="1869" y="3358"/>
                </a:lnTo>
                <a:lnTo>
                  <a:pt x="1873" y="3352"/>
                </a:lnTo>
                <a:lnTo>
                  <a:pt x="1884" y="3348"/>
                </a:lnTo>
                <a:lnTo>
                  <a:pt x="1902" y="3350"/>
                </a:lnTo>
                <a:lnTo>
                  <a:pt x="1929" y="3357"/>
                </a:lnTo>
                <a:lnTo>
                  <a:pt x="1942" y="3334"/>
                </a:lnTo>
                <a:lnTo>
                  <a:pt x="1953" y="3314"/>
                </a:lnTo>
                <a:lnTo>
                  <a:pt x="1964" y="3295"/>
                </a:lnTo>
                <a:lnTo>
                  <a:pt x="1972" y="3275"/>
                </a:lnTo>
                <a:lnTo>
                  <a:pt x="1982" y="3257"/>
                </a:lnTo>
                <a:lnTo>
                  <a:pt x="1991" y="3235"/>
                </a:lnTo>
                <a:lnTo>
                  <a:pt x="2002" y="3214"/>
                </a:lnTo>
                <a:lnTo>
                  <a:pt x="2014" y="3191"/>
                </a:lnTo>
                <a:lnTo>
                  <a:pt x="2015" y="3177"/>
                </a:lnTo>
                <a:lnTo>
                  <a:pt x="2020" y="3162"/>
                </a:lnTo>
                <a:lnTo>
                  <a:pt x="2026" y="3145"/>
                </a:lnTo>
                <a:lnTo>
                  <a:pt x="2033" y="3126"/>
                </a:lnTo>
                <a:lnTo>
                  <a:pt x="2042" y="3108"/>
                </a:lnTo>
                <a:lnTo>
                  <a:pt x="2048" y="3090"/>
                </a:lnTo>
                <a:lnTo>
                  <a:pt x="2052" y="3075"/>
                </a:lnTo>
                <a:lnTo>
                  <a:pt x="2053" y="3061"/>
                </a:lnTo>
                <a:lnTo>
                  <a:pt x="2066" y="3042"/>
                </a:lnTo>
                <a:lnTo>
                  <a:pt x="2079" y="3021"/>
                </a:lnTo>
                <a:lnTo>
                  <a:pt x="2092" y="3002"/>
                </a:lnTo>
                <a:lnTo>
                  <a:pt x="2103" y="2983"/>
                </a:lnTo>
                <a:lnTo>
                  <a:pt x="2114" y="2964"/>
                </a:lnTo>
                <a:lnTo>
                  <a:pt x="2126" y="2945"/>
                </a:lnTo>
                <a:lnTo>
                  <a:pt x="2137" y="2927"/>
                </a:lnTo>
                <a:lnTo>
                  <a:pt x="2149" y="2907"/>
                </a:lnTo>
                <a:lnTo>
                  <a:pt x="2156" y="2853"/>
                </a:lnTo>
                <a:lnTo>
                  <a:pt x="2167" y="2811"/>
                </a:lnTo>
                <a:lnTo>
                  <a:pt x="2178" y="2769"/>
                </a:lnTo>
                <a:lnTo>
                  <a:pt x="2181" y="2716"/>
                </a:lnTo>
                <a:lnTo>
                  <a:pt x="2195" y="2707"/>
                </a:lnTo>
                <a:lnTo>
                  <a:pt x="2209" y="2695"/>
                </a:lnTo>
                <a:lnTo>
                  <a:pt x="2224" y="2682"/>
                </a:lnTo>
                <a:lnTo>
                  <a:pt x="2240" y="2669"/>
                </a:lnTo>
                <a:lnTo>
                  <a:pt x="2255" y="2656"/>
                </a:lnTo>
                <a:lnTo>
                  <a:pt x="2270" y="2642"/>
                </a:lnTo>
                <a:lnTo>
                  <a:pt x="2284" y="2631"/>
                </a:lnTo>
                <a:lnTo>
                  <a:pt x="2297" y="2621"/>
                </a:lnTo>
                <a:lnTo>
                  <a:pt x="2306" y="2569"/>
                </a:lnTo>
                <a:lnTo>
                  <a:pt x="2312" y="2527"/>
                </a:lnTo>
                <a:lnTo>
                  <a:pt x="2317" y="2486"/>
                </a:lnTo>
                <a:lnTo>
                  <a:pt x="2328" y="2431"/>
                </a:lnTo>
                <a:lnTo>
                  <a:pt x="2338" y="2421"/>
                </a:lnTo>
                <a:lnTo>
                  <a:pt x="2355" y="2409"/>
                </a:lnTo>
                <a:lnTo>
                  <a:pt x="2374" y="2396"/>
                </a:lnTo>
                <a:lnTo>
                  <a:pt x="2397" y="2381"/>
                </a:lnTo>
                <a:lnTo>
                  <a:pt x="2420" y="2366"/>
                </a:lnTo>
                <a:lnTo>
                  <a:pt x="2440" y="2352"/>
                </a:lnTo>
                <a:lnTo>
                  <a:pt x="2456" y="2342"/>
                </a:lnTo>
                <a:lnTo>
                  <a:pt x="2465" y="2332"/>
                </a:lnTo>
                <a:lnTo>
                  <a:pt x="2463" y="2317"/>
                </a:lnTo>
                <a:lnTo>
                  <a:pt x="2463" y="2304"/>
                </a:lnTo>
                <a:lnTo>
                  <a:pt x="2468" y="2291"/>
                </a:lnTo>
                <a:lnTo>
                  <a:pt x="2471" y="2278"/>
                </a:lnTo>
                <a:lnTo>
                  <a:pt x="2476" y="2264"/>
                </a:lnTo>
                <a:lnTo>
                  <a:pt x="2479" y="2251"/>
                </a:lnTo>
                <a:lnTo>
                  <a:pt x="2481" y="2235"/>
                </a:lnTo>
                <a:lnTo>
                  <a:pt x="2479" y="2222"/>
                </a:lnTo>
                <a:lnTo>
                  <a:pt x="2490" y="2220"/>
                </a:lnTo>
                <a:lnTo>
                  <a:pt x="2501" y="2216"/>
                </a:lnTo>
                <a:lnTo>
                  <a:pt x="2513" y="2213"/>
                </a:lnTo>
                <a:lnTo>
                  <a:pt x="2525" y="2208"/>
                </a:lnTo>
                <a:lnTo>
                  <a:pt x="2536" y="2204"/>
                </a:lnTo>
                <a:lnTo>
                  <a:pt x="2547" y="2201"/>
                </a:lnTo>
                <a:lnTo>
                  <a:pt x="2558" y="2196"/>
                </a:lnTo>
                <a:lnTo>
                  <a:pt x="2569" y="2193"/>
                </a:lnTo>
                <a:lnTo>
                  <a:pt x="2574" y="2172"/>
                </a:lnTo>
                <a:lnTo>
                  <a:pt x="2581" y="2153"/>
                </a:lnTo>
                <a:lnTo>
                  <a:pt x="2589" y="2133"/>
                </a:lnTo>
                <a:lnTo>
                  <a:pt x="2598" y="2111"/>
                </a:lnTo>
                <a:lnTo>
                  <a:pt x="2606" y="2115"/>
                </a:lnTo>
                <a:lnTo>
                  <a:pt x="2612" y="2117"/>
                </a:lnTo>
                <a:lnTo>
                  <a:pt x="2619" y="2120"/>
                </a:lnTo>
                <a:lnTo>
                  <a:pt x="2627" y="2123"/>
                </a:lnTo>
                <a:lnTo>
                  <a:pt x="2634" y="2126"/>
                </a:lnTo>
                <a:lnTo>
                  <a:pt x="2643" y="2128"/>
                </a:lnTo>
                <a:lnTo>
                  <a:pt x="2651" y="2131"/>
                </a:lnTo>
                <a:lnTo>
                  <a:pt x="2659" y="2133"/>
                </a:lnTo>
                <a:lnTo>
                  <a:pt x="2667" y="2115"/>
                </a:lnTo>
                <a:lnTo>
                  <a:pt x="2673" y="2098"/>
                </a:lnTo>
                <a:lnTo>
                  <a:pt x="2677" y="2080"/>
                </a:lnTo>
                <a:lnTo>
                  <a:pt x="2682" y="2064"/>
                </a:lnTo>
                <a:lnTo>
                  <a:pt x="2687" y="2058"/>
                </a:lnTo>
                <a:lnTo>
                  <a:pt x="2692" y="2053"/>
                </a:lnTo>
                <a:lnTo>
                  <a:pt x="2698" y="2049"/>
                </a:lnTo>
                <a:lnTo>
                  <a:pt x="2704" y="2042"/>
                </a:lnTo>
                <a:lnTo>
                  <a:pt x="2710" y="2038"/>
                </a:lnTo>
                <a:lnTo>
                  <a:pt x="2715" y="2032"/>
                </a:lnTo>
                <a:lnTo>
                  <a:pt x="2721" y="2026"/>
                </a:lnTo>
                <a:lnTo>
                  <a:pt x="2725" y="2021"/>
                </a:lnTo>
                <a:lnTo>
                  <a:pt x="2735" y="2005"/>
                </a:lnTo>
                <a:lnTo>
                  <a:pt x="2746" y="1989"/>
                </a:lnTo>
                <a:lnTo>
                  <a:pt x="2757" y="1972"/>
                </a:lnTo>
                <a:lnTo>
                  <a:pt x="2769" y="1957"/>
                </a:lnTo>
                <a:lnTo>
                  <a:pt x="2781" y="1940"/>
                </a:lnTo>
                <a:lnTo>
                  <a:pt x="2793" y="1925"/>
                </a:lnTo>
                <a:lnTo>
                  <a:pt x="2807" y="1907"/>
                </a:lnTo>
                <a:lnTo>
                  <a:pt x="2821" y="1891"/>
                </a:lnTo>
                <a:lnTo>
                  <a:pt x="2844" y="1871"/>
                </a:lnTo>
                <a:lnTo>
                  <a:pt x="2869" y="1850"/>
                </a:lnTo>
                <a:lnTo>
                  <a:pt x="2892" y="1829"/>
                </a:lnTo>
                <a:lnTo>
                  <a:pt x="2916" y="1809"/>
                </a:lnTo>
                <a:lnTo>
                  <a:pt x="2940" y="1787"/>
                </a:lnTo>
                <a:lnTo>
                  <a:pt x="2963" y="1765"/>
                </a:lnTo>
                <a:lnTo>
                  <a:pt x="2985" y="1743"/>
                </a:lnTo>
                <a:lnTo>
                  <a:pt x="3008" y="1721"/>
                </a:lnTo>
                <a:lnTo>
                  <a:pt x="3030" y="1698"/>
                </a:lnTo>
                <a:lnTo>
                  <a:pt x="3054" y="1676"/>
                </a:lnTo>
                <a:lnTo>
                  <a:pt x="3077" y="1653"/>
                </a:lnTo>
                <a:lnTo>
                  <a:pt x="3100" y="1629"/>
                </a:lnTo>
                <a:lnTo>
                  <a:pt x="3122" y="1605"/>
                </a:lnTo>
                <a:lnTo>
                  <a:pt x="3146" y="1581"/>
                </a:lnTo>
                <a:lnTo>
                  <a:pt x="3171" y="1558"/>
                </a:lnTo>
                <a:lnTo>
                  <a:pt x="3194" y="1534"/>
                </a:lnTo>
                <a:lnTo>
                  <a:pt x="3219" y="1508"/>
                </a:lnTo>
                <a:lnTo>
                  <a:pt x="3244" y="1485"/>
                </a:lnTo>
                <a:lnTo>
                  <a:pt x="3270" y="1460"/>
                </a:lnTo>
                <a:lnTo>
                  <a:pt x="3296" y="1435"/>
                </a:lnTo>
                <a:lnTo>
                  <a:pt x="3322" y="1409"/>
                </a:lnTo>
                <a:lnTo>
                  <a:pt x="3350" y="1385"/>
                </a:lnTo>
                <a:lnTo>
                  <a:pt x="3380" y="1360"/>
                </a:lnTo>
                <a:lnTo>
                  <a:pt x="3409" y="1335"/>
                </a:lnTo>
                <a:lnTo>
                  <a:pt x="3439" y="1309"/>
                </a:lnTo>
                <a:lnTo>
                  <a:pt x="3470" y="1283"/>
                </a:lnTo>
                <a:lnTo>
                  <a:pt x="3501" y="1258"/>
                </a:lnTo>
                <a:lnTo>
                  <a:pt x="3535" y="1231"/>
                </a:lnTo>
                <a:lnTo>
                  <a:pt x="3569" y="1208"/>
                </a:lnTo>
                <a:lnTo>
                  <a:pt x="3604" y="1181"/>
                </a:lnTo>
                <a:lnTo>
                  <a:pt x="3641" y="1156"/>
                </a:lnTo>
                <a:lnTo>
                  <a:pt x="3679" y="1130"/>
                </a:lnTo>
                <a:lnTo>
                  <a:pt x="3695" y="1119"/>
                </a:lnTo>
                <a:lnTo>
                  <a:pt x="3712" y="1107"/>
                </a:lnTo>
                <a:lnTo>
                  <a:pt x="3730" y="1097"/>
                </a:lnTo>
                <a:lnTo>
                  <a:pt x="3746" y="1085"/>
                </a:lnTo>
                <a:lnTo>
                  <a:pt x="3764" y="1076"/>
                </a:lnTo>
                <a:lnTo>
                  <a:pt x="3781" y="1065"/>
                </a:lnTo>
                <a:lnTo>
                  <a:pt x="3799" y="1054"/>
                </a:lnTo>
                <a:lnTo>
                  <a:pt x="3818" y="1045"/>
                </a:lnTo>
                <a:lnTo>
                  <a:pt x="3827" y="1039"/>
                </a:lnTo>
                <a:lnTo>
                  <a:pt x="3839" y="1035"/>
                </a:lnTo>
                <a:lnTo>
                  <a:pt x="3849" y="1030"/>
                </a:lnTo>
                <a:lnTo>
                  <a:pt x="3859" y="1025"/>
                </a:lnTo>
                <a:lnTo>
                  <a:pt x="3869" y="1019"/>
                </a:lnTo>
                <a:lnTo>
                  <a:pt x="3880" y="1015"/>
                </a:lnTo>
                <a:lnTo>
                  <a:pt x="3890" y="1008"/>
                </a:lnTo>
                <a:lnTo>
                  <a:pt x="3901" y="1003"/>
                </a:lnTo>
                <a:lnTo>
                  <a:pt x="3920" y="991"/>
                </a:lnTo>
                <a:lnTo>
                  <a:pt x="3938" y="980"/>
                </a:lnTo>
                <a:lnTo>
                  <a:pt x="3957" y="970"/>
                </a:lnTo>
                <a:lnTo>
                  <a:pt x="3975" y="956"/>
                </a:lnTo>
                <a:lnTo>
                  <a:pt x="3994" y="946"/>
                </a:lnTo>
                <a:lnTo>
                  <a:pt x="4012" y="932"/>
                </a:lnTo>
                <a:lnTo>
                  <a:pt x="4031" y="922"/>
                </a:lnTo>
                <a:lnTo>
                  <a:pt x="4049" y="910"/>
                </a:lnTo>
                <a:lnTo>
                  <a:pt x="4061" y="901"/>
                </a:lnTo>
                <a:lnTo>
                  <a:pt x="4074" y="891"/>
                </a:lnTo>
                <a:lnTo>
                  <a:pt x="4085" y="882"/>
                </a:lnTo>
                <a:lnTo>
                  <a:pt x="4099" y="872"/>
                </a:lnTo>
                <a:lnTo>
                  <a:pt x="4112" y="863"/>
                </a:lnTo>
                <a:lnTo>
                  <a:pt x="4125" y="854"/>
                </a:lnTo>
                <a:lnTo>
                  <a:pt x="4137" y="845"/>
                </a:lnTo>
                <a:lnTo>
                  <a:pt x="4151" y="835"/>
                </a:lnTo>
                <a:lnTo>
                  <a:pt x="4156" y="823"/>
                </a:lnTo>
                <a:lnTo>
                  <a:pt x="4161" y="811"/>
                </a:lnTo>
                <a:lnTo>
                  <a:pt x="4166" y="801"/>
                </a:lnTo>
                <a:lnTo>
                  <a:pt x="4170" y="792"/>
                </a:lnTo>
                <a:lnTo>
                  <a:pt x="4179" y="783"/>
                </a:lnTo>
                <a:lnTo>
                  <a:pt x="4187" y="778"/>
                </a:lnTo>
                <a:lnTo>
                  <a:pt x="4195" y="770"/>
                </a:lnTo>
                <a:lnTo>
                  <a:pt x="4204" y="764"/>
                </a:lnTo>
                <a:lnTo>
                  <a:pt x="4212" y="756"/>
                </a:lnTo>
                <a:lnTo>
                  <a:pt x="4221" y="750"/>
                </a:lnTo>
                <a:lnTo>
                  <a:pt x="4230" y="743"/>
                </a:lnTo>
                <a:lnTo>
                  <a:pt x="4239" y="737"/>
                </a:lnTo>
                <a:lnTo>
                  <a:pt x="4242" y="743"/>
                </a:lnTo>
                <a:lnTo>
                  <a:pt x="4245" y="749"/>
                </a:lnTo>
                <a:lnTo>
                  <a:pt x="4248" y="755"/>
                </a:lnTo>
                <a:lnTo>
                  <a:pt x="4250" y="762"/>
                </a:lnTo>
                <a:lnTo>
                  <a:pt x="4264" y="752"/>
                </a:lnTo>
                <a:lnTo>
                  <a:pt x="4276" y="746"/>
                </a:lnTo>
                <a:lnTo>
                  <a:pt x="4290" y="737"/>
                </a:lnTo>
                <a:lnTo>
                  <a:pt x="4304" y="728"/>
                </a:lnTo>
                <a:lnTo>
                  <a:pt x="4317" y="721"/>
                </a:lnTo>
                <a:lnTo>
                  <a:pt x="4331" y="712"/>
                </a:lnTo>
                <a:lnTo>
                  <a:pt x="4345" y="705"/>
                </a:lnTo>
                <a:lnTo>
                  <a:pt x="4356" y="697"/>
                </a:lnTo>
                <a:lnTo>
                  <a:pt x="4366" y="683"/>
                </a:lnTo>
                <a:lnTo>
                  <a:pt x="4375" y="665"/>
                </a:lnTo>
                <a:lnTo>
                  <a:pt x="4385" y="649"/>
                </a:lnTo>
                <a:lnTo>
                  <a:pt x="4393" y="634"/>
                </a:lnTo>
                <a:lnTo>
                  <a:pt x="4404" y="624"/>
                </a:lnTo>
                <a:lnTo>
                  <a:pt x="4416" y="615"/>
                </a:lnTo>
                <a:lnTo>
                  <a:pt x="4429" y="606"/>
                </a:lnTo>
                <a:lnTo>
                  <a:pt x="4441" y="598"/>
                </a:lnTo>
                <a:lnTo>
                  <a:pt x="4452" y="590"/>
                </a:lnTo>
                <a:lnTo>
                  <a:pt x="4465" y="580"/>
                </a:lnTo>
                <a:lnTo>
                  <a:pt x="4475" y="570"/>
                </a:lnTo>
                <a:lnTo>
                  <a:pt x="4485" y="562"/>
                </a:lnTo>
                <a:lnTo>
                  <a:pt x="4490" y="547"/>
                </a:lnTo>
                <a:lnTo>
                  <a:pt x="4494" y="532"/>
                </a:lnTo>
                <a:lnTo>
                  <a:pt x="4499" y="517"/>
                </a:lnTo>
                <a:lnTo>
                  <a:pt x="4506" y="501"/>
                </a:lnTo>
                <a:lnTo>
                  <a:pt x="4516" y="492"/>
                </a:lnTo>
                <a:lnTo>
                  <a:pt x="4529" y="484"/>
                </a:lnTo>
                <a:lnTo>
                  <a:pt x="4541" y="477"/>
                </a:lnTo>
                <a:lnTo>
                  <a:pt x="4553" y="468"/>
                </a:lnTo>
                <a:lnTo>
                  <a:pt x="4564" y="459"/>
                </a:lnTo>
                <a:lnTo>
                  <a:pt x="4577" y="450"/>
                </a:lnTo>
                <a:lnTo>
                  <a:pt x="4587" y="443"/>
                </a:lnTo>
                <a:lnTo>
                  <a:pt x="4597" y="435"/>
                </a:lnTo>
                <a:lnTo>
                  <a:pt x="4611" y="430"/>
                </a:lnTo>
                <a:lnTo>
                  <a:pt x="4625" y="426"/>
                </a:lnTo>
                <a:lnTo>
                  <a:pt x="4638" y="422"/>
                </a:lnTo>
                <a:lnTo>
                  <a:pt x="4650" y="418"/>
                </a:lnTo>
                <a:lnTo>
                  <a:pt x="4664" y="413"/>
                </a:lnTo>
                <a:lnTo>
                  <a:pt x="4676" y="410"/>
                </a:lnTo>
                <a:lnTo>
                  <a:pt x="4688" y="405"/>
                </a:lnTo>
                <a:lnTo>
                  <a:pt x="4702" y="401"/>
                </a:lnTo>
                <a:lnTo>
                  <a:pt x="4708" y="393"/>
                </a:lnTo>
                <a:lnTo>
                  <a:pt x="4714" y="384"/>
                </a:lnTo>
                <a:lnTo>
                  <a:pt x="4720" y="377"/>
                </a:lnTo>
                <a:lnTo>
                  <a:pt x="4726" y="367"/>
                </a:lnTo>
                <a:lnTo>
                  <a:pt x="4733" y="359"/>
                </a:lnTo>
                <a:lnTo>
                  <a:pt x="4739" y="350"/>
                </a:lnTo>
                <a:lnTo>
                  <a:pt x="4745" y="341"/>
                </a:lnTo>
                <a:lnTo>
                  <a:pt x="4751" y="332"/>
                </a:lnTo>
                <a:lnTo>
                  <a:pt x="4761" y="326"/>
                </a:lnTo>
                <a:lnTo>
                  <a:pt x="4772" y="319"/>
                </a:lnTo>
                <a:lnTo>
                  <a:pt x="4781" y="312"/>
                </a:lnTo>
                <a:lnTo>
                  <a:pt x="4790" y="305"/>
                </a:lnTo>
                <a:lnTo>
                  <a:pt x="4800" y="298"/>
                </a:lnTo>
                <a:lnTo>
                  <a:pt x="4810" y="291"/>
                </a:lnTo>
                <a:lnTo>
                  <a:pt x="4819" y="283"/>
                </a:lnTo>
                <a:lnTo>
                  <a:pt x="4827" y="275"/>
                </a:lnTo>
                <a:lnTo>
                  <a:pt x="4833" y="280"/>
                </a:lnTo>
                <a:lnTo>
                  <a:pt x="4840" y="285"/>
                </a:lnTo>
                <a:lnTo>
                  <a:pt x="4848" y="292"/>
                </a:lnTo>
                <a:lnTo>
                  <a:pt x="4852" y="297"/>
                </a:lnTo>
                <a:lnTo>
                  <a:pt x="4862" y="289"/>
                </a:lnTo>
                <a:lnTo>
                  <a:pt x="4873" y="280"/>
                </a:lnTo>
                <a:lnTo>
                  <a:pt x="4882" y="272"/>
                </a:lnTo>
                <a:lnTo>
                  <a:pt x="4893" y="264"/>
                </a:lnTo>
                <a:lnTo>
                  <a:pt x="4902" y="253"/>
                </a:lnTo>
                <a:lnTo>
                  <a:pt x="4912" y="244"/>
                </a:lnTo>
                <a:lnTo>
                  <a:pt x="4923" y="236"/>
                </a:lnTo>
                <a:lnTo>
                  <a:pt x="4933" y="228"/>
                </a:lnTo>
                <a:lnTo>
                  <a:pt x="4921" y="233"/>
                </a:lnTo>
                <a:lnTo>
                  <a:pt x="4910" y="239"/>
                </a:lnTo>
                <a:lnTo>
                  <a:pt x="4898" y="246"/>
                </a:lnTo>
                <a:lnTo>
                  <a:pt x="4884" y="250"/>
                </a:lnTo>
                <a:lnTo>
                  <a:pt x="4873" y="257"/>
                </a:lnTo>
                <a:lnTo>
                  <a:pt x="4862" y="262"/>
                </a:lnTo>
                <a:lnTo>
                  <a:pt x="4850" y="267"/>
                </a:lnTo>
                <a:lnTo>
                  <a:pt x="4838" y="272"/>
                </a:lnTo>
                <a:lnTo>
                  <a:pt x="4849" y="246"/>
                </a:lnTo>
                <a:lnTo>
                  <a:pt x="4858" y="223"/>
                </a:lnTo>
                <a:lnTo>
                  <a:pt x="4864" y="199"/>
                </a:lnTo>
                <a:lnTo>
                  <a:pt x="4869" y="175"/>
                </a:lnTo>
                <a:lnTo>
                  <a:pt x="4861" y="182"/>
                </a:lnTo>
                <a:lnTo>
                  <a:pt x="4852" y="191"/>
                </a:lnTo>
                <a:lnTo>
                  <a:pt x="4842" y="200"/>
                </a:lnTo>
                <a:lnTo>
                  <a:pt x="4832" y="208"/>
                </a:lnTo>
                <a:lnTo>
                  <a:pt x="4823" y="216"/>
                </a:lnTo>
                <a:lnTo>
                  <a:pt x="4813" y="224"/>
                </a:lnTo>
                <a:lnTo>
                  <a:pt x="4801" y="233"/>
                </a:lnTo>
                <a:lnTo>
                  <a:pt x="4792" y="242"/>
                </a:lnTo>
                <a:lnTo>
                  <a:pt x="4785" y="252"/>
                </a:lnTo>
                <a:lnTo>
                  <a:pt x="4776" y="262"/>
                </a:lnTo>
                <a:lnTo>
                  <a:pt x="4768" y="272"/>
                </a:lnTo>
                <a:lnTo>
                  <a:pt x="4761" y="283"/>
                </a:lnTo>
                <a:lnTo>
                  <a:pt x="4754" y="295"/>
                </a:lnTo>
                <a:lnTo>
                  <a:pt x="4746" y="305"/>
                </a:lnTo>
                <a:lnTo>
                  <a:pt x="4739" y="317"/>
                </a:lnTo>
                <a:lnTo>
                  <a:pt x="4732" y="328"/>
                </a:lnTo>
                <a:lnTo>
                  <a:pt x="4724" y="332"/>
                </a:lnTo>
                <a:lnTo>
                  <a:pt x="4717" y="337"/>
                </a:lnTo>
                <a:lnTo>
                  <a:pt x="4710" y="343"/>
                </a:lnTo>
                <a:lnTo>
                  <a:pt x="4704" y="349"/>
                </a:lnTo>
                <a:lnTo>
                  <a:pt x="4696" y="354"/>
                </a:lnTo>
                <a:lnTo>
                  <a:pt x="4689" y="359"/>
                </a:lnTo>
                <a:lnTo>
                  <a:pt x="4683" y="363"/>
                </a:lnTo>
                <a:lnTo>
                  <a:pt x="4676" y="368"/>
                </a:lnTo>
                <a:lnTo>
                  <a:pt x="4671" y="367"/>
                </a:lnTo>
                <a:lnTo>
                  <a:pt x="4666" y="366"/>
                </a:lnTo>
                <a:lnTo>
                  <a:pt x="4662" y="363"/>
                </a:lnTo>
                <a:lnTo>
                  <a:pt x="4658" y="362"/>
                </a:lnTo>
                <a:lnTo>
                  <a:pt x="4653" y="361"/>
                </a:lnTo>
                <a:lnTo>
                  <a:pt x="4648" y="359"/>
                </a:lnTo>
                <a:lnTo>
                  <a:pt x="4642" y="357"/>
                </a:lnTo>
                <a:lnTo>
                  <a:pt x="4638" y="357"/>
                </a:lnTo>
                <a:lnTo>
                  <a:pt x="4616" y="374"/>
                </a:lnTo>
                <a:lnTo>
                  <a:pt x="4595" y="393"/>
                </a:lnTo>
                <a:lnTo>
                  <a:pt x="4573" y="412"/>
                </a:lnTo>
                <a:lnTo>
                  <a:pt x="4552" y="430"/>
                </a:lnTo>
                <a:lnTo>
                  <a:pt x="4529" y="449"/>
                </a:lnTo>
                <a:lnTo>
                  <a:pt x="4506" y="468"/>
                </a:lnTo>
                <a:lnTo>
                  <a:pt x="4484" y="487"/>
                </a:lnTo>
                <a:lnTo>
                  <a:pt x="4461" y="506"/>
                </a:lnTo>
                <a:lnTo>
                  <a:pt x="4450" y="511"/>
                </a:lnTo>
                <a:lnTo>
                  <a:pt x="4441" y="517"/>
                </a:lnTo>
                <a:lnTo>
                  <a:pt x="4431" y="521"/>
                </a:lnTo>
                <a:lnTo>
                  <a:pt x="4422" y="528"/>
                </a:lnTo>
                <a:lnTo>
                  <a:pt x="4411" y="532"/>
                </a:lnTo>
                <a:lnTo>
                  <a:pt x="4403" y="537"/>
                </a:lnTo>
                <a:lnTo>
                  <a:pt x="4393" y="543"/>
                </a:lnTo>
                <a:lnTo>
                  <a:pt x="4385" y="548"/>
                </a:lnTo>
                <a:lnTo>
                  <a:pt x="4378" y="546"/>
                </a:lnTo>
                <a:lnTo>
                  <a:pt x="4372" y="543"/>
                </a:lnTo>
                <a:lnTo>
                  <a:pt x="4366" y="541"/>
                </a:lnTo>
                <a:lnTo>
                  <a:pt x="4362" y="537"/>
                </a:lnTo>
                <a:lnTo>
                  <a:pt x="4355" y="535"/>
                </a:lnTo>
                <a:lnTo>
                  <a:pt x="4351" y="532"/>
                </a:lnTo>
                <a:lnTo>
                  <a:pt x="4345" y="530"/>
                </a:lnTo>
                <a:lnTo>
                  <a:pt x="4339" y="528"/>
                </a:lnTo>
                <a:lnTo>
                  <a:pt x="4314" y="546"/>
                </a:lnTo>
                <a:lnTo>
                  <a:pt x="4289" y="563"/>
                </a:lnTo>
                <a:lnTo>
                  <a:pt x="4264" y="581"/>
                </a:lnTo>
                <a:lnTo>
                  <a:pt x="4239" y="599"/>
                </a:lnTo>
                <a:lnTo>
                  <a:pt x="4215" y="617"/>
                </a:lnTo>
                <a:lnTo>
                  <a:pt x="4189" y="635"/>
                </a:lnTo>
                <a:lnTo>
                  <a:pt x="4164" y="653"/>
                </a:lnTo>
                <a:lnTo>
                  <a:pt x="4139" y="670"/>
                </a:lnTo>
                <a:lnTo>
                  <a:pt x="4114" y="688"/>
                </a:lnTo>
                <a:lnTo>
                  <a:pt x="4089" y="708"/>
                </a:lnTo>
                <a:lnTo>
                  <a:pt x="4064" y="724"/>
                </a:lnTo>
                <a:lnTo>
                  <a:pt x="4039" y="743"/>
                </a:lnTo>
                <a:lnTo>
                  <a:pt x="4014" y="761"/>
                </a:lnTo>
                <a:lnTo>
                  <a:pt x="3988" y="779"/>
                </a:lnTo>
                <a:lnTo>
                  <a:pt x="3964" y="798"/>
                </a:lnTo>
                <a:lnTo>
                  <a:pt x="3938" y="816"/>
                </a:lnTo>
                <a:lnTo>
                  <a:pt x="3932" y="808"/>
                </a:lnTo>
                <a:lnTo>
                  <a:pt x="3926" y="801"/>
                </a:lnTo>
                <a:lnTo>
                  <a:pt x="3920" y="791"/>
                </a:lnTo>
                <a:lnTo>
                  <a:pt x="3916" y="780"/>
                </a:lnTo>
                <a:lnTo>
                  <a:pt x="3926" y="773"/>
                </a:lnTo>
                <a:lnTo>
                  <a:pt x="3934" y="766"/>
                </a:lnTo>
                <a:lnTo>
                  <a:pt x="3944" y="756"/>
                </a:lnTo>
                <a:lnTo>
                  <a:pt x="3953" y="748"/>
                </a:lnTo>
                <a:lnTo>
                  <a:pt x="3963" y="739"/>
                </a:lnTo>
                <a:lnTo>
                  <a:pt x="3972" y="731"/>
                </a:lnTo>
                <a:lnTo>
                  <a:pt x="3982" y="721"/>
                </a:lnTo>
                <a:lnTo>
                  <a:pt x="3993" y="713"/>
                </a:lnTo>
                <a:lnTo>
                  <a:pt x="4000" y="711"/>
                </a:lnTo>
                <a:lnTo>
                  <a:pt x="4007" y="708"/>
                </a:lnTo>
                <a:lnTo>
                  <a:pt x="4014" y="708"/>
                </a:lnTo>
                <a:lnTo>
                  <a:pt x="4023" y="705"/>
                </a:lnTo>
                <a:lnTo>
                  <a:pt x="4031" y="702"/>
                </a:lnTo>
                <a:lnTo>
                  <a:pt x="4038" y="699"/>
                </a:lnTo>
                <a:lnTo>
                  <a:pt x="4047" y="696"/>
                </a:lnTo>
                <a:lnTo>
                  <a:pt x="4054" y="694"/>
                </a:lnTo>
                <a:lnTo>
                  <a:pt x="4058" y="687"/>
                </a:lnTo>
                <a:lnTo>
                  <a:pt x="4063" y="680"/>
                </a:lnTo>
                <a:lnTo>
                  <a:pt x="4069" y="674"/>
                </a:lnTo>
                <a:lnTo>
                  <a:pt x="4074" y="666"/>
                </a:lnTo>
                <a:lnTo>
                  <a:pt x="4078" y="659"/>
                </a:lnTo>
                <a:lnTo>
                  <a:pt x="4083" y="652"/>
                </a:lnTo>
                <a:lnTo>
                  <a:pt x="4089" y="644"/>
                </a:lnTo>
                <a:lnTo>
                  <a:pt x="4094" y="636"/>
                </a:lnTo>
                <a:lnTo>
                  <a:pt x="4104" y="632"/>
                </a:lnTo>
                <a:lnTo>
                  <a:pt x="4113" y="626"/>
                </a:lnTo>
                <a:lnTo>
                  <a:pt x="4123" y="621"/>
                </a:lnTo>
                <a:lnTo>
                  <a:pt x="4133" y="615"/>
                </a:lnTo>
                <a:lnTo>
                  <a:pt x="4141" y="609"/>
                </a:lnTo>
                <a:lnTo>
                  <a:pt x="4151" y="604"/>
                </a:lnTo>
                <a:lnTo>
                  <a:pt x="4161" y="598"/>
                </a:lnTo>
                <a:lnTo>
                  <a:pt x="4170" y="593"/>
                </a:lnTo>
                <a:lnTo>
                  <a:pt x="4177" y="579"/>
                </a:lnTo>
                <a:lnTo>
                  <a:pt x="4185" y="566"/>
                </a:lnTo>
                <a:lnTo>
                  <a:pt x="4191" y="552"/>
                </a:lnTo>
                <a:lnTo>
                  <a:pt x="4199" y="537"/>
                </a:lnTo>
                <a:lnTo>
                  <a:pt x="4205" y="530"/>
                </a:lnTo>
                <a:lnTo>
                  <a:pt x="4212" y="524"/>
                </a:lnTo>
                <a:lnTo>
                  <a:pt x="4219" y="517"/>
                </a:lnTo>
                <a:lnTo>
                  <a:pt x="4226" y="511"/>
                </a:lnTo>
                <a:lnTo>
                  <a:pt x="4233" y="505"/>
                </a:lnTo>
                <a:lnTo>
                  <a:pt x="4241" y="499"/>
                </a:lnTo>
                <a:lnTo>
                  <a:pt x="4249" y="492"/>
                </a:lnTo>
                <a:lnTo>
                  <a:pt x="4256" y="486"/>
                </a:lnTo>
                <a:lnTo>
                  <a:pt x="4250" y="484"/>
                </a:lnTo>
                <a:lnTo>
                  <a:pt x="4245" y="481"/>
                </a:lnTo>
                <a:lnTo>
                  <a:pt x="4239" y="479"/>
                </a:lnTo>
                <a:lnTo>
                  <a:pt x="4233" y="475"/>
                </a:lnTo>
                <a:lnTo>
                  <a:pt x="4228" y="473"/>
                </a:lnTo>
                <a:lnTo>
                  <a:pt x="4221" y="469"/>
                </a:lnTo>
                <a:lnTo>
                  <a:pt x="4216" y="466"/>
                </a:lnTo>
                <a:lnTo>
                  <a:pt x="4210" y="461"/>
                </a:lnTo>
                <a:lnTo>
                  <a:pt x="4221" y="453"/>
                </a:lnTo>
                <a:lnTo>
                  <a:pt x="4232" y="444"/>
                </a:lnTo>
                <a:lnTo>
                  <a:pt x="4243" y="436"/>
                </a:lnTo>
                <a:lnTo>
                  <a:pt x="4255" y="426"/>
                </a:lnTo>
                <a:lnTo>
                  <a:pt x="4267" y="418"/>
                </a:lnTo>
                <a:lnTo>
                  <a:pt x="4278" y="410"/>
                </a:lnTo>
                <a:lnTo>
                  <a:pt x="4289" y="401"/>
                </a:lnTo>
                <a:lnTo>
                  <a:pt x="4300" y="392"/>
                </a:lnTo>
                <a:lnTo>
                  <a:pt x="4306" y="386"/>
                </a:lnTo>
                <a:lnTo>
                  <a:pt x="4314" y="381"/>
                </a:lnTo>
                <a:lnTo>
                  <a:pt x="4322" y="374"/>
                </a:lnTo>
                <a:lnTo>
                  <a:pt x="4327" y="367"/>
                </a:lnTo>
                <a:lnTo>
                  <a:pt x="4336" y="357"/>
                </a:lnTo>
                <a:lnTo>
                  <a:pt x="4347" y="346"/>
                </a:lnTo>
                <a:lnTo>
                  <a:pt x="4354" y="334"/>
                </a:lnTo>
                <a:lnTo>
                  <a:pt x="4362" y="323"/>
                </a:lnTo>
                <a:lnTo>
                  <a:pt x="4371" y="311"/>
                </a:lnTo>
                <a:lnTo>
                  <a:pt x="4380" y="300"/>
                </a:lnTo>
                <a:lnTo>
                  <a:pt x="4389" y="289"/>
                </a:lnTo>
                <a:lnTo>
                  <a:pt x="4397" y="277"/>
                </a:lnTo>
                <a:lnTo>
                  <a:pt x="4375" y="288"/>
                </a:lnTo>
                <a:lnTo>
                  <a:pt x="4356" y="297"/>
                </a:lnTo>
                <a:lnTo>
                  <a:pt x="4335" y="306"/>
                </a:lnTo>
                <a:lnTo>
                  <a:pt x="4316" y="315"/>
                </a:lnTo>
                <a:lnTo>
                  <a:pt x="4294" y="326"/>
                </a:lnTo>
                <a:lnTo>
                  <a:pt x="4274" y="335"/>
                </a:lnTo>
                <a:lnTo>
                  <a:pt x="4252" y="347"/>
                </a:lnTo>
                <a:lnTo>
                  <a:pt x="4232" y="357"/>
                </a:lnTo>
                <a:lnTo>
                  <a:pt x="4228" y="354"/>
                </a:lnTo>
                <a:lnTo>
                  <a:pt x="4224" y="351"/>
                </a:lnTo>
                <a:lnTo>
                  <a:pt x="4218" y="350"/>
                </a:lnTo>
                <a:lnTo>
                  <a:pt x="4214" y="348"/>
                </a:lnTo>
                <a:lnTo>
                  <a:pt x="4208" y="347"/>
                </a:lnTo>
                <a:lnTo>
                  <a:pt x="4204" y="343"/>
                </a:lnTo>
                <a:lnTo>
                  <a:pt x="4200" y="343"/>
                </a:lnTo>
                <a:lnTo>
                  <a:pt x="4195" y="342"/>
                </a:lnTo>
                <a:lnTo>
                  <a:pt x="4201" y="336"/>
                </a:lnTo>
                <a:lnTo>
                  <a:pt x="4208" y="330"/>
                </a:lnTo>
                <a:lnTo>
                  <a:pt x="4214" y="324"/>
                </a:lnTo>
                <a:lnTo>
                  <a:pt x="4219" y="317"/>
                </a:lnTo>
                <a:lnTo>
                  <a:pt x="4226" y="310"/>
                </a:lnTo>
                <a:lnTo>
                  <a:pt x="4232" y="304"/>
                </a:lnTo>
                <a:lnTo>
                  <a:pt x="4239" y="298"/>
                </a:lnTo>
                <a:lnTo>
                  <a:pt x="4247" y="292"/>
                </a:lnTo>
                <a:lnTo>
                  <a:pt x="4266" y="277"/>
                </a:lnTo>
                <a:lnTo>
                  <a:pt x="4287" y="259"/>
                </a:lnTo>
                <a:lnTo>
                  <a:pt x="4312" y="239"/>
                </a:lnTo>
                <a:lnTo>
                  <a:pt x="4339" y="219"/>
                </a:lnTo>
                <a:lnTo>
                  <a:pt x="4366" y="200"/>
                </a:lnTo>
                <a:lnTo>
                  <a:pt x="4391" y="181"/>
                </a:lnTo>
                <a:lnTo>
                  <a:pt x="4413" y="165"/>
                </a:lnTo>
                <a:lnTo>
                  <a:pt x="4430" y="150"/>
                </a:lnTo>
                <a:lnTo>
                  <a:pt x="4434" y="126"/>
                </a:lnTo>
                <a:lnTo>
                  <a:pt x="4431" y="115"/>
                </a:lnTo>
                <a:lnTo>
                  <a:pt x="4424" y="115"/>
                </a:lnTo>
                <a:lnTo>
                  <a:pt x="4414" y="121"/>
                </a:lnTo>
                <a:lnTo>
                  <a:pt x="4402" y="129"/>
                </a:lnTo>
                <a:lnTo>
                  <a:pt x="4391" y="137"/>
                </a:lnTo>
                <a:lnTo>
                  <a:pt x="4383" y="143"/>
                </a:lnTo>
                <a:lnTo>
                  <a:pt x="4375" y="142"/>
                </a:lnTo>
                <a:lnTo>
                  <a:pt x="4366" y="149"/>
                </a:lnTo>
                <a:lnTo>
                  <a:pt x="4353" y="155"/>
                </a:lnTo>
                <a:lnTo>
                  <a:pt x="4337" y="163"/>
                </a:lnTo>
                <a:lnTo>
                  <a:pt x="4322" y="169"/>
                </a:lnTo>
                <a:lnTo>
                  <a:pt x="4306" y="177"/>
                </a:lnTo>
                <a:lnTo>
                  <a:pt x="4290" y="182"/>
                </a:lnTo>
                <a:lnTo>
                  <a:pt x="4276" y="191"/>
                </a:lnTo>
                <a:lnTo>
                  <a:pt x="4266" y="199"/>
                </a:lnTo>
                <a:lnTo>
                  <a:pt x="4261" y="208"/>
                </a:lnTo>
                <a:lnTo>
                  <a:pt x="4258" y="218"/>
                </a:lnTo>
                <a:lnTo>
                  <a:pt x="4255" y="229"/>
                </a:lnTo>
                <a:lnTo>
                  <a:pt x="4252" y="239"/>
                </a:lnTo>
                <a:lnTo>
                  <a:pt x="4247" y="244"/>
                </a:lnTo>
                <a:lnTo>
                  <a:pt x="4242" y="250"/>
                </a:lnTo>
                <a:lnTo>
                  <a:pt x="4236" y="257"/>
                </a:lnTo>
                <a:lnTo>
                  <a:pt x="4230" y="262"/>
                </a:lnTo>
                <a:lnTo>
                  <a:pt x="4221" y="268"/>
                </a:lnTo>
                <a:lnTo>
                  <a:pt x="4216" y="273"/>
                </a:lnTo>
                <a:lnTo>
                  <a:pt x="4208" y="279"/>
                </a:lnTo>
                <a:lnTo>
                  <a:pt x="4201" y="284"/>
                </a:lnTo>
                <a:lnTo>
                  <a:pt x="4195" y="277"/>
                </a:lnTo>
                <a:lnTo>
                  <a:pt x="4191" y="270"/>
                </a:lnTo>
                <a:lnTo>
                  <a:pt x="4185" y="264"/>
                </a:lnTo>
                <a:lnTo>
                  <a:pt x="4177" y="257"/>
                </a:lnTo>
                <a:lnTo>
                  <a:pt x="4172" y="249"/>
                </a:lnTo>
                <a:lnTo>
                  <a:pt x="4164" y="243"/>
                </a:lnTo>
                <a:lnTo>
                  <a:pt x="4158" y="237"/>
                </a:lnTo>
                <a:lnTo>
                  <a:pt x="4153" y="231"/>
                </a:lnTo>
                <a:lnTo>
                  <a:pt x="4161" y="217"/>
                </a:lnTo>
                <a:lnTo>
                  <a:pt x="4168" y="205"/>
                </a:lnTo>
                <a:lnTo>
                  <a:pt x="4175" y="191"/>
                </a:lnTo>
                <a:lnTo>
                  <a:pt x="4185" y="177"/>
                </a:lnTo>
                <a:lnTo>
                  <a:pt x="4195" y="171"/>
                </a:lnTo>
                <a:lnTo>
                  <a:pt x="4203" y="163"/>
                </a:lnTo>
                <a:lnTo>
                  <a:pt x="4211" y="155"/>
                </a:lnTo>
                <a:lnTo>
                  <a:pt x="4219" y="148"/>
                </a:lnTo>
                <a:lnTo>
                  <a:pt x="4229" y="140"/>
                </a:lnTo>
                <a:lnTo>
                  <a:pt x="4237" y="132"/>
                </a:lnTo>
                <a:lnTo>
                  <a:pt x="4245" y="125"/>
                </a:lnTo>
                <a:lnTo>
                  <a:pt x="4252" y="118"/>
                </a:lnTo>
                <a:lnTo>
                  <a:pt x="4259" y="109"/>
                </a:lnTo>
                <a:lnTo>
                  <a:pt x="4264" y="101"/>
                </a:lnTo>
                <a:lnTo>
                  <a:pt x="4270" y="92"/>
                </a:lnTo>
                <a:lnTo>
                  <a:pt x="4275" y="84"/>
                </a:lnTo>
                <a:lnTo>
                  <a:pt x="4281" y="74"/>
                </a:lnTo>
                <a:lnTo>
                  <a:pt x="4286" y="66"/>
                </a:lnTo>
                <a:lnTo>
                  <a:pt x="4292" y="56"/>
                </a:lnTo>
                <a:lnTo>
                  <a:pt x="4298" y="47"/>
                </a:lnTo>
                <a:lnTo>
                  <a:pt x="4289" y="48"/>
                </a:lnTo>
                <a:lnTo>
                  <a:pt x="4279" y="51"/>
                </a:lnTo>
                <a:lnTo>
                  <a:pt x="4270" y="53"/>
                </a:lnTo>
                <a:lnTo>
                  <a:pt x="4259" y="53"/>
                </a:lnTo>
                <a:lnTo>
                  <a:pt x="4249" y="56"/>
                </a:lnTo>
                <a:lnTo>
                  <a:pt x="4239" y="57"/>
                </a:lnTo>
                <a:lnTo>
                  <a:pt x="4229" y="60"/>
                </a:lnTo>
                <a:lnTo>
                  <a:pt x="4218" y="61"/>
                </a:lnTo>
                <a:lnTo>
                  <a:pt x="4221" y="44"/>
                </a:lnTo>
                <a:lnTo>
                  <a:pt x="4226" y="30"/>
                </a:lnTo>
                <a:lnTo>
                  <a:pt x="4228" y="15"/>
                </a:lnTo>
                <a:lnTo>
                  <a:pt x="4230" y="0"/>
                </a:lnTo>
                <a:lnTo>
                  <a:pt x="4219" y="6"/>
                </a:lnTo>
                <a:lnTo>
                  <a:pt x="4210" y="12"/>
                </a:lnTo>
                <a:lnTo>
                  <a:pt x="4200" y="18"/>
                </a:lnTo>
                <a:lnTo>
                  <a:pt x="4191" y="26"/>
                </a:lnTo>
                <a:lnTo>
                  <a:pt x="4181" y="33"/>
                </a:lnTo>
                <a:lnTo>
                  <a:pt x="4172" y="41"/>
                </a:lnTo>
                <a:lnTo>
                  <a:pt x="4164" y="48"/>
                </a:lnTo>
                <a:lnTo>
                  <a:pt x="4154" y="56"/>
                </a:lnTo>
                <a:lnTo>
                  <a:pt x="4149" y="64"/>
                </a:lnTo>
                <a:lnTo>
                  <a:pt x="4143" y="74"/>
                </a:lnTo>
                <a:lnTo>
                  <a:pt x="4137" y="84"/>
                </a:lnTo>
                <a:lnTo>
                  <a:pt x="4133" y="94"/>
                </a:lnTo>
                <a:lnTo>
                  <a:pt x="4127" y="104"/>
                </a:lnTo>
                <a:lnTo>
                  <a:pt x="4122" y="115"/>
                </a:lnTo>
                <a:lnTo>
                  <a:pt x="4116" y="125"/>
                </a:lnTo>
                <a:lnTo>
                  <a:pt x="4112" y="136"/>
                </a:lnTo>
                <a:lnTo>
                  <a:pt x="4102" y="136"/>
                </a:lnTo>
                <a:lnTo>
                  <a:pt x="4094" y="136"/>
                </a:lnTo>
                <a:lnTo>
                  <a:pt x="4085" y="136"/>
                </a:lnTo>
                <a:lnTo>
                  <a:pt x="4078" y="136"/>
                </a:lnTo>
                <a:lnTo>
                  <a:pt x="4069" y="136"/>
                </a:lnTo>
                <a:lnTo>
                  <a:pt x="4061" y="136"/>
                </a:lnTo>
                <a:lnTo>
                  <a:pt x="4052" y="136"/>
                </a:lnTo>
                <a:lnTo>
                  <a:pt x="4044" y="135"/>
                </a:lnTo>
                <a:lnTo>
                  <a:pt x="4030" y="146"/>
                </a:lnTo>
                <a:lnTo>
                  <a:pt x="4014" y="157"/>
                </a:lnTo>
                <a:lnTo>
                  <a:pt x="4000" y="169"/>
                </a:lnTo>
                <a:lnTo>
                  <a:pt x="3985" y="179"/>
                </a:lnTo>
                <a:lnTo>
                  <a:pt x="3970" y="190"/>
                </a:lnTo>
                <a:lnTo>
                  <a:pt x="3955" y="202"/>
                </a:lnTo>
                <a:lnTo>
                  <a:pt x="3941" y="212"/>
                </a:lnTo>
                <a:lnTo>
                  <a:pt x="3924" y="223"/>
                </a:lnTo>
                <a:lnTo>
                  <a:pt x="3877" y="257"/>
                </a:lnTo>
                <a:lnTo>
                  <a:pt x="3828" y="287"/>
                </a:lnTo>
                <a:lnTo>
                  <a:pt x="3781" y="314"/>
                </a:lnTo>
                <a:lnTo>
                  <a:pt x="3733" y="339"/>
                </a:lnTo>
                <a:lnTo>
                  <a:pt x="3685" y="365"/>
                </a:lnTo>
                <a:lnTo>
                  <a:pt x="3638" y="390"/>
                </a:lnTo>
                <a:lnTo>
                  <a:pt x="3589" y="415"/>
                </a:lnTo>
                <a:lnTo>
                  <a:pt x="3542" y="439"/>
                </a:lnTo>
                <a:lnTo>
                  <a:pt x="3495" y="467"/>
                </a:lnTo>
                <a:lnTo>
                  <a:pt x="3448" y="497"/>
                </a:lnTo>
                <a:lnTo>
                  <a:pt x="3400" y="529"/>
                </a:lnTo>
                <a:lnTo>
                  <a:pt x="3353" y="563"/>
                </a:lnTo>
                <a:lnTo>
                  <a:pt x="3307" y="604"/>
                </a:lnTo>
                <a:lnTo>
                  <a:pt x="3261" y="649"/>
                </a:lnTo>
                <a:lnTo>
                  <a:pt x="3214" y="698"/>
                </a:lnTo>
                <a:lnTo>
                  <a:pt x="3166" y="754"/>
                </a:lnTo>
                <a:lnTo>
                  <a:pt x="3122" y="783"/>
                </a:lnTo>
                <a:lnTo>
                  <a:pt x="3088" y="806"/>
                </a:lnTo>
                <a:lnTo>
                  <a:pt x="3063" y="823"/>
                </a:lnTo>
                <a:lnTo>
                  <a:pt x="3046" y="832"/>
                </a:lnTo>
                <a:lnTo>
                  <a:pt x="3038" y="835"/>
                </a:lnTo>
                <a:lnTo>
                  <a:pt x="3036" y="834"/>
                </a:lnTo>
                <a:lnTo>
                  <a:pt x="3038" y="829"/>
                </a:lnTo>
                <a:lnTo>
                  <a:pt x="3045" y="820"/>
                </a:lnTo>
                <a:lnTo>
                  <a:pt x="3055" y="810"/>
                </a:lnTo>
                <a:lnTo>
                  <a:pt x="3066" y="798"/>
                </a:lnTo>
                <a:lnTo>
                  <a:pt x="3080" y="785"/>
                </a:lnTo>
                <a:lnTo>
                  <a:pt x="3094" y="773"/>
                </a:lnTo>
                <a:lnTo>
                  <a:pt x="3105" y="762"/>
                </a:lnTo>
                <a:lnTo>
                  <a:pt x="3115" y="750"/>
                </a:lnTo>
                <a:lnTo>
                  <a:pt x="3122" y="743"/>
                </a:lnTo>
                <a:lnTo>
                  <a:pt x="3124" y="739"/>
                </a:lnTo>
                <a:lnTo>
                  <a:pt x="3147" y="727"/>
                </a:lnTo>
                <a:lnTo>
                  <a:pt x="3165" y="717"/>
                </a:lnTo>
                <a:lnTo>
                  <a:pt x="3178" y="708"/>
                </a:lnTo>
                <a:lnTo>
                  <a:pt x="3186" y="702"/>
                </a:lnTo>
                <a:lnTo>
                  <a:pt x="3191" y="698"/>
                </a:lnTo>
                <a:lnTo>
                  <a:pt x="3194" y="694"/>
                </a:lnTo>
                <a:lnTo>
                  <a:pt x="3191" y="692"/>
                </a:lnTo>
                <a:lnTo>
                  <a:pt x="3188" y="691"/>
                </a:lnTo>
                <a:lnTo>
                  <a:pt x="3184" y="691"/>
                </a:lnTo>
                <a:lnTo>
                  <a:pt x="3180" y="691"/>
                </a:lnTo>
                <a:lnTo>
                  <a:pt x="3175" y="690"/>
                </a:lnTo>
                <a:lnTo>
                  <a:pt x="3171" y="688"/>
                </a:lnTo>
                <a:lnTo>
                  <a:pt x="3168" y="686"/>
                </a:lnTo>
                <a:lnTo>
                  <a:pt x="3168" y="683"/>
                </a:lnTo>
                <a:lnTo>
                  <a:pt x="3171" y="677"/>
                </a:lnTo>
                <a:lnTo>
                  <a:pt x="3176" y="670"/>
                </a:lnTo>
                <a:lnTo>
                  <a:pt x="3184" y="661"/>
                </a:lnTo>
                <a:lnTo>
                  <a:pt x="3196" y="649"/>
                </a:lnTo>
                <a:lnTo>
                  <a:pt x="3214" y="635"/>
                </a:lnTo>
                <a:lnTo>
                  <a:pt x="3236" y="618"/>
                </a:lnTo>
                <a:lnTo>
                  <a:pt x="3264" y="598"/>
                </a:lnTo>
                <a:lnTo>
                  <a:pt x="3299" y="574"/>
                </a:lnTo>
                <a:lnTo>
                  <a:pt x="3339" y="546"/>
                </a:lnTo>
                <a:lnTo>
                  <a:pt x="3387" y="515"/>
                </a:lnTo>
                <a:lnTo>
                  <a:pt x="3444" y="477"/>
                </a:lnTo>
                <a:lnTo>
                  <a:pt x="3507" y="437"/>
                </a:lnTo>
                <a:lnTo>
                  <a:pt x="3581" y="392"/>
                </a:lnTo>
                <a:lnTo>
                  <a:pt x="3664" y="339"/>
                </a:lnTo>
                <a:lnTo>
                  <a:pt x="3757" y="284"/>
                </a:lnTo>
                <a:lnTo>
                  <a:pt x="3862" y="221"/>
                </a:lnTo>
                <a:lnTo>
                  <a:pt x="3976" y="153"/>
                </a:lnTo>
                <a:lnTo>
                  <a:pt x="4003" y="135"/>
                </a:lnTo>
                <a:lnTo>
                  <a:pt x="4025" y="118"/>
                </a:lnTo>
                <a:lnTo>
                  <a:pt x="4043" y="101"/>
                </a:lnTo>
                <a:lnTo>
                  <a:pt x="4056" y="86"/>
                </a:lnTo>
                <a:lnTo>
                  <a:pt x="4064" y="72"/>
                </a:lnTo>
                <a:lnTo>
                  <a:pt x="4069" y="62"/>
                </a:lnTo>
                <a:lnTo>
                  <a:pt x="4069" y="55"/>
                </a:lnTo>
                <a:lnTo>
                  <a:pt x="4064" y="53"/>
                </a:lnTo>
                <a:lnTo>
                  <a:pt x="4039" y="57"/>
                </a:lnTo>
                <a:lnTo>
                  <a:pt x="4012" y="70"/>
                </a:lnTo>
                <a:lnTo>
                  <a:pt x="3985" y="90"/>
                </a:lnTo>
                <a:lnTo>
                  <a:pt x="3958" y="109"/>
                </a:lnTo>
                <a:lnTo>
                  <a:pt x="3934" y="128"/>
                </a:lnTo>
                <a:lnTo>
                  <a:pt x="3913" y="142"/>
                </a:lnTo>
                <a:lnTo>
                  <a:pt x="3896" y="146"/>
                </a:lnTo>
                <a:lnTo>
                  <a:pt x="3884" y="135"/>
                </a:lnTo>
                <a:lnTo>
                  <a:pt x="3870" y="157"/>
                </a:lnTo>
                <a:lnTo>
                  <a:pt x="3868" y="165"/>
                </a:lnTo>
                <a:lnTo>
                  <a:pt x="3870" y="163"/>
                </a:lnTo>
                <a:lnTo>
                  <a:pt x="3874" y="154"/>
                </a:lnTo>
                <a:lnTo>
                  <a:pt x="3871" y="146"/>
                </a:lnTo>
                <a:lnTo>
                  <a:pt x="3858" y="146"/>
                </a:lnTo>
                <a:lnTo>
                  <a:pt x="3826" y="155"/>
                </a:lnTo>
                <a:lnTo>
                  <a:pt x="3772" y="181"/>
                </a:lnTo>
                <a:lnTo>
                  <a:pt x="3755" y="191"/>
                </a:lnTo>
                <a:lnTo>
                  <a:pt x="3735" y="202"/>
                </a:lnTo>
                <a:lnTo>
                  <a:pt x="3714" y="213"/>
                </a:lnTo>
                <a:lnTo>
                  <a:pt x="3691" y="228"/>
                </a:lnTo>
                <a:lnTo>
                  <a:pt x="3668" y="242"/>
                </a:lnTo>
                <a:lnTo>
                  <a:pt x="3643" y="257"/>
                </a:lnTo>
                <a:lnTo>
                  <a:pt x="3616" y="273"/>
                </a:lnTo>
                <a:lnTo>
                  <a:pt x="3589" y="291"/>
                </a:lnTo>
                <a:lnTo>
                  <a:pt x="3561" y="308"/>
                </a:lnTo>
                <a:lnTo>
                  <a:pt x="3532" y="326"/>
                </a:lnTo>
                <a:lnTo>
                  <a:pt x="3503" y="346"/>
                </a:lnTo>
                <a:lnTo>
                  <a:pt x="3472" y="365"/>
                </a:lnTo>
                <a:lnTo>
                  <a:pt x="3443" y="384"/>
                </a:lnTo>
                <a:lnTo>
                  <a:pt x="3412" y="405"/>
                </a:lnTo>
                <a:lnTo>
                  <a:pt x="3380" y="425"/>
                </a:lnTo>
                <a:lnTo>
                  <a:pt x="3349" y="446"/>
                </a:lnTo>
                <a:lnTo>
                  <a:pt x="3318" y="467"/>
                </a:lnTo>
                <a:lnTo>
                  <a:pt x="3285" y="487"/>
                </a:lnTo>
                <a:lnTo>
                  <a:pt x="3256" y="508"/>
                </a:lnTo>
                <a:lnTo>
                  <a:pt x="3225" y="529"/>
                </a:lnTo>
                <a:lnTo>
                  <a:pt x="3195" y="548"/>
                </a:lnTo>
                <a:lnTo>
                  <a:pt x="3165" y="570"/>
                </a:lnTo>
                <a:lnTo>
                  <a:pt x="3138" y="588"/>
                </a:lnTo>
                <a:lnTo>
                  <a:pt x="3109" y="608"/>
                </a:lnTo>
                <a:lnTo>
                  <a:pt x="3082" y="626"/>
                </a:lnTo>
                <a:lnTo>
                  <a:pt x="3057" y="644"/>
                </a:lnTo>
                <a:lnTo>
                  <a:pt x="3032" y="661"/>
                </a:lnTo>
                <a:lnTo>
                  <a:pt x="3008" y="677"/>
                </a:lnTo>
                <a:lnTo>
                  <a:pt x="2985" y="694"/>
                </a:lnTo>
                <a:lnTo>
                  <a:pt x="2965" y="708"/>
                </a:lnTo>
                <a:lnTo>
                  <a:pt x="2946" y="721"/>
                </a:lnTo>
                <a:lnTo>
                  <a:pt x="2928" y="733"/>
                </a:lnTo>
                <a:lnTo>
                  <a:pt x="2879" y="768"/>
                </a:lnTo>
                <a:lnTo>
                  <a:pt x="2829" y="803"/>
                </a:lnTo>
                <a:lnTo>
                  <a:pt x="2781" y="836"/>
                </a:lnTo>
                <a:lnTo>
                  <a:pt x="2732" y="868"/>
                </a:lnTo>
                <a:lnTo>
                  <a:pt x="2684" y="901"/>
                </a:lnTo>
                <a:lnTo>
                  <a:pt x="2637" y="932"/>
                </a:lnTo>
                <a:lnTo>
                  <a:pt x="2590" y="963"/>
                </a:lnTo>
                <a:lnTo>
                  <a:pt x="2544" y="994"/>
                </a:lnTo>
                <a:lnTo>
                  <a:pt x="2499" y="1025"/>
                </a:lnTo>
                <a:lnTo>
                  <a:pt x="2455" y="1057"/>
                </a:lnTo>
                <a:lnTo>
                  <a:pt x="2410" y="1087"/>
                </a:lnTo>
                <a:lnTo>
                  <a:pt x="2367" y="1117"/>
                </a:lnTo>
                <a:lnTo>
                  <a:pt x="2324" y="1146"/>
                </a:lnTo>
                <a:lnTo>
                  <a:pt x="2281" y="1177"/>
                </a:lnTo>
                <a:lnTo>
                  <a:pt x="2240" y="1208"/>
                </a:lnTo>
                <a:lnTo>
                  <a:pt x="2199" y="1237"/>
                </a:lnTo>
                <a:lnTo>
                  <a:pt x="2175" y="1258"/>
                </a:lnTo>
                <a:lnTo>
                  <a:pt x="2153" y="1280"/>
                </a:lnTo>
                <a:lnTo>
                  <a:pt x="2132" y="1303"/>
                </a:lnTo>
                <a:lnTo>
                  <a:pt x="2111" y="1326"/>
                </a:lnTo>
                <a:lnTo>
                  <a:pt x="2092" y="1349"/>
                </a:lnTo>
                <a:lnTo>
                  <a:pt x="2072" y="1372"/>
                </a:lnTo>
                <a:lnTo>
                  <a:pt x="2055" y="1396"/>
                </a:lnTo>
                <a:lnTo>
                  <a:pt x="2036" y="1419"/>
                </a:lnTo>
                <a:lnTo>
                  <a:pt x="2017" y="1443"/>
                </a:lnTo>
                <a:lnTo>
                  <a:pt x="2001" y="1466"/>
                </a:lnTo>
                <a:lnTo>
                  <a:pt x="1982" y="1490"/>
                </a:lnTo>
                <a:lnTo>
                  <a:pt x="1964" y="1512"/>
                </a:lnTo>
                <a:lnTo>
                  <a:pt x="1945" y="1536"/>
                </a:lnTo>
                <a:lnTo>
                  <a:pt x="1927" y="1556"/>
                </a:lnTo>
                <a:lnTo>
                  <a:pt x="1907" y="1578"/>
                </a:lnTo>
                <a:lnTo>
                  <a:pt x="1888" y="1599"/>
                </a:lnTo>
                <a:lnTo>
                  <a:pt x="1865" y="1621"/>
                </a:lnTo>
                <a:lnTo>
                  <a:pt x="1841" y="1647"/>
                </a:lnTo>
                <a:lnTo>
                  <a:pt x="1817" y="1679"/>
                </a:lnTo>
                <a:lnTo>
                  <a:pt x="1792" y="1714"/>
                </a:lnTo>
                <a:lnTo>
                  <a:pt x="1768" y="1747"/>
                </a:lnTo>
                <a:lnTo>
                  <a:pt x="1744" y="1778"/>
                </a:lnTo>
                <a:lnTo>
                  <a:pt x="1722" y="1805"/>
                </a:lnTo>
                <a:lnTo>
                  <a:pt x="1703" y="1824"/>
                </a:lnTo>
                <a:lnTo>
                  <a:pt x="1675" y="1845"/>
                </a:lnTo>
                <a:lnTo>
                  <a:pt x="1657" y="1860"/>
                </a:lnTo>
                <a:lnTo>
                  <a:pt x="1643" y="1869"/>
                </a:lnTo>
                <a:lnTo>
                  <a:pt x="1634" y="1876"/>
                </a:lnTo>
                <a:lnTo>
                  <a:pt x="1624" y="1882"/>
                </a:lnTo>
                <a:lnTo>
                  <a:pt x="1613" y="1893"/>
                </a:lnTo>
                <a:lnTo>
                  <a:pt x="1598" y="1906"/>
                </a:lnTo>
                <a:lnTo>
                  <a:pt x="1577" y="1928"/>
                </a:lnTo>
                <a:lnTo>
                  <a:pt x="1555" y="1962"/>
                </a:lnTo>
                <a:lnTo>
                  <a:pt x="1537" y="1996"/>
                </a:lnTo>
                <a:lnTo>
                  <a:pt x="1519" y="2034"/>
                </a:lnTo>
                <a:lnTo>
                  <a:pt x="1504" y="2073"/>
                </a:lnTo>
                <a:lnTo>
                  <a:pt x="1487" y="2109"/>
                </a:lnTo>
                <a:lnTo>
                  <a:pt x="1471" y="2146"/>
                </a:lnTo>
                <a:lnTo>
                  <a:pt x="1457" y="2183"/>
                </a:lnTo>
                <a:lnTo>
                  <a:pt x="1440" y="2216"/>
                </a:lnTo>
                <a:lnTo>
                  <a:pt x="1425" y="2187"/>
                </a:lnTo>
                <a:lnTo>
                  <a:pt x="1406" y="2158"/>
                </a:lnTo>
                <a:lnTo>
                  <a:pt x="1388" y="2128"/>
                </a:lnTo>
                <a:lnTo>
                  <a:pt x="1367" y="2098"/>
                </a:lnTo>
                <a:lnTo>
                  <a:pt x="1345" y="2070"/>
                </a:lnTo>
                <a:lnTo>
                  <a:pt x="1323" y="2040"/>
                </a:lnTo>
                <a:lnTo>
                  <a:pt x="1301" y="2011"/>
                </a:lnTo>
                <a:lnTo>
                  <a:pt x="1278" y="1982"/>
                </a:lnTo>
                <a:lnTo>
                  <a:pt x="1255" y="1952"/>
                </a:lnTo>
                <a:lnTo>
                  <a:pt x="1234" y="1922"/>
                </a:lnTo>
                <a:lnTo>
                  <a:pt x="1214" y="1894"/>
                </a:lnTo>
                <a:lnTo>
                  <a:pt x="1196" y="1864"/>
                </a:lnTo>
                <a:lnTo>
                  <a:pt x="1178" y="1835"/>
                </a:lnTo>
                <a:lnTo>
                  <a:pt x="1163" y="1806"/>
                </a:lnTo>
                <a:lnTo>
                  <a:pt x="1150" y="1776"/>
                </a:lnTo>
                <a:lnTo>
                  <a:pt x="1141" y="1748"/>
                </a:lnTo>
                <a:lnTo>
                  <a:pt x="1125" y="1708"/>
                </a:lnTo>
                <a:lnTo>
                  <a:pt x="1109" y="1665"/>
                </a:lnTo>
                <a:lnTo>
                  <a:pt x="1090" y="1621"/>
                </a:lnTo>
                <a:lnTo>
                  <a:pt x="1072" y="1576"/>
                </a:lnTo>
                <a:lnTo>
                  <a:pt x="1053" y="1531"/>
                </a:lnTo>
                <a:lnTo>
                  <a:pt x="1036" y="1486"/>
                </a:lnTo>
                <a:lnTo>
                  <a:pt x="1019" y="1443"/>
                </a:lnTo>
                <a:lnTo>
                  <a:pt x="1006" y="1401"/>
                </a:lnTo>
                <a:lnTo>
                  <a:pt x="982" y="1410"/>
                </a:lnTo>
                <a:lnTo>
                  <a:pt x="961" y="1421"/>
                </a:lnTo>
                <a:lnTo>
                  <a:pt x="938" y="1429"/>
                </a:lnTo>
                <a:lnTo>
                  <a:pt x="917" y="1438"/>
                </a:lnTo>
                <a:lnTo>
                  <a:pt x="894" y="1447"/>
                </a:lnTo>
                <a:lnTo>
                  <a:pt x="873" y="1454"/>
                </a:lnTo>
                <a:lnTo>
                  <a:pt x="850" y="1462"/>
                </a:lnTo>
                <a:lnTo>
                  <a:pt x="828" y="1472"/>
                </a:lnTo>
                <a:lnTo>
                  <a:pt x="811" y="1480"/>
                </a:lnTo>
                <a:lnTo>
                  <a:pt x="793" y="1487"/>
                </a:lnTo>
                <a:lnTo>
                  <a:pt x="775" y="1496"/>
                </a:lnTo>
                <a:lnTo>
                  <a:pt x="758" y="1505"/>
                </a:lnTo>
                <a:lnTo>
                  <a:pt x="740" y="1512"/>
                </a:lnTo>
                <a:lnTo>
                  <a:pt x="724" y="1521"/>
                </a:lnTo>
                <a:lnTo>
                  <a:pt x="706" y="1528"/>
                </a:lnTo>
                <a:lnTo>
                  <a:pt x="689" y="1537"/>
                </a:lnTo>
                <a:lnTo>
                  <a:pt x="672" y="1545"/>
                </a:lnTo>
                <a:lnTo>
                  <a:pt x="654" y="1553"/>
                </a:lnTo>
                <a:lnTo>
                  <a:pt x="638" y="1561"/>
                </a:lnTo>
                <a:lnTo>
                  <a:pt x="621" y="1570"/>
                </a:lnTo>
                <a:lnTo>
                  <a:pt x="604" y="1576"/>
                </a:lnTo>
                <a:lnTo>
                  <a:pt x="588" y="1585"/>
                </a:lnTo>
                <a:lnTo>
                  <a:pt x="571" y="1593"/>
                </a:lnTo>
                <a:lnTo>
                  <a:pt x="555" y="1601"/>
                </a:lnTo>
                <a:lnTo>
                  <a:pt x="551" y="1601"/>
                </a:lnTo>
                <a:lnTo>
                  <a:pt x="543" y="1601"/>
                </a:lnTo>
                <a:lnTo>
                  <a:pt x="529" y="1603"/>
                </a:lnTo>
                <a:lnTo>
                  <a:pt x="512" y="1607"/>
                </a:lnTo>
                <a:lnTo>
                  <a:pt x="493" y="1611"/>
                </a:lnTo>
                <a:lnTo>
                  <a:pt x="470" y="1617"/>
                </a:lnTo>
                <a:lnTo>
                  <a:pt x="447" y="1625"/>
                </a:lnTo>
                <a:lnTo>
                  <a:pt x="422" y="1632"/>
                </a:lnTo>
                <a:lnTo>
                  <a:pt x="397" y="1638"/>
                </a:lnTo>
                <a:lnTo>
                  <a:pt x="374" y="1645"/>
                </a:lnTo>
                <a:lnTo>
                  <a:pt x="352" y="1653"/>
                </a:lnTo>
                <a:lnTo>
                  <a:pt x="334" y="1657"/>
                </a:lnTo>
                <a:lnTo>
                  <a:pt x="316" y="1661"/>
                </a:lnTo>
                <a:lnTo>
                  <a:pt x="305" y="1665"/>
                </a:lnTo>
                <a:lnTo>
                  <a:pt x="298" y="1665"/>
                </a:lnTo>
                <a:lnTo>
                  <a:pt x="295" y="1663"/>
                </a:lnTo>
                <a:lnTo>
                  <a:pt x="275" y="1674"/>
                </a:lnTo>
                <a:lnTo>
                  <a:pt x="257" y="1685"/>
                </a:lnTo>
                <a:lnTo>
                  <a:pt x="237" y="1696"/>
                </a:lnTo>
                <a:lnTo>
                  <a:pt x="220" y="1708"/>
                </a:lnTo>
                <a:lnTo>
                  <a:pt x="199" y="1718"/>
                </a:lnTo>
                <a:lnTo>
                  <a:pt x="181" y="1728"/>
                </a:lnTo>
                <a:lnTo>
                  <a:pt x="161" y="1739"/>
                </a:lnTo>
                <a:lnTo>
                  <a:pt x="143" y="1750"/>
                </a:lnTo>
                <a:lnTo>
                  <a:pt x="124" y="1761"/>
                </a:lnTo>
                <a:lnTo>
                  <a:pt x="106" y="1773"/>
                </a:lnTo>
                <a:lnTo>
                  <a:pt x="88" y="1783"/>
                </a:lnTo>
                <a:lnTo>
                  <a:pt x="70" y="1794"/>
                </a:lnTo>
                <a:lnTo>
                  <a:pt x="53" y="1805"/>
                </a:lnTo>
                <a:lnTo>
                  <a:pt x="35" y="1816"/>
                </a:lnTo>
                <a:lnTo>
                  <a:pt x="18" y="1827"/>
                </a:lnTo>
                <a:lnTo>
                  <a:pt x="0" y="1838"/>
                </a:lnTo>
                <a:close/>
              </a:path>
            </a:pathLst>
          </a:custGeom>
          <a:solidFill>
            <a:srgbClr val="C00000"/>
          </a:solidFill>
          <a:ln w="9525">
            <a:noFill/>
            <a:round/>
            <a:headEnd/>
            <a:tailEnd/>
          </a:ln>
        </p:spPr>
        <p:txBody>
          <a:bodyPr lIns="36000" tIns="36000" rIns="36000" bIns="36000" anchor="ctr" anchorCtr="0"/>
          <a:lstStyle/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endParaRPr kumimoji="1" lang="ko-KR" altLang="en-US" sz="1100" b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000000"/>
              </a:solidFill>
              <a:latin typeface="하나 M" panose="02020603020101020101" pitchFamily="18" charset="-127"/>
              <a:ea typeface="하나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1151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08D0A-6E85-C4E4-8FCA-CA429AEAB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CBC8F909-F73C-0866-B451-35B2F5CA96CD}"/>
              </a:ext>
            </a:extLst>
          </p:cNvPr>
          <p:cNvSpPr txBox="1"/>
          <p:nvPr/>
        </p:nvSpPr>
        <p:spPr>
          <a:xfrm>
            <a:off x="488950" y="2602659"/>
            <a:ext cx="8928100" cy="2122411"/>
          </a:xfrm>
          <a:prstGeom prst="roundRect">
            <a:avLst>
              <a:gd name="adj" fmla="val 7603"/>
            </a:avLst>
          </a:prstGeom>
          <a:noFill/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48BD79A-CB24-4463-50E9-B3655EB3A0CE}"/>
              </a:ext>
            </a:extLst>
          </p:cNvPr>
          <p:cNvSpPr txBox="1"/>
          <p:nvPr/>
        </p:nvSpPr>
        <p:spPr>
          <a:xfrm>
            <a:off x="1852358" y="2854324"/>
            <a:ext cx="3837841" cy="184450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D9865745-C752-BA85-93E8-1B3808C0C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126" y="946206"/>
            <a:ext cx="8928100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buClr>
                <a:srgbClr val="00338D"/>
              </a:buClr>
              <a:buSzPct val="90000"/>
            </a:pP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Frito Lay can shift from reactive turnover management to proactive, data-driven retention by identifying attrition risks early, targeting interventions, and validating their financial impact.</a:t>
            </a:r>
          </a:p>
        </p:txBody>
      </p:sp>
      <p:sp>
        <p:nvSpPr>
          <p:cNvPr id="3" name="Rectangle 39">
            <a:extLst>
              <a:ext uri="{FF2B5EF4-FFF2-40B4-BE49-F238E27FC236}">
                <a16:creationId xmlns:a16="http://schemas.microsoft.com/office/drawing/2014/main" id="{47485CB7-AA9C-4CC7-F1F8-94210D840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65693"/>
            <a:ext cx="8928100" cy="3560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marL="342900" indent="-342900" eaLnBrk="0" fontAlgn="b" hangingPunct="0">
              <a:lnSpc>
                <a:spcPts val="3300"/>
              </a:lnSpc>
              <a:buClr>
                <a:srgbClr val="1F497D"/>
              </a:buClr>
              <a:defRPr/>
            </a:pPr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 &amp; Strategic Recommendations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EDB253-908D-18D4-4EAA-E06C8EC2DD8B}"/>
              </a:ext>
            </a:extLst>
          </p:cNvPr>
          <p:cNvSpPr txBox="1"/>
          <p:nvPr/>
        </p:nvSpPr>
        <p:spPr>
          <a:xfrm>
            <a:off x="6936782" y="526127"/>
            <a:ext cx="2610897" cy="235193"/>
          </a:xfrm>
          <a:prstGeom prst="rect">
            <a:avLst/>
          </a:prstGeom>
          <a:noFill/>
        </p:spPr>
        <p:txBody>
          <a:bodyPr wrap="square" lIns="54610" tIns="54610" rIns="54610" bIns="54610" rtlCol="0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altLang="ko-KR" sz="1000" b="1" dirty="0">
                <a:ln w="3175">
                  <a:solidFill>
                    <a:schemeClr val="accent1">
                      <a:alpha val="0"/>
                    </a:schemeClr>
                  </a:solidFill>
                </a:ln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Conclusions</a:t>
            </a:r>
            <a:endParaRPr lang="en-US" altLang="ko-KR" sz="1000" b="1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695A14-0E35-7B83-8A36-52014BD45FC9}"/>
              </a:ext>
            </a:extLst>
          </p:cNvPr>
          <p:cNvSpPr txBox="1"/>
          <p:nvPr/>
        </p:nvSpPr>
        <p:spPr>
          <a:xfrm>
            <a:off x="488950" y="1422399"/>
            <a:ext cx="8928100" cy="1139532"/>
          </a:xfrm>
          <a:prstGeom prst="roundRect">
            <a:avLst>
              <a:gd name="adj" fmla="val 7603"/>
            </a:avLst>
          </a:prstGeom>
          <a:noFill/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15" name="사각형: 잘린 위쪽 모서리 14">
            <a:extLst>
              <a:ext uri="{FF2B5EF4-FFF2-40B4-BE49-F238E27FC236}">
                <a16:creationId xmlns:a16="http://schemas.microsoft.com/office/drawing/2014/main" id="{2DC9FE0E-299E-52AA-5EA1-9A860A7173ED}"/>
              </a:ext>
            </a:extLst>
          </p:cNvPr>
          <p:cNvSpPr/>
          <p:nvPr/>
        </p:nvSpPr>
        <p:spPr>
          <a:xfrm rot="16200000">
            <a:off x="564945" y="1346407"/>
            <a:ext cx="1139532" cy="1291518"/>
          </a:xfrm>
          <a:prstGeom prst="snip2SameRect">
            <a:avLst>
              <a:gd name="adj1" fmla="val 5489"/>
              <a:gd name="adj2" fmla="val 0"/>
            </a:avLst>
          </a:prstGeom>
          <a:gradFill>
            <a:gsLst>
              <a:gs pos="21000">
                <a:srgbClr val="063972"/>
              </a:gs>
              <a:gs pos="100000">
                <a:srgbClr val="0966B0"/>
              </a:gs>
            </a:gsLst>
            <a:lin ang="5400000" scaled="1"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b="1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9" name="사각형: 잘린 위쪽 모서리 38">
            <a:extLst>
              <a:ext uri="{FF2B5EF4-FFF2-40B4-BE49-F238E27FC236}">
                <a16:creationId xmlns:a16="http://schemas.microsoft.com/office/drawing/2014/main" id="{AB6D40AD-4A55-7121-5F10-818E2FD898F4}"/>
              </a:ext>
            </a:extLst>
          </p:cNvPr>
          <p:cNvSpPr/>
          <p:nvPr/>
        </p:nvSpPr>
        <p:spPr>
          <a:xfrm rot="16200000">
            <a:off x="73501" y="3018106"/>
            <a:ext cx="2122411" cy="1291514"/>
          </a:xfrm>
          <a:prstGeom prst="snip2SameRect">
            <a:avLst>
              <a:gd name="adj1" fmla="val 5489"/>
              <a:gd name="adj2" fmla="val 0"/>
            </a:avLst>
          </a:prstGeom>
          <a:gradFill>
            <a:gsLst>
              <a:gs pos="21000">
                <a:srgbClr val="063972"/>
              </a:gs>
              <a:gs pos="100000">
                <a:srgbClr val="0966B0"/>
              </a:gs>
            </a:gsLst>
            <a:lin ang="5400000" scaled="1"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b="1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871C47-34A9-D701-8CFB-84CC31C51824}"/>
              </a:ext>
            </a:extLst>
          </p:cNvPr>
          <p:cNvSpPr txBox="1"/>
          <p:nvPr/>
        </p:nvSpPr>
        <p:spPr>
          <a:xfrm>
            <a:off x="488950" y="4765797"/>
            <a:ext cx="8928100" cy="1398365"/>
          </a:xfrm>
          <a:prstGeom prst="roundRect">
            <a:avLst>
              <a:gd name="adj" fmla="val 7603"/>
            </a:avLst>
          </a:prstGeom>
          <a:noFill/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43" name="사각형: 잘린 위쪽 모서리 42">
            <a:extLst>
              <a:ext uri="{FF2B5EF4-FFF2-40B4-BE49-F238E27FC236}">
                <a16:creationId xmlns:a16="http://schemas.microsoft.com/office/drawing/2014/main" id="{1602471B-8DD2-BF6D-B7E7-DE70AF467F2F}"/>
              </a:ext>
            </a:extLst>
          </p:cNvPr>
          <p:cNvSpPr/>
          <p:nvPr/>
        </p:nvSpPr>
        <p:spPr>
          <a:xfrm rot="16200000">
            <a:off x="432708" y="4816404"/>
            <a:ext cx="1404000" cy="1291515"/>
          </a:xfrm>
          <a:prstGeom prst="snip2SameRect">
            <a:avLst>
              <a:gd name="adj1" fmla="val 5489"/>
              <a:gd name="adj2" fmla="val 0"/>
            </a:avLst>
          </a:prstGeom>
          <a:gradFill>
            <a:gsLst>
              <a:gs pos="21000">
                <a:srgbClr val="063972"/>
              </a:gs>
              <a:gs pos="100000">
                <a:srgbClr val="0966B0"/>
              </a:gs>
            </a:gsLst>
            <a:lin ang="5400000" scaled="1"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endParaRPr lang="ko-KR" altLang="en-US" sz="1200" b="1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105297A-3D57-E6E9-3404-5D3037451EBB}"/>
              </a:ext>
            </a:extLst>
          </p:cNvPr>
          <p:cNvSpPr/>
          <p:nvPr/>
        </p:nvSpPr>
        <p:spPr>
          <a:xfrm>
            <a:off x="488949" y="2047032"/>
            <a:ext cx="1291512" cy="491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Aptos" panose="020B0004020202020204" pitchFamily="34" charset="0"/>
              </a:rPr>
              <a:t>Top 3 Factors Associated with Attrition</a:t>
            </a:r>
            <a:endParaRPr lang="ko-KR" altLang="en-US" sz="1000" b="1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7216B54-1607-D4AC-14C0-1C5543D80249}"/>
              </a:ext>
            </a:extLst>
          </p:cNvPr>
          <p:cNvSpPr/>
          <p:nvPr/>
        </p:nvSpPr>
        <p:spPr>
          <a:xfrm>
            <a:off x="488948" y="3647619"/>
            <a:ext cx="1291513" cy="491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Aptos" panose="020B0004020202020204" pitchFamily="34" charset="0"/>
              </a:rPr>
              <a:t>Financial Impact</a:t>
            </a:r>
            <a:endParaRPr lang="ko-KR" altLang="en-US" sz="1000" b="1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D71A2B9-3E5B-A860-6336-FB70C09FCE2C}"/>
              </a:ext>
            </a:extLst>
          </p:cNvPr>
          <p:cNvSpPr/>
          <p:nvPr/>
        </p:nvSpPr>
        <p:spPr>
          <a:xfrm>
            <a:off x="488948" y="5524309"/>
            <a:ext cx="1291515" cy="491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Aptos" panose="020B0004020202020204" pitchFamily="34" charset="0"/>
              </a:rPr>
              <a:t>Conclusions &amp; Recommendations</a:t>
            </a:r>
            <a:endParaRPr lang="ko-KR" altLang="en-US" sz="1000" b="1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B6FD3BF-0502-B524-2F43-0B5261DD6C3C}"/>
              </a:ext>
            </a:extLst>
          </p:cNvPr>
          <p:cNvSpPr/>
          <p:nvPr/>
        </p:nvSpPr>
        <p:spPr>
          <a:xfrm>
            <a:off x="488950" y="1500726"/>
            <a:ext cx="1291511" cy="491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ko-KR" sz="2800" b="1" i="1" dirty="0">
                <a:solidFill>
                  <a:schemeClr val="bg1"/>
                </a:solidFill>
                <a:latin typeface="Aptos" panose="020B0004020202020204" pitchFamily="34" charset="0"/>
              </a:rPr>
              <a:t>01</a:t>
            </a:r>
            <a:endParaRPr lang="ko-KR" altLang="en-US" sz="2800" b="1" i="1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A33F0301-F77C-B23F-F451-A673E60DE71D}"/>
              </a:ext>
            </a:extLst>
          </p:cNvPr>
          <p:cNvSpPr/>
          <p:nvPr/>
        </p:nvSpPr>
        <p:spPr>
          <a:xfrm>
            <a:off x="488950" y="3131931"/>
            <a:ext cx="1291512" cy="491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ko-KR" sz="2800" b="1" i="1" dirty="0">
                <a:solidFill>
                  <a:schemeClr val="bg1"/>
                </a:solidFill>
                <a:latin typeface="Aptos" panose="020B0004020202020204" pitchFamily="34" charset="0"/>
              </a:rPr>
              <a:t>02</a:t>
            </a:r>
            <a:endParaRPr lang="ko-KR" altLang="en-US" sz="2800" b="1" i="1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75B60D4-8913-8D89-2B4D-58CCA6C35AAD}"/>
              </a:ext>
            </a:extLst>
          </p:cNvPr>
          <p:cNvSpPr/>
          <p:nvPr/>
        </p:nvSpPr>
        <p:spPr>
          <a:xfrm>
            <a:off x="488950" y="4944161"/>
            <a:ext cx="1291514" cy="491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altLang="ko-KR" sz="2800" b="1" i="1" dirty="0">
                <a:solidFill>
                  <a:schemeClr val="bg1"/>
                </a:solidFill>
                <a:latin typeface="Aptos" panose="020B0004020202020204" pitchFamily="34" charset="0"/>
              </a:rPr>
              <a:t>03</a:t>
            </a:r>
            <a:endParaRPr lang="ko-KR" altLang="en-US" sz="2800" b="1" i="1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2B6A2EEF-B3A6-8481-1EC4-72467E26204F}"/>
              </a:ext>
            </a:extLst>
          </p:cNvPr>
          <p:cNvCxnSpPr>
            <a:cxnSpLocks/>
          </p:cNvCxnSpPr>
          <p:nvPr/>
        </p:nvCxnSpPr>
        <p:spPr>
          <a:xfrm>
            <a:off x="594711" y="1992166"/>
            <a:ext cx="1080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CDC48F1B-3822-1850-CABB-EB0DA1D00ADE}"/>
              </a:ext>
            </a:extLst>
          </p:cNvPr>
          <p:cNvCxnSpPr>
            <a:cxnSpLocks/>
          </p:cNvCxnSpPr>
          <p:nvPr/>
        </p:nvCxnSpPr>
        <p:spPr>
          <a:xfrm>
            <a:off x="594711" y="3663863"/>
            <a:ext cx="1080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AFF7F216-7ED3-2652-F7B9-925A04841BC8}"/>
              </a:ext>
            </a:extLst>
          </p:cNvPr>
          <p:cNvCxnSpPr>
            <a:cxnSpLocks/>
          </p:cNvCxnSpPr>
          <p:nvPr/>
        </p:nvCxnSpPr>
        <p:spPr>
          <a:xfrm>
            <a:off x="594711" y="5462979"/>
            <a:ext cx="1080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5" name="표 64">
            <a:extLst>
              <a:ext uri="{FF2B5EF4-FFF2-40B4-BE49-F238E27FC236}">
                <a16:creationId xmlns:a16="http://schemas.microsoft.com/office/drawing/2014/main" id="{918A4F1C-382A-6122-1405-521E0C9CD3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203312"/>
              </p:ext>
            </p:extLst>
          </p:nvPr>
        </p:nvGraphicFramePr>
        <p:xfrm>
          <a:off x="1901203" y="2906627"/>
          <a:ext cx="3740150" cy="1411594"/>
        </p:xfrm>
        <a:graphic>
          <a:graphicData uri="http://schemas.openxmlformats.org/drawingml/2006/table">
            <a:tbl>
              <a:tblPr/>
              <a:tblGrid>
                <a:gridCol w="1725398">
                  <a:extLst>
                    <a:ext uri="{9D8B030D-6E8A-4147-A177-3AD203B41FA5}">
                      <a16:colId xmlns:a16="http://schemas.microsoft.com/office/drawing/2014/main" val="481694396"/>
                    </a:ext>
                  </a:extLst>
                </a:gridCol>
                <a:gridCol w="1007376">
                  <a:extLst>
                    <a:ext uri="{9D8B030D-6E8A-4147-A177-3AD203B41FA5}">
                      <a16:colId xmlns:a16="http://schemas.microsoft.com/office/drawing/2014/main" val="283102249"/>
                    </a:ext>
                  </a:extLst>
                </a:gridCol>
                <a:gridCol w="1007376">
                  <a:extLst>
                    <a:ext uri="{9D8B030D-6E8A-4147-A177-3AD203B41FA5}">
                      <a16:colId xmlns:a16="http://schemas.microsoft.com/office/drawing/2014/main" val="2293685672"/>
                    </a:ext>
                  </a:extLst>
                </a:gridCol>
              </a:tblGrid>
              <a:tr h="1803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Item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KNN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Naive Bayes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776941"/>
                  </a:ext>
                </a:extLst>
              </a:tr>
              <a:tr h="18031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Accuracy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77.59%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82.76%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797913"/>
                  </a:ext>
                </a:extLst>
              </a:tr>
              <a:tr h="1751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Sensitivity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71.43%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71.43%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22145"/>
                  </a:ext>
                </a:extLst>
              </a:tr>
              <a:tr h="1751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Specificity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78.77%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84.93%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230594"/>
                  </a:ext>
                </a:extLst>
              </a:tr>
              <a:tr h="1751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F1 Score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50.63%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57.14%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700846"/>
                  </a:ext>
                </a:extLst>
              </a:tr>
              <a:tr h="1751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Employees Flagged (*TP + *FP)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51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42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768313"/>
                  </a:ext>
                </a:extLst>
              </a:tr>
              <a:tr h="1751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Incentive Cost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$ 10,200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$ 8,400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219249"/>
                  </a:ext>
                </a:extLst>
              </a:tr>
              <a:tr h="1751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*FN Total Annual Salary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$ 538,452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$ 569,808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733033"/>
                  </a:ext>
                </a:extLst>
              </a:tr>
            </a:tbl>
          </a:graphicData>
        </a:graphic>
      </p:graphicFrame>
      <p:sp>
        <p:nvSpPr>
          <p:cNvPr id="66" name="TextBox 65">
            <a:extLst>
              <a:ext uri="{FF2B5EF4-FFF2-40B4-BE49-F238E27FC236}">
                <a16:creationId xmlns:a16="http://schemas.microsoft.com/office/drawing/2014/main" id="{238BAA15-7D13-82B4-CA32-4B43B6939BD0}"/>
              </a:ext>
            </a:extLst>
          </p:cNvPr>
          <p:cNvSpPr txBox="1"/>
          <p:nvPr/>
        </p:nvSpPr>
        <p:spPr>
          <a:xfrm>
            <a:off x="1852358" y="2635308"/>
            <a:ext cx="3837841" cy="219017"/>
          </a:xfrm>
          <a:prstGeom prst="snip2SameRect">
            <a:avLst/>
          </a:prstGeom>
          <a:solidFill>
            <a:srgbClr val="53749A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Performance</a:t>
            </a: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1F52C9F-4483-B5A8-74D9-937FB0DC2CF6}"/>
              </a:ext>
            </a:extLst>
          </p:cNvPr>
          <p:cNvSpPr txBox="1"/>
          <p:nvPr/>
        </p:nvSpPr>
        <p:spPr>
          <a:xfrm>
            <a:off x="5739044" y="2854324"/>
            <a:ext cx="3600698" cy="184450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>
              <a:spcAft>
                <a:spcPts val="600"/>
              </a:spcAft>
            </a:pP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DE216C1-F07B-980F-6297-87F522B3E61F}"/>
              </a:ext>
            </a:extLst>
          </p:cNvPr>
          <p:cNvSpPr txBox="1"/>
          <p:nvPr/>
        </p:nvSpPr>
        <p:spPr>
          <a:xfrm>
            <a:off x="5739044" y="2635308"/>
            <a:ext cx="3600698" cy="219017"/>
          </a:xfrm>
          <a:prstGeom prst="snip2SameRect">
            <a:avLst/>
          </a:prstGeom>
          <a:solidFill>
            <a:srgbClr val="53749A"/>
          </a:solidFill>
          <a:ln w="3175">
            <a:solidFill>
              <a:srgbClr val="0091DA"/>
            </a:solidFill>
          </a:ln>
        </p:spPr>
        <p:txBody>
          <a:bodyPr wrap="none" lIns="72000" tIns="0" rIns="0" bIns="0" rtlCol="0" anchor="ctr" anchorCtr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Impact</a:t>
            </a:r>
            <a:endParaRPr lang="ko-KR" altLang="en-US" sz="12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ptos" panose="020B0004020202020204" pitchFamily="34" charset="0"/>
              <a:ea typeface="KoPub돋움체 Medium" panose="00000600000000000000" pitchFamily="2" charset="-127"/>
              <a:cs typeface="Calibri" panose="020F0502020204030204" pitchFamily="34" charset="0"/>
            </a:endParaRPr>
          </a:p>
        </p:txBody>
      </p:sp>
      <p:graphicFrame>
        <p:nvGraphicFramePr>
          <p:cNvPr id="76" name="표 75">
            <a:extLst>
              <a:ext uri="{FF2B5EF4-FFF2-40B4-BE49-F238E27FC236}">
                <a16:creationId xmlns:a16="http://schemas.microsoft.com/office/drawing/2014/main" id="{5948488B-222D-2D49-0738-1ABFDBC542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47793"/>
              </p:ext>
            </p:extLst>
          </p:nvPr>
        </p:nvGraphicFramePr>
        <p:xfrm>
          <a:off x="5795955" y="3179469"/>
          <a:ext cx="3515333" cy="1050525"/>
        </p:xfrm>
        <a:graphic>
          <a:graphicData uri="http://schemas.openxmlformats.org/drawingml/2006/table">
            <a:tbl>
              <a:tblPr/>
              <a:tblGrid>
                <a:gridCol w="1037655">
                  <a:extLst>
                    <a:ext uri="{9D8B030D-6E8A-4147-A177-3AD203B41FA5}">
                      <a16:colId xmlns:a16="http://schemas.microsoft.com/office/drawing/2014/main" val="3663767555"/>
                    </a:ext>
                  </a:extLst>
                </a:gridCol>
                <a:gridCol w="764838">
                  <a:extLst>
                    <a:ext uri="{9D8B030D-6E8A-4147-A177-3AD203B41FA5}">
                      <a16:colId xmlns:a16="http://schemas.microsoft.com/office/drawing/2014/main" val="3530267529"/>
                    </a:ext>
                  </a:extLst>
                </a:gridCol>
                <a:gridCol w="764838">
                  <a:extLst>
                    <a:ext uri="{9D8B030D-6E8A-4147-A177-3AD203B41FA5}">
                      <a16:colId xmlns:a16="http://schemas.microsoft.com/office/drawing/2014/main" val="2505634943"/>
                    </a:ext>
                  </a:extLst>
                </a:gridCol>
                <a:gridCol w="948002">
                  <a:extLst>
                    <a:ext uri="{9D8B030D-6E8A-4147-A177-3AD203B41FA5}">
                      <a16:colId xmlns:a16="http://schemas.microsoft.com/office/drawing/2014/main" val="1541810698"/>
                    </a:ext>
                  </a:extLst>
                </a:gridCol>
              </a:tblGrid>
              <a:tr h="3311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Replacement </a:t>
                      </a:r>
                      <a:b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Cost Assumptions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KNN </a:t>
                      </a:r>
                      <a:b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Total Cost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NB </a:t>
                      </a:r>
                      <a:b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Total Cost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KNN Cost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Advantage vs NB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848710"/>
                  </a:ext>
                </a:extLst>
              </a:tr>
              <a:tr h="1798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50%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$ 279,426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$ 293,304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$ 13,878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3854568"/>
                  </a:ext>
                </a:extLst>
              </a:tr>
              <a:tr h="1798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$ 548,652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$ 578,208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$ 29,556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804664"/>
                  </a:ext>
                </a:extLst>
              </a:tr>
              <a:tr h="1798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200%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$ 1,087,104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$ 1,148,016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$ 60,912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566005"/>
                  </a:ext>
                </a:extLst>
              </a:tr>
              <a:tr h="1798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400%</a:t>
                      </a:r>
                    </a:p>
                  </a:txBody>
                  <a:tcPr marL="3600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$ 2,164,008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$ 2,287,632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맑은 고딕" panose="020B0503020000020004" pitchFamily="50" charset="-127"/>
                        </a:rPr>
                        <a:t>$ 123,624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683419"/>
                  </a:ext>
                </a:extLst>
              </a:tr>
            </a:tbl>
          </a:graphicData>
        </a:graphic>
      </p:graphicFrame>
      <p:sp>
        <p:nvSpPr>
          <p:cNvPr id="88" name="직사각형 87">
            <a:extLst>
              <a:ext uri="{FF2B5EF4-FFF2-40B4-BE49-F238E27FC236}">
                <a16:creationId xmlns:a16="http://schemas.microsoft.com/office/drawing/2014/main" id="{E97D689E-FCDC-3463-0644-E857F14145EE}"/>
              </a:ext>
            </a:extLst>
          </p:cNvPr>
          <p:cNvSpPr/>
          <p:nvPr/>
        </p:nvSpPr>
        <p:spPr>
          <a:xfrm>
            <a:off x="5795955" y="4300075"/>
            <a:ext cx="3481469" cy="3902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Aptos" panose="020B0004020202020204" pitchFamily="34" charset="0"/>
              </a:rPr>
              <a:t>Financial estimates assume that a $200 incentive successfully prevents attrition among correctly identified at-risk employees. Actual retention effectiveness has not been measured.</a:t>
            </a:r>
            <a:endParaRPr lang="ko-KR" altLang="en-US" sz="800" dirty="0" err="1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62244003-AC88-E3CF-E825-4938F6D1E5E6}"/>
              </a:ext>
            </a:extLst>
          </p:cNvPr>
          <p:cNvSpPr/>
          <p:nvPr/>
        </p:nvSpPr>
        <p:spPr>
          <a:xfrm>
            <a:off x="8360263" y="3187005"/>
            <a:ext cx="951025" cy="1050525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2CC81661-401D-E581-DA89-CE5502994608}"/>
              </a:ext>
            </a:extLst>
          </p:cNvPr>
          <p:cNvSpPr/>
          <p:nvPr/>
        </p:nvSpPr>
        <p:spPr>
          <a:xfrm>
            <a:off x="4634430" y="2906628"/>
            <a:ext cx="1006923" cy="1411594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55395BB-3F78-E496-67A5-7B3889785D65}"/>
                  </a:ext>
                </a:extLst>
              </p:cNvPr>
              <p:cNvSpPr txBox="1"/>
              <p:nvPr/>
            </p:nvSpPr>
            <p:spPr>
              <a:xfrm>
                <a:off x="5795955" y="2891238"/>
                <a:ext cx="348146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 anchorCtr="0">
                <a:noAutofit/>
              </a:bodyPr>
              <a:lstStyle/>
              <a:p>
                <a:pPr algn="ctr"/>
                <a:r>
                  <a:rPr lang="en-US" altLang="ko-KR" sz="700" b="1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Total Cost = Incentive Cost + FN Total Annual Salary </a:t>
                </a:r>
                <a14:m>
                  <m:oMath xmlns:m="http://schemas.openxmlformats.org/officeDocument/2006/math">
                    <m:r>
                      <a:rPr lang="en-US" altLang="ko-KR" sz="7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sz="700" b="1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 Replacement Cost Assumptions</a:t>
                </a:r>
              </a:p>
              <a:p>
                <a:pPr algn="ctr"/>
                <a:r>
                  <a:rPr lang="en-US" altLang="ko-KR" sz="700" b="1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Annual Salary = Monthly Income × 12</a:t>
                </a: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55395BB-3F78-E496-67A5-7B3889785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955" y="2891238"/>
                <a:ext cx="3481469" cy="215444"/>
              </a:xfrm>
              <a:prstGeom prst="rect">
                <a:avLst/>
              </a:prstGeom>
              <a:blipFill>
                <a:blip r:embed="rId3"/>
                <a:stretch>
                  <a:fillRect l="-1751" t="-13889" r="-1576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직사각형 93">
            <a:extLst>
              <a:ext uri="{FF2B5EF4-FFF2-40B4-BE49-F238E27FC236}">
                <a16:creationId xmlns:a16="http://schemas.microsoft.com/office/drawing/2014/main" id="{BD7FF2E6-148D-CBC7-EF9B-FC4CE06853F7}"/>
              </a:ext>
            </a:extLst>
          </p:cNvPr>
          <p:cNvSpPr/>
          <p:nvPr/>
        </p:nvSpPr>
        <p:spPr>
          <a:xfrm>
            <a:off x="1901203" y="4370524"/>
            <a:ext cx="3740150" cy="3198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r>
              <a:rPr lang="en-US" altLang="ko-KR" sz="700" dirty="0">
                <a:solidFill>
                  <a:schemeClr val="tx1"/>
                </a:solidFill>
                <a:latin typeface="Aptos" panose="020B0004020202020204" pitchFamily="34" charset="0"/>
              </a:rPr>
              <a:t>*TP (True Positive): Employees correctly predicted to leave, *FP (False Positive): Employees predicted to leave but who actually stayed, *FN (False Negative): Employees predicted to stay but who actually left, *TN (True Negative): Employees correctly predicted to stay.</a:t>
            </a:r>
            <a:endParaRPr lang="ko-KR" altLang="en-US" sz="700" dirty="0" err="1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354F07D3-9F16-367A-94E2-3A2056241ED6}"/>
              </a:ext>
            </a:extLst>
          </p:cNvPr>
          <p:cNvSpPr/>
          <p:nvPr/>
        </p:nvSpPr>
        <p:spPr>
          <a:xfrm>
            <a:off x="1852356" y="1785451"/>
            <a:ext cx="7487386" cy="407388"/>
          </a:xfrm>
          <a:prstGeom prst="roundRect">
            <a:avLst>
              <a:gd name="adj" fmla="val 8906"/>
            </a:avLst>
          </a:prstGeom>
          <a:solidFill>
            <a:srgbClr val="F2F9FF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27064805-EFB1-9219-0ADD-61974EF4372C}"/>
              </a:ext>
            </a:extLst>
          </p:cNvPr>
          <p:cNvSpPr/>
          <p:nvPr/>
        </p:nvSpPr>
        <p:spPr>
          <a:xfrm>
            <a:off x="1852356" y="2209180"/>
            <a:ext cx="7487386" cy="324000"/>
          </a:xfrm>
          <a:prstGeom prst="roundRect">
            <a:avLst>
              <a:gd name="adj" fmla="val 8906"/>
            </a:avLst>
          </a:prstGeom>
          <a:solidFill>
            <a:srgbClr val="F2F9FF"/>
          </a:solidFill>
          <a:ln w="3175">
            <a:solidFill>
              <a:srgbClr val="0091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9FD4688A-806B-354D-EFCB-D92F4AFEB6F4}"/>
              </a:ext>
            </a:extLst>
          </p:cNvPr>
          <p:cNvSpPr/>
          <p:nvPr/>
        </p:nvSpPr>
        <p:spPr>
          <a:xfrm>
            <a:off x="1901203" y="1837754"/>
            <a:ext cx="1224000" cy="3027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r>
              <a:rPr lang="en-US" altLang="ko-KR" sz="1100" b="1" dirty="0">
                <a:solidFill>
                  <a:schemeClr val="tx1"/>
                </a:solidFill>
                <a:latin typeface="Aptos" panose="020B0004020202020204" pitchFamily="34" charset="0"/>
              </a:rPr>
              <a:t>Job Involvement</a:t>
            </a:r>
            <a:endParaRPr lang="ko-KR" altLang="en-US" sz="1100" b="1" dirty="0" err="1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D0E852DC-2704-7BD8-FCDF-E88D521B8A49}"/>
              </a:ext>
            </a:extLst>
          </p:cNvPr>
          <p:cNvSpPr/>
          <p:nvPr/>
        </p:nvSpPr>
        <p:spPr>
          <a:xfrm>
            <a:off x="1901203" y="2219789"/>
            <a:ext cx="1224000" cy="3027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r>
              <a:rPr lang="en-US" altLang="ko-KR" sz="1100" b="1" dirty="0">
                <a:solidFill>
                  <a:schemeClr val="tx1"/>
                </a:solidFill>
                <a:latin typeface="Aptos" panose="020B0004020202020204" pitchFamily="34" charset="0"/>
              </a:rPr>
              <a:t>Job Role</a:t>
            </a:r>
            <a:endParaRPr lang="ko-KR" altLang="en-US" sz="1100" b="1" dirty="0" err="1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F34A46FE-65A4-A2D2-60C4-D0C4BCB68EAA}"/>
              </a:ext>
            </a:extLst>
          </p:cNvPr>
          <p:cNvGrpSpPr/>
          <p:nvPr/>
        </p:nvGrpSpPr>
        <p:grpSpPr>
          <a:xfrm>
            <a:off x="1852356" y="1444962"/>
            <a:ext cx="7487386" cy="324000"/>
            <a:chOff x="1852356" y="1444962"/>
            <a:chExt cx="7487386" cy="324000"/>
          </a:xfrm>
        </p:grpSpPr>
        <p:sp>
          <p:nvSpPr>
            <p:cNvPr id="95" name="사각형: 둥근 모서리 94">
              <a:extLst>
                <a:ext uri="{FF2B5EF4-FFF2-40B4-BE49-F238E27FC236}">
                  <a16:creationId xmlns:a16="http://schemas.microsoft.com/office/drawing/2014/main" id="{CD23D64E-6E60-E5EC-32AF-158C7E649AF1}"/>
                </a:ext>
              </a:extLst>
            </p:cNvPr>
            <p:cNvSpPr/>
            <p:nvPr/>
          </p:nvSpPr>
          <p:spPr>
            <a:xfrm>
              <a:off x="1852356" y="1444962"/>
              <a:ext cx="7487386" cy="324000"/>
            </a:xfrm>
            <a:prstGeom prst="roundRect">
              <a:avLst>
                <a:gd name="adj" fmla="val 8906"/>
              </a:avLst>
            </a:prstGeom>
            <a:solidFill>
              <a:srgbClr val="F2F9FF"/>
            </a:solidFill>
            <a:ln w="3175">
              <a:solidFill>
                <a:srgbClr val="0091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/>
            <a:lstStyle/>
            <a:p>
              <a:pPr algn="ctr"/>
              <a:endParaRPr lang="ko-KR" altLang="en-US" sz="900" dirty="0" err="1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1B628535-0C07-93A4-80B3-B4F30B63FA61}"/>
                </a:ext>
              </a:extLst>
            </p:cNvPr>
            <p:cNvSpPr/>
            <p:nvPr/>
          </p:nvSpPr>
          <p:spPr>
            <a:xfrm>
              <a:off x="1901203" y="1455571"/>
              <a:ext cx="1224000" cy="3027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/>
            <a:lstStyle/>
            <a:p>
              <a:r>
                <a:rPr lang="en-US" altLang="ko-KR" sz="1100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Overtime</a:t>
              </a:r>
              <a:endParaRPr lang="ko-KR" altLang="en-US" sz="1100" b="1" dirty="0" err="1">
                <a:solidFill>
                  <a:schemeClr val="tx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B89419CE-1EB8-8FDB-5D5F-14B7901939FA}"/>
                </a:ext>
              </a:extLst>
            </p:cNvPr>
            <p:cNvSpPr/>
            <p:nvPr/>
          </p:nvSpPr>
          <p:spPr>
            <a:xfrm>
              <a:off x="3349002" y="1455571"/>
              <a:ext cx="5928421" cy="3027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54000" rIns="54000" bIns="54000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altLang="ko-KR" sz="900" dirty="0">
                  <a:solidFill>
                    <a:schemeClr val="tx1"/>
                  </a:solidFill>
                  <a:latin typeface="Aptos" panose="020B0004020202020204" pitchFamily="34" charset="0"/>
                </a:rPr>
                <a:t>Employees working overtime exhibited a 31.7% attrition rate, compared with 9.7% among those without overtime, highlighting overtime as a key indicator of elevated turnover risk.</a:t>
              </a:r>
              <a:endParaRPr lang="ko-KR" altLang="en-US" sz="900" dirty="0" err="1">
                <a:solidFill>
                  <a:schemeClr val="tx1"/>
                </a:solidFill>
                <a:latin typeface="Aptos" panose="020B0004020202020204" pitchFamily="34" charset="0"/>
              </a:endParaRPr>
            </a:p>
          </p:txBody>
        </p:sp>
      </p:grp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73EE7509-2E3A-DBD4-E61C-2F3E0AA4B84E}"/>
              </a:ext>
            </a:extLst>
          </p:cNvPr>
          <p:cNvSpPr/>
          <p:nvPr/>
        </p:nvSpPr>
        <p:spPr>
          <a:xfrm>
            <a:off x="3349002" y="1837754"/>
            <a:ext cx="5928421" cy="3027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900" dirty="0">
                <a:solidFill>
                  <a:schemeClr val="tx1"/>
                </a:solidFill>
                <a:latin typeface="Aptos" panose="020B0004020202020204" pitchFamily="34" charset="0"/>
              </a:rPr>
              <a:t>Employees with the lowest job involvement experienced a 46.8% attrition rate, compared with 8.6% among those with the highest involvement, representing a 38.2 percentage-point difference.</a:t>
            </a:r>
            <a:endParaRPr lang="ko-KR" altLang="en-US" sz="900" dirty="0" err="1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B2B4BD8E-338B-ECF4-AB2E-362264B67563}"/>
              </a:ext>
            </a:extLst>
          </p:cNvPr>
          <p:cNvSpPr/>
          <p:nvPr/>
        </p:nvSpPr>
        <p:spPr>
          <a:xfrm>
            <a:off x="3349002" y="2219789"/>
            <a:ext cx="5928421" cy="3027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900" dirty="0">
                <a:solidFill>
                  <a:schemeClr val="tx1"/>
                </a:solidFill>
                <a:latin typeface="Aptos" panose="020B0004020202020204" pitchFamily="34" charset="0"/>
              </a:rPr>
              <a:t>Sales Representatives recorded a 45.3% attrition rate, indicating that turnover risk varies considerably across job roles and supporting the need for role-specific retention strategies.</a:t>
            </a:r>
            <a:endParaRPr lang="ko-KR" altLang="en-US" sz="900" dirty="0" err="1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08" name="Rectangle 2">
            <a:extLst>
              <a:ext uri="{FF2B5EF4-FFF2-40B4-BE49-F238E27FC236}">
                <a16:creationId xmlns:a16="http://schemas.microsoft.com/office/drawing/2014/main" id="{F8927765-5027-A74C-8E96-AFD307AD9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299" y="4797858"/>
            <a:ext cx="7534751" cy="1331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00338D"/>
                </a:solidFill>
                <a:effectLst/>
                <a:latin typeface="Aptos" panose="020B0004020202020204" pitchFamily="34" charset="0"/>
              </a:rPr>
              <a:t>1. 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00338D"/>
                </a:solidFill>
                <a:effectLst/>
                <a:latin typeface="Aptos" panose="020B0004020202020204" pitchFamily="34" charset="0"/>
              </a:rPr>
              <a:t>Conclusion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00338D"/>
                </a:solidFill>
                <a:effectLst/>
                <a:latin typeface="Aptos" panose="020B0004020202020204" pitchFamily="34" charset="0"/>
              </a:rPr>
              <a:t> | 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00338D"/>
                </a:solidFill>
                <a:effectLst/>
                <a:latin typeface="Aptos" panose="020B0004020202020204" pitchFamily="34" charset="0"/>
              </a:rPr>
              <a:t>Transition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00338D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00338D"/>
                </a:solidFill>
                <a:effectLst/>
                <a:latin typeface="Aptos" panose="020B0004020202020204" pitchFamily="34" charset="0"/>
              </a:rPr>
              <a:t>to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00338D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00338D"/>
                </a:solidFill>
                <a:effectLst/>
                <a:latin typeface="Aptos" panose="020B0004020202020204" pitchFamily="34" charset="0"/>
              </a:rPr>
              <a:t>Proactive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00338D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00338D"/>
                </a:solidFill>
                <a:effectLst/>
                <a:latin typeface="Aptos" panose="020B0004020202020204" pitchFamily="34" charset="0"/>
              </a:rPr>
              <a:t>Retention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00338D"/>
                </a:solidFill>
                <a:effectLst/>
                <a:latin typeface="Aptos" panose="020B0004020202020204" pitchFamily="34" charset="0"/>
              </a:rPr>
              <a:t> Management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rgbClr val="00338D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The analysis demonstrates that workforce data can identify meaningful attrition risk patterns and support predictive models, creating a foundation for shifting from reactive turnover management to proactive, evidence-based retention strategies.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50" dirty="0"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100" b="1" dirty="0">
                <a:solidFill>
                  <a:srgbClr val="00338D"/>
                </a:solidFill>
                <a:latin typeface="Aptos" panose="020B0004020202020204" pitchFamily="34" charset="0"/>
              </a:rPr>
              <a:t>2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00338D"/>
                </a:solidFill>
                <a:effectLst/>
                <a:latin typeface="Aptos" panose="020B0004020202020204" pitchFamily="34" charset="0"/>
              </a:rPr>
              <a:t>. 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00338D"/>
                </a:solidFill>
                <a:effectLst/>
                <a:latin typeface="Aptos" panose="020B0004020202020204" pitchFamily="34" charset="0"/>
              </a:rPr>
              <a:t>Recommendation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00338D"/>
                </a:solidFill>
                <a:effectLst/>
                <a:latin typeface="Aptos" panose="020B0004020202020204" pitchFamily="34" charset="0"/>
              </a:rPr>
              <a:t> | 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00338D"/>
                </a:solidFill>
                <a:effectLst/>
                <a:latin typeface="Aptos" panose="020B0004020202020204" pitchFamily="34" charset="0"/>
              </a:rPr>
              <a:t>Pilot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00338D"/>
                </a:solidFill>
                <a:effectLst/>
                <a:latin typeface="Aptos" panose="020B0004020202020204" pitchFamily="34" charset="0"/>
              </a:rPr>
              <a:t>, 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00338D"/>
                </a:solidFill>
                <a:effectLst/>
                <a:latin typeface="Aptos" panose="020B0004020202020204" pitchFamily="34" charset="0"/>
              </a:rPr>
              <a:t>Measure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00338D"/>
                </a:solidFill>
                <a:effectLst/>
                <a:latin typeface="Aptos" panose="020B0004020202020204" pitchFamily="34" charset="0"/>
              </a:rPr>
              <a:t>, and 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00338D"/>
                </a:solidFill>
                <a:effectLst/>
                <a:latin typeface="Aptos" panose="020B0004020202020204" pitchFamily="34" charset="0"/>
              </a:rPr>
              <a:t>Scale</a:t>
            </a:r>
            <a:endParaRPr kumimoji="0" lang="en-US" altLang="ko-KR" sz="1100" b="1" i="0" u="none" strike="noStrike" cap="none" normalizeH="0" baseline="0" dirty="0">
              <a:ln>
                <a:noFill/>
              </a:ln>
              <a:solidFill>
                <a:srgbClr val="00338D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Pilot Naive Bayes as the initial risk identification model based on its stronger classification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Target interventions toward key attrition-related factors, measure actual retention outcomes and financial returns, and scale only after demonstrating effectiveness.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369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73" grpId="0" animBg="1"/>
      <p:bldP spid="35" grpId="0" animBg="1"/>
      <p:bldP spid="15" grpId="0" animBg="1"/>
      <p:bldP spid="39" grpId="0" animBg="1"/>
      <p:bldP spid="41" grpId="0" animBg="1"/>
      <p:bldP spid="43" grpId="0" animBg="1"/>
      <p:bldP spid="49" grpId="0"/>
      <p:bldP spid="50" grpId="0"/>
      <p:bldP spid="52" grpId="0"/>
      <p:bldP spid="53" grpId="0"/>
      <p:bldP spid="54" grpId="0"/>
      <p:bldP spid="55" grpId="0"/>
      <p:bldP spid="66" grpId="0" animBg="1"/>
      <p:bldP spid="74" grpId="0" animBg="1"/>
      <p:bldP spid="75" grpId="0" animBg="1"/>
      <p:bldP spid="88" grpId="0"/>
      <p:bldP spid="89" grpId="0" animBg="1"/>
      <p:bldP spid="90" grpId="0" animBg="1"/>
      <p:bldP spid="93" grpId="0"/>
      <p:bldP spid="94" grpId="0"/>
      <p:bldP spid="99" grpId="0" animBg="1"/>
      <p:bldP spid="100" grpId="0" animBg="1"/>
      <p:bldP spid="101" grpId="0"/>
      <p:bldP spid="102" grpId="0"/>
      <p:bldP spid="104" grpId="0"/>
      <p:bldP spid="105" grpId="0"/>
      <p:bldP spid="10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A194E-5910-A6E8-7813-3E90CABD1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3">
            <a:extLst>
              <a:ext uri="{FF2B5EF4-FFF2-40B4-BE49-F238E27FC236}">
                <a16:creationId xmlns:a16="http://schemas.microsoft.com/office/drawing/2014/main" id="{6C40124B-B7A1-EE74-1842-2C8354C81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372476"/>
              </p:ext>
            </p:extLst>
          </p:nvPr>
        </p:nvGraphicFramePr>
        <p:xfrm>
          <a:off x="1004207" y="2534970"/>
          <a:ext cx="7571977" cy="2687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6733">
                  <a:extLst>
                    <a:ext uri="{9D8B030D-6E8A-4147-A177-3AD203B41FA5}">
                      <a16:colId xmlns:a16="http://schemas.microsoft.com/office/drawing/2014/main" val="694772892"/>
                    </a:ext>
                  </a:extLst>
                </a:gridCol>
                <a:gridCol w="6975244">
                  <a:extLst>
                    <a:ext uri="{9D8B030D-6E8A-4147-A177-3AD203B41FA5}">
                      <a16:colId xmlns:a16="http://schemas.microsoft.com/office/drawing/2014/main" val="1726739505"/>
                    </a:ext>
                  </a:extLst>
                </a:gridCol>
              </a:tblGrid>
              <a:tr h="537497">
                <a:tc>
                  <a:txBody>
                    <a:bodyPr/>
                    <a:lstStyle/>
                    <a:p>
                      <a:pPr marL="12700" marR="5080" lvl="1" indent="-185738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Ⅰ.</a:t>
                      </a:r>
                      <a:endParaRPr lang="ko-KR" altLang="en-US" sz="2000" b="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700" marR="5080" lvl="1" indent="-185738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Dataset Overview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612474"/>
                  </a:ext>
                </a:extLst>
              </a:tr>
              <a:tr h="537497">
                <a:tc>
                  <a:txBody>
                    <a:bodyPr/>
                    <a:lstStyle/>
                    <a:p>
                      <a:pPr marL="12700" marR="5080" lvl="1" indent="-185738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Ⅱ.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700" marR="5080" lvl="1" indent="-185738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Exploratory Data Analysis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8481722"/>
                  </a:ext>
                </a:extLst>
              </a:tr>
              <a:tr h="537497">
                <a:tc>
                  <a:txBody>
                    <a:bodyPr/>
                    <a:lstStyle/>
                    <a:p>
                      <a:pPr marL="12700" marR="5080" lvl="1" indent="-185738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III.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700" marR="5080" lvl="1" indent="-185738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Predictive Modeling (KNN &amp; Naive Bayes)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1305908"/>
                  </a:ext>
                </a:extLst>
              </a:tr>
              <a:tr h="537497">
                <a:tc>
                  <a:txBody>
                    <a:bodyPr/>
                    <a:lstStyle/>
                    <a:p>
                      <a:pPr marL="12700" marR="5080" lvl="1" indent="-185738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IV.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700" marR="5080" lvl="1" indent="-185738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Conclusions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3546442"/>
                  </a:ext>
                </a:extLst>
              </a:tr>
              <a:tr h="537497">
                <a:tc>
                  <a:txBody>
                    <a:bodyPr/>
                    <a:lstStyle/>
                    <a:p>
                      <a:pPr marL="12700" marR="5080" lvl="1" indent="-185738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V.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700" marR="5080" lvl="1" indent="-185738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tx2"/>
                        </a:buClr>
                        <a:buSzPct val="85000"/>
                        <a:buFont typeface="Univers for KPMG" pitchFamily="2" charset="2"/>
                        <a:buNone/>
                        <a:tabLst/>
                        <a:defRPr/>
                      </a:pPr>
                      <a:r>
                        <a:rPr lang="en-US" altLang="ko-KR" sz="20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latin typeface="+mj-ea"/>
                          <a:ea typeface="+mj-ea"/>
                          <a:cs typeface="+mn-cs"/>
                        </a:rPr>
                        <a:t>Appendix</a:t>
                      </a:r>
                      <a:endParaRPr lang="ko-KR" altLang="en-US" sz="20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3833752"/>
                  </a:ext>
                </a:extLst>
              </a:tr>
            </a:tbl>
          </a:graphicData>
        </a:graphic>
      </p:graphicFrame>
      <p:sp>
        <p:nvSpPr>
          <p:cNvPr id="3" name="Freeform 48">
            <a:extLst>
              <a:ext uri="{FF2B5EF4-FFF2-40B4-BE49-F238E27FC236}">
                <a16:creationId xmlns:a16="http://schemas.microsoft.com/office/drawing/2014/main" id="{8EC78A1B-914B-B787-25AA-8281064F8D91}"/>
              </a:ext>
            </a:extLst>
          </p:cNvPr>
          <p:cNvSpPr>
            <a:spLocks noChangeAspect="1"/>
          </p:cNvSpPr>
          <p:nvPr/>
        </p:nvSpPr>
        <p:spPr bwMode="auto">
          <a:xfrm>
            <a:off x="739362" y="4657427"/>
            <a:ext cx="529689" cy="452901"/>
          </a:xfrm>
          <a:custGeom>
            <a:avLst/>
            <a:gdLst/>
            <a:ahLst/>
            <a:cxnLst>
              <a:cxn ang="0">
                <a:pos x="207" y="2051"/>
              </a:cxn>
              <a:cxn ang="0">
                <a:pos x="502" y="2433"/>
              </a:cxn>
              <a:cxn ang="0">
                <a:pos x="858" y="2991"/>
              </a:cxn>
              <a:cxn ang="0">
                <a:pos x="1017" y="3151"/>
              </a:cxn>
              <a:cxn ang="0">
                <a:pos x="1189" y="3228"/>
              </a:cxn>
              <a:cxn ang="0">
                <a:pos x="1367" y="3299"/>
              </a:cxn>
              <a:cxn ang="0">
                <a:pos x="1698" y="3417"/>
              </a:cxn>
              <a:cxn ang="0">
                <a:pos x="1841" y="3460"/>
              </a:cxn>
              <a:cxn ang="0">
                <a:pos x="1884" y="3348"/>
              </a:cxn>
              <a:cxn ang="0">
                <a:pos x="2042" y="3108"/>
              </a:cxn>
              <a:cxn ang="0">
                <a:pos x="2181" y="2716"/>
              </a:cxn>
              <a:cxn ang="0">
                <a:pos x="2374" y="2396"/>
              </a:cxn>
              <a:cxn ang="0">
                <a:pos x="2501" y="2216"/>
              </a:cxn>
              <a:cxn ang="0">
                <a:pos x="2634" y="2126"/>
              </a:cxn>
              <a:cxn ang="0">
                <a:pos x="2725" y="2021"/>
              </a:cxn>
              <a:cxn ang="0">
                <a:pos x="2985" y="1743"/>
              </a:cxn>
              <a:cxn ang="0">
                <a:pos x="3350" y="1385"/>
              </a:cxn>
              <a:cxn ang="0">
                <a:pos x="3764" y="1076"/>
              </a:cxn>
              <a:cxn ang="0">
                <a:pos x="3975" y="956"/>
              </a:cxn>
              <a:cxn ang="0">
                <a:pos x="4166" y="801"/>
              </a:cxn>
              <a:cxn ang="0">
                <a:pos x="4276" y="746"/>
              </a:cxn>
              <a:cxn ang="0">
                <a:pos x="4452" y="590"/>
              </a:cxn>
              <a:cxn ang="0">
                <a:pos x="4597" y="435"/>
              </a:cxn>
              <a:cxn ang="0">
                <a:pos x="4745" y="341"/>
              </a:cxn>
              <a:cxn ang="0">
                <a:pos x="4873" y="280"/>
              </a:cxn>
              <a:cxn ang="0">
                <a:pos x="4849" y="246"/>
              </a:cxn>
              <a:cxn ang="0">
                <a:pos x="4761" y="283"/>
              </a:cxn>
              <a:cxn ang="0">
                <a:pos x="4662" y="363"/>
              </a:cxn>
              <a:cxn ang="0">
                <a:pos x="4441" y="517"/>
              </a:cxn>
              <a:cxn ang="0">
                <a:pos x="4314" y="546"/>
              </a:cxn>
              <a:cxn ang="0">
                <a:pos x="3938" y="816"/>
              </a:cxn>
              <a:cxn ang="0">
                <a:pos x="4014" y="708"/>
              </a:cxn>
              <a:cxn ang="0">
                <a:pos x="4113" y="626"/>
              </a:cxn>
              <a:cxn ang="0">
                <a:pos x="4233" y="505"/>
              </a:cxn>
              <a:cxn ang="0">
                <a:pos x="4255" y="426"/>
              </a:cxn>
              <a:cxn ang="0">
                <a:pos x="4389" y="289"/>
              </a:cxn>
              <a:cxn ang="0">
                <a:pos x="4204" y="343"/>
              </a:cxn>
              <a:cxn ang="0">
                <a:pos x="4366" y="200"/>
              </a:cxn>
              <a:cxn ang="0">
                <a:pos x="4322" y="169"/>
              </a:cxn>
              <a:cxn ang="0">
                <a:pos x="4208" y="279"/>
              </a:cxn>
              <a:cxn ang="0">
                <a:pos x="4203" y="163"/>
              </a:cxn>
              <a:cxn ang="0">
                <a:pos x="4289" y="48"/>
              </a:cxn>
              <a:cxn ang="0">
                <a:pos x="4191" y="26"/>
              </a:cxn>
              <a:cxn ang="0">
                <a:pos x="4085" y="136"/>
              </a:cxn>
              <a:cxn ang="0">
                <a:pos x="3828" y="287"/>
              </a:cxn>
              <a:cxn ang="0">
                <a:pos x="3122" y="783"/>
              </a:cxn>
              <a:cxn ang="0">
                <a:pos x="3124" y="739"/>
              </a:cxn>
              <a:cxn ang="0">
                <a:pos x="3171" y="677"/>
              </a:cxn>
              <a:cxn ang="0">
                <a:pos x="3862" y="221"/>
              </a:cxn>
              <a:cxn ang="0">
                <a:pos x="3913" y="142"/>
              </a:cxn>
              <a:cxn ang="0">
                <a:pos x="3668" y="242"/>
              </a:cxn>
              <a:cxn ang="0">
                <a:pos x="3225" y="529"/>
              </a:cxn>
              <a:cxn ang="0">
                <a:pos x="2781" y="836"/>
              </a:cxn>
              <a:cxn ang="0">
                <a:pos x="2153" y="1280"/>
              </a:cxn>
              <a:cxn ang="0">
                <a:pos x="1865" y="1621"/>
              </a:cxn>
              <a:cxn ang="0">
                <a:pos x="1577" y="1928"/>
              </a:cxn>
              <a:cxn ang="0">
                <a:pos x="1301" y="2011"/>
              </a:cxn>
              <a:cxn ang="0">
                <a:pos x="1036" y="1486"/>
              </a:cxn>
              <a:cxn ang="0">
                <a:pos x="740" y="1512"/>
              </a:cxn>
              <a:cxn ang="0">
                <a:pos x="512" y="1607"/>
              </a:cxn>
              <a:cxn ang="0">
                <a:pos x="237" y="1696"/>
              </a:cxn>
            </a:cxnLst>
            <a:rect l="0" t="0" r="r" b="b"/>
            <a:pathLst>
              <a:path w="4933" h="3474">
                <a:moveTo>
                  <a:pt x="0" y="1838"/>
                </a:moveTo>
                <a:lnTo>
                  <a:pt x="12" y="1853"/>
                </a:lnTo>
                <a:lnTo>
                  <a:pt x="25" y="1869"/>
                </a:lnTo>
                <a:lnTo>
                  <a:pt x="38" y="1884"/>
                </a:lnTo>
                <a:lnTo>
                  <a:pt x="53" y="1900"/>
                </a:lnTo>
                <a:lnTo>
                  <a:pt x="68" y="1914"/>
                </a:lnTo>
                <a:lnTo>
                  <a:pt x="83" y="1931"/>
                </a:lnTo>
                <a:lnTo>
                  <a:pt x="100" y="1946"/>
                </a:lnTo>
                <a:lnTo>
                  <a:pt x="116" y="1960"/>
                </a:lnTo>
                <a:lnTo>
                  <a:pt x="132" y="1976"/>
                </a:lnTo>
                <a:lnTo>
                  <a:pt x="148" y="1990"/>
                </a:lnTo>
                <a:lnTo>
                  <a:pt x="162" y="2005"/>
                </a:lnTo>
                <a:lnTo>
                  <a:pt x="179" y="2021"/>
                </a:lnTo>
                <a:lnTo>
                  <a:pt x="193" y="2036"/>
                </a:lnTo>
                <a:lnTo>
                  <a:pt x="207" y="2051"/>
                </a:lnTo>
                <a:lnTo>
                  <a:pt x="220" y="2066"/>
                </a:lnTo>
                <a:lnTo>
                  <a:pt x="231" y="2082"/>
                </a:lnTo>
                <a:lnTo>
                  <a:pt x="245" y="2110"/>
                </a:lnTo>
                <a:lnTo>
                  <a:pt x="262" y="2133"/>
                </a:lnTo>
                <a:lnTo>
                  <a:pt x="282" y="2151"/>
                </a:lnTo>
                <a:lnTo>
                  <a:pt x="302" y="2168"/>
                </a:lnTo>
                <a:lnTo>
                  <a:pt x="323" y="2184"/>
                </a:lnTo>
                <a:lnTo>
                  <a:pt x="343" y="2202"/>
                </a:lnTo>
                <a:lnTo>
                  <a:pt x="361" y="2224"/>
                </a:lnTo>
                <a:lnTo>
                  <a:pt x="376" y="2251"/>
                </a:lnTo>
                <a:lnTo>
                  <a:pt x="392" y="2280"/>
                </a:lnTo>
                <a:lnTo>
                  <a:pt x="416" y="2314"/>
                </a:lnTo>
                <a:lnTo>
                  <a:pt x="443" y="2352"/>
                </a:lnTo>
                <a:lnTo>
                  <a:pt x="472" y="2393"/>
                </a:lnTo>
                <a:lnTo>
                  <a:pt x="502" y="2433"/>
                </a:lnTo>
                <a:lnTo>
                  <a:pt x="529" y="2470"/>
                </a:lnTo>
                <a:lnTo>
                  <a:pt x="552" y="2504"/>
                </a:lnTo>
                <a:lnTo>
                  <a:pt x="571" y="2532"/>
                </a:lnTo>
                <a:lnTo>
                  <a:pt x="582" y="2555"/>
                </a:lnTo>
                <a:lnTo>
                  <a:pt x="599" y="2583"/>
                </a:lnTo>
                <a:lnTo>
                  <a:pt x="618" y="2617"/>
                </a:lnTo>
                <a:lnTo>
                  <a:pt x="640" y="2652"/>
                </a:lnTo>
                <a:lnTo>
                  <a:pt x="665" y="2693"/>
                </a:lnTo>
                <a:lnTo>
                  <a:pt x="691" y="2734"/>
                </a:lnTo>
                <a:lnTo>
                  <a:pt x="720" y="2778"/>
                </a:lnTo>
                <a:lnTo>
                  <a:pt x="750" y="2822"/>
                </a:lnTo>
                <a:lnTo>
                  <a:pt x="777" y="2866"/>
                </a:lnTo>
                <a:lnTo>
                  <a:pt x="806" y="2910"/>
                </a:lnTo>
                <a:lnTo>
                  <a:pt x="833" y="2952"/>
                </a:lnTo>
                <a:lnTo>
                  <a:pt x="858" y="2991"/>
                </a:lnTo>
                <a:lnTo>
                  <a:pt x="881" y="3027"/>
                </a:lnTo>
                <a:lnTo>
                  <a:pt x="900" y="3059"/>
                </a:lnTo>
                <a:lnTo>
                  <a:pt x="917" y="3088"/>
                </a:lnTo>
                <a:lnTo>
                  <a:pt x="929" y="3110"/>
                </a:lnTo>
                <a:lnTo>
                  <a:pt x="940" y="3112"/>
                </a:lnTo>
                <a:lnTo>
                  <a:pt x="950" y="3113"/>
                </a:lnTo>
                <a:lnTo>
                  <a:pt x="960" y="3115"/>
                </a:lnTo>
                <a:lnTo>
                  <a:pt x="969" y="3117"/>
                </a:lnTo>
                <a:lnTo>
                  <a:pt x="980" y="3117"/>
                </a:lnTo>
                <a:lnTo>
                  <a:pt x="991" y="3120"/>
                </a:lnTo>
                <a:lnTo>
                  <a:pt x="1000" y="3121"/>
                </a:lnTo>
                <a:lnTo>
                  <a:pt x="1010" y="3123"/>
                </a:lnTo>
                <a:lnTo>
                  <a:pt x="1012" y="3133"/>
                </a:lnTo>
                <a:lnTo>
                  <a:pt x="1015" y="3142"/>
                </a:lnTo>
                <a:lnTo>
                  <a:pt x="1017" y="3151"/>
                </a:lnTo>
                <a:lnTo>
                  <a:pt x="1019" y="3162"/>
                </a:lnTo>
                <a:lnTo>
                  <a:pt x="1029" y="3162"/>
                </a:lnTo>
                <a:lnTo>
                  <a:pt x="1037" y="3164"/>
                </a:lnTo>
                <a:lnTo>
                  <a:pt x="1046" y="3165"/>
                </a:lnTo>
                <a:lnTo>
                  <a:pt x="1055" y="3166"/>
                </a:lnTo>
                <a:lnTo>
                  <a:pt x="1064" y="3169"/>
                </a:lnTo>
                <a:lnTo>
                  <a:pt x="1073" y="3170"/>
                </a:lnTo>
                <a:lnTo>
                  <a:pt x="1083" y="3171"/>
                </a:lnTo>
                <a:lnTo>
                  <a:pt x="1091" y="3172"/>
                </a:lnTo>
                <a:lnTo>
                  <a:pt x="1108" y="3182"/>
                </a:lnTo>
                <a:lnTo>
                  <a:pt x="1125" y="3193"/>
                </a:lnTo>
                <a:lnTo>
                  <a:pt x="1141" y="3201"/>
                </a:lnTo>
                <a:lnTo>
                  <a:pt x="1156" y="3210"/>
                </a:lnTo>
                <a:lnTo>
                  <a:pt x="1172" y="3220"/>
                </a:lnTo>
                <a:lnTo>
                  <a:pt x="1189" y="3228"/>
                </a:lnTo>
                <a:lnTo>
                  <a:pt x="1206" y="3237"/>
                </a:lnTo>
                <a:lnTo>
                  <a:pt x="1222" y="3245"/>
                </a:lnTo>
                <a:lnTo>
                  <a:pt x="1233" y="3246"/>
                </a:lnTo>
                <a:lnTo>
                  <a:pt x="1244" y="3248"/>
                </a:lnTo>
                <a:lnTo>
                  <a:pt x="1255" y="3250"/>
                </a:lnTo>
                <a:lnTo>
                  <a:pt x="1267" y="3251"/>
                </a:lnTo>
                <a:lnTo>
                  <a:pt x="1278" y="3251"/>
                </a:lnTo>
                <a:lnTo>
                  <a:pt x="1289" y="3252"/>
                </a:lnTo>
                <a:lnTo>
                  <a:pt x="1302" y="3253"/>
                </a:lnTo>
                <a:lnTo>
                  <a:pt x="1313" y="3253"/>
                </a:lnTo>
                <a:lnTo>
                  <a:pt x="1321" y="3264"/>
                </a:lnTo>
                <a:lnTo>
                  <a:pt x="1330" y="3276"/>
                </a:lnTo>
                <a:lnTo>
                  <a:pt x="1340" y="3288"/>
                </a:lnTo>
                <a:lnTo>
                  <a:pt x="1348" y="3297"/>
                </a:lnTo>
                <a:lnTo>
                  <a:pt x="1367" y="3299"/>
                </a:lnTo>
                <a:lnTo>
                  <a:pt x="1388" y="3301"/>
                </a:lnTo>
                <a:lnTo>
                  <a:pt x="1407" y="3303"/>
                </a:lnTo>
                <a:lnTo>
                  <a:pt x="1427" y="3303"/>
                </a:lnTo>
                <a:lnTo>
                  <a:pt x="1448" y="3305"/>
                </a:lnTo>
                <a:lnTo>
                  <a:pt x="1467" y="3305"/>
                </a:lnTo>
                <a:lnTo>
                  <a:pt x="1487" y="3307"/>
                </a:lnTo>
                <a:lnTo>
                  <a:pt x="1507" y="3308"/>
                </a:lnTo>
                <a:lnTo>
                  <a:pt x="1531" y="3321"/>
                </a:lnTo>
                <a:lnTo>
                  <a:pt x="1552" y="3334"/>
                </a:lnTo>
                <a:lnTo>
                  <a:pt x="1577" y="3348"/>
                </a:lnTo>
                <a:lnTo>
                  <a:pt x="1600" y="3361"/>
                </a:lnTo>
                <a:lnTo>
                  <a:pt x="1625" y="3377"/>
                </a:lnTo>
                <a:lnTo>
                  <a:pt x="1649" y="3390"/>
                </a:lnTo>
                <a:lnTo>
                  <a:pt x="1673" y="3404"/>
                </a:lnTo>
                <a:lnTo>
                  <a:pt x="1698" y="3417"/>
                </a:lnTo>
                <a:lnTo>
                  <a:pt x="1707" y="3417"/>
                </a:lnTo>
                <a:lnTo>
                  <a:pt x="1717" y="3417"/>
                </a:lnTo>
                <a:lnTo>
                  <a:pt x="1727" y="3417"/>
                </a:lnTo>
                <a:lnTo>
                  <a:pt x="1738" y="3417"/>
                </a:lnTo>
                <a:lnTo>
                  <a:pt x="1748" y="3417"/>
                </a:lnTo>
                <a:lnTo>
                  <a:pt x="1757" y="3417"/>
                </a:lnTo>
                <a:lnTo>
                  <a:pt x="1768" y="3417"/>
                </a:lnTo>
                <a:lnTo>
                  <a:pt x="1778" y="3417"/>
                </a:lnTo>
                <a:lnTo>
                  <a:pt x="1786" y="3426"/>
                </a:lnTo>
                <a:lnTo>
                  <a:pt x="1796" y="3432"/>
                </a:lnTo>
                <a:lnTo>
                  <a:pt x="1806" y="3438"/>
                </a:lnTo>
                <a:lnTo>
                  <a:pt x="1815" y="3444"/>
                </a:lnTo>
                <a:lnTo>
                  <a:pt x="1823" y="3450"/>
                </a:lnTo>
                <a:lnTo>
                  <a:pt x="1832" y="3454"/>
                </a:lnTo>
                <a:lnTo>
                  <a:pt x="1841" y="3460"/>
                </a:lnTo>
                <a:lnTo>
                  <a:pt x="1850" y="3465"/>
                </a:lnTo>
                <a:lnTo>
                  <a:pt x="1877" y="3472"/>
                </a:lnTo>
                <a:lnTo>
                  <a:pt x="1896" y="3474"/>
                </a:lnTo>
                <a:lnTo>
                  <a:pt x="1907" y="3471"/>
                </a:lnTo>
                <a:lnTo>
                  <a:pt x="1911" y="3464"/>
                </a:lnTo>
                <a:lnTo>
                  <a:pt x="1911" y="3454"/>
                </a:lnTo>
                <a:lnTo>
                  <a:pt x="1905" y="3441"/>
                </a:lnTo>
                <a:lnTo>
                  <a:pt x="1898" y="3427"/>
                </a:lnTo>
                <a:lnTo>
                  <a:pt x="1890" y="3412"/>
                </a:lnTo>
                <a:lnTo>
                  <a:pt x="1883" y="3397"/>
                </a:lnTo>
                <a:lnTo>
                  <a:pt x="1874" y="3382"/>
                </a:lnTo>
                <a:lnTo>
                  <a:pt x="1870" y="3370"/>
                </a:lnTo>
                <a:lnTo>
                  <a:pt x="1869" y="3358"/>
                </a:lnTo>
                <a:lnTo>
                  <a:pt x="1873" y="3352"/>
                </a:lnTo>
                <a:lnTo>
                  <a:pt x="1884" y="3348"/>
                </a:lnTo>
                <a:lnTo>
                  <a:pt x="1902" y="3350"/>
                </a:lnTo>
                <a:lnTo>
                  <a:pt x="1929" y="3357"/>
                </a:lnTo>
                <a:lnTo>
                  <a:pt x="1942" y="3334"/>
                </a:lnTo>
                <a:lnTo>
                  <a:pt x="1953" y="3314"/>
                </a:lnTo>
                <a:lnTo>
                  <a:pt x="1964" y="3295"/>
                </a:lnTo>
                <a:lnTo>
                  <a:pt x="1972" y="3275"/>
                </a:lnTo>
                <a:lnTo>
                  <a:pt x="1982" y="3257"/>
                </a:lnTo>
                <a:lnTo>
                  <a:pt x="1991" y="3235"/>
                </a:lnTo>
                <a:lnTo>
                  <a:pt x="2002" y="3214"/>
                </a:lnTo>
                <a:lnTo>
                  <a:pt x="2014" y="3191"/>
                </a:lnTo>
                <a:lnTo>
                  <a:pt x="2015" y="3177"/>
                </a:lnTo>
                <a:lnTo>
                  <a:pt x="2020" y="3162"/>
                </a:lnTo>
                <a:lnTo>
                  <a:pt x="2026" y="3145"/>
                </a:lnTo>
                <a:lnTo>
                  <a:pt x="2033" y="3126"/>
                </a:lnTo>
                <a:lnTo>
                  <a:pt x="2042" y="3108"/>
                </a:lnTo>
                <a:lnTo>
                  <a:pt x="2048" y="3090"/>
                </a:lnTo>
                <a:lnTo>
                  <a:pt x="2052" y="3075"/>
                </a:lnTo>
                <a:lnTo>
                  <a:pt x="2053" y="3061"/>
                </a:lnTo>
                <a:lnTo>
                  <a:pt x="2066" y="3042"/>
                </a:lnTo>
                <a:lnTo>
                  <a:pt x="2079" y="3021"/>
                </a:lnTo>
                <a:lnTo>
                  <a:pt x="2092" y="3002"/>
                </a:lnTo>
                <a:lnTo>
                  <a:pt x="2103" y="2983"/>
                </a:lnTo>
                <a:lnTo>
                  <a:pt x="2114" y="2964"/>
                </a:lnTo>
                <a:lnTo>
                  <a:pt x="2126" y="2945"/>
                </a:lnTo>
                <a:lnTo>
                  <a:pt x="2137" y="2927"/>
                </a:lnTo>
                <a:lnTo>
                  <a:pt x="2149" y="2907"/>
                </a:lnTo>
                <a:lnTo>
                  <a:pt x="2156" y="2853"/>
                </a:lnTo>
                <a:lnTo>
                  <a:pt x="2167" y="2811"/>
                </a:lnTo>
                <a:lnTo>
                  <a:pt x="2178" y="2769"/>
                </a:lnTo>
                <a:lnTo>
                  <a:pt x="2181" y="2716"/>
                </a:lnTo>
                <a:lnTo>
                  <a:pt x="2195" y="2707"/>
                </a:lnTo>
                <a:lnTo>
                  <a:pt x="2209" y="2695"/>
                </a:lnTo>
                <a:lnTo>
                  <a:pt x="2224" y="2682"/>
                </a:lnTo>
                <a:lnTo>
                  <a:pt x="2240" y="2669"/>
                </a:lnTo>
                <a:lnTo>
                  <a:pt x="2255" y="2656"/>
                </a:lnTo>
                <a:lnTo>
                  <a:pt x="2270" y="2642"/>
                </a:lnTo>
                <a:lnTo>
                  <a:pt x="2284" y="2631"/>
                </a:lnTo>
                <a:lnTo>
                  <a:pt x="2297" y="2621"/>
                </a:lnTo>
                <a:lnTo>
                  <a:pt x="2306" y="2569"/>
                </a:lnTo>
                <a:lnTo>
                  <a:pt x="2312" y="2527"/>
                </a:lnTo>
                <a:lnTo>
                  <a:pt x="2317" y="2486"/>
                </a:lnTo>
                <a:lnTo>
                  <a:pt x="2328" y="2431"/>
                </a:lnTo>
                <a:lnTo>
                  <a:pt x="2338" y="2421"/>
                </a:lnTo>
                <a:lnTo>
                  <a:pt x="2355" y="2409"/>
                </a:lnTo>
                <a:lnTo>
                  <a:pt x="2374" y="2396"/>
                </a:lnTo>
                <a:lnTo>
                  <a:pt x="2397" y="2381"/>
                </a:lnTo>
                <a:lnTo>
                  <a:pt x="2420" y="2366"/>
                </a:lnTo>
                <a:lnTo>
                  <a:pt x="2440" y="2352"/>
                </a:lnTo>
                <a:lnTo>
                  <a:pt x="2456" y="2342"/>
                </a:lnTo>
                <a:lnTo>
                  <a:pt x="2465" y="2332"/>
                </a:lnTo>
                <a:lnTo>
                  <a:pt x="2463" y="2317"/>
                </a:lnTo>
                <a:lnTo>
                  <a:pt x="2463" y="2304"/>
                </a:lnTo>
                <a:lnTo>
                  <a:pt x="2468" y="2291"/>
                </a:lnTo>
                <a:lnTo>
                  <a:pt x="2471" y="2278"/>
                </a:lnTo>
                <a:lnTo>
                  <a:pt x="2476" y="2264"/>
                </a:lnTo>
                <a:lnTo>
                  <a:pt x="2479" y="2251"/>
                </a:lnTo>
                <a:lnTo>
                  <a:pt x="2481" y="2235"/>
                </a:lnTo>
                <a:lnTo>
                  <a:pt x="2479" y="2222"/>
                </a:lnTo>
                <a:lnTo>
                  <a:pt x="2490" y="2220"/>
                </a:lnTo>
                <a:lnTo>
                  <a:pt x="2501" y="2216"/>
                </a:lnTo>
                <a:lnTo>
                  <a:pt x="2513" y="2213"/>
                </a:lnTo>
                <a:lnTo>
                  <a:pt x="2525" y="2208"/>
                </a:lnTo>
                <a:lnTo>
                  <a:pt x="2536" y="2204"/>
                </a:lnTo>
                <a:lnTo>
                  <a:pt x="2547" y="2201"/>
                </a:lnTo>
                <a:lnTo>
                  <a:pt x="2558" y="2196"/>
                </a:lnTo>
                <a:lnTo>
                  <a:pt x="2569" y="2193"/>
                </a:lnTo>
                <a:lnTo>
                  <a:pt x="2574" y="2172"/>
                </a:lnTo>
                <a:lnTo>
                  <a:pt x="2581" y="2153"/>
                </a:lnTo>
                <a:lnTo>
                  <a:pt x="2589" y="2133"/>
                </a:lnTo>
                <a:lnTo>
                  <a:pt x="2598" y="2111"/>
                </a:lnTo>
                <a:lnTo>
                  <a:pt x="2606" y="2115"/>
                </a:lnTo>
                <a:lnTo>
                  <a:pt x="2612" y="2117"/>
                </a:lnTo>
                <a:lnTo>
                  <a:pt x="2619" y="2120"/>
                </a:lnTo>
                <a:lnTo>
                  <a:pt x="2627" y="2123"/>
                </a:lnTo>
                <a:lnTo>
                  <a:pt x="2634" y="2126"/>
                </a:lnTo>
                <a:lnTo>
                  <a:pt x="2643" y="2128"/>
                </a:lnTo>
                <a:lnTo>
                  <a:pt x="2651" y="2131"/>
                </a:lnTo>
                <a:lnTo>
                  <a:pt x="2659" y="2133"/>
                </a:lnTo>
                <a:lnTo>
                  <a:pt x="2667" y="2115"/>
                </a:lnTo>
                <a:lnTo>
                  <a:pt x="2673" y="2098"/>
                </a:lnTo>
                <a:lnTo>
                  <a:pt x="2677" y="2080"/>
                </a:lnTo>
                <a:lnTo>
                  <a:pt x="2682" y="2064"/>
                </a:lnTo>
                <a:lnTo>
                  <a:pt x="2687" y="2058"/>
                </a:lnTo>
                <a:lnTo>
                  <a:pt x="2692" y="2053"/>
                </a:lnTo>
                <a:lnTo>
                  <a:pt x="2698" y="2049"/>
                </a:lnTo>
                <a:lnTo>
                  <a:pt x="2704" y="2042"/>
                </a:lnTo>
                <a:lnTo>
                  <a:pt x="2710" y="2038"/>
                </a:lnTo>
                <a:lnTo>
                  <a:pt x="2715" y="2032"/>
                </a:lnTo>
                <a:lnTo>
                  <a:pt x="2721" y="2026"/>
                </a:lnTo>
                <a:lnTo>
                  <a:pt x="2725" y="2021"/>
                </a:lnTo>
                <a:lnTo>
                  <a:pt x="2735" y="2005"/>
                </a:lnTo>
                <a:lnTo>
                  <a:pt x="2746" y="1989"/>
                </a:lnTo>
                <a:lnTo>
                  <a:pt x="2757" y="1972"/>
                </a:lnTo>
                <a:lnTo>
                  <a:pt x="2769" y="1957"/>
                </a:lnTo>
                <a:lnTo>
                  <a:pt x="2781" y="1940"/>
                </a:lnTo>
                <a:lnTo>
                  <a:pt x="2793" y="1925"/>
                </a:lnTo>
                <a:lnTo>
                  <a:pt x="2807" y="1907"/>
                </a:lnTo>
                <a:lnTo>
                  <a:pt x="2821" y="1891"/>
                </a:lnTo>
                <a:lnTo>
                  <a:pt x="2844" y="1871"/>
                </a:lnTo>
                <a:lnTo>
                  <a:pt x="2869" y="1850"/>
                </a:lnTo>
                <a:lnTo>
                  <a:pt x="2892" y="1829"/>
                </a:lnTo>
                <a:lnTo>
                  <a:pt x="2916" y="1809"/>
                </a:lnTo>
                <a:lnTo>
                  <a:pt x="2940" y="1787"/>
                </a:lnTo>
                <a:lnTo>
                  <a:pt x="2963" y="1765"/>
                </a:lnTo>
                <a:lnTo>
                  <a:pt x="2985" y="1743"/>
                </a:lnTo>
                <a:lnTo>
                  <a:pt x="3008" y="1721"/>
                </a:lnTo>
                <a:lnTo>
                  <a:pt x="3030" y="1698"/>
                </a:lnTo>
                <a:lnTo>
                  <a:pt x="3054" y="1676"/>
                </a:lnTo>
                <a:lnTo>
                  <a:pt x="3077" y="1653"/>
                </a:lnTo>
                <a:lnTo>
                  <a:pt x="3100" y="1629"/>
                </a:lnTo>
                <a:lnTo>
                  <a:pt x="3122" y="1605"/>
                </a:lnTo>
                <a:lnTo>
                  <a:pt x="3146" y="1581"/>
                </a:lnTo>
                <a:lnTo>
                  <a:pt x="3171" y="1558"/>
                </a:lnTo>
                <a:lnTo>
                  <a:pt x="3194" y="1534"/>
                </a:lnTo>
                <a:lnTo>
                  <a:pt x="3219" y="1508"/>
                </a:lnTo>
                <a:lnTo>
                  <a:pt x="3244" y="1485"/>
                </a:lnTo>
                <a:lnTo>
                  <a:pt x="3270" y="1460"/>
                </a:lnTo>
                <a:lnTo>
                  <a:pt x="3296" y="1435"/>
                </a:lnTo>
                <a:lnTo>
                  <a:pt x="3322" y="1409"/>
                </a:lnTo>
                <a:lnTo>
                  <a:pt x="3350" y="1385"/>
                </a:lnTo>
                <a:lnTo>
                  <a:pt x="3380" y="1360"/>
                </a:lnTo>
                <a:lnTo>
                  <a:pt x="3409" y="1335"/>
                </a:lnTo>
                <a:lnTo>
                  <a:pt x="3439" y="1309"/>
                </a:lnTo>
                <a:lnTo>
                  <a:pt x="3470" y="1283"/>
                </a:lnTo>
                <a:lnTo>
                  <a:pt x="3501" y="1258"/>
                </a:lnTo>
                <a:lnTo>
                  <a:pt x="3535" y="1231"/>
                </a:lnTo>
                <a:lnTo>
                  <a:pt x="3569" y="1208"/>
                </a:lnTo>
                <a:lnTo>
                  <a:pt x="3604" y="1181"/>
                </a:lnTo>
                <a:lnTo>
                  <a:pt x="3641" y="1156"/>
                </a:lnTo>
                <a:lnTo>
                  <a:pt x="3679" y="1130"/>
                </a:lnTo>
                <a:lnTo>
                  <a:pt x="3695" y="1119"/>
                </a:lnTo>
                <a:lnTo>
                  <a:pt x="3712" y="1107"/>
                </a:lnTo>
                <a:lnTo>
                  <a:pt x="3730" y="1097"/>
                </a:lnTo>
                <a:lnTo>
                  <a:pt x="3746" y="1085"/>
                </a:lnTo>
                <a:lnTo>
                  <a:pt x="3764" y="1076"/>
                </a:lnTo>
                <a:lnTo>
                  <a:pt x="3781" y="1065"/>
                </a:lnTo>
                <a:lnTo>
                  <a:pt x="3799" y="1054"/>
                </a:lnTo>
                <a:lnTo>
                  <a:pt x="3818" y="1045"/>
                </a:lnTo>
                <a:lnTo>
                  <a:pt x="3827" y="1039"/>
                </a:lnTo>
                <a:lnTo>
                  <a:pt x="3839" y="1035"/>
                </a:lnTo>
                <a:lnTo>
                  <a:pt x="3849" y="1030"/>
                </a:lnTo>
                <a:lnTo>
                  <a:pt x="3859" y="1025"/>
                </a:lnTo>
                <a:lnTo>
                  <a:pt x="3869" y="1019"/>
                </a:lnTo>
                <a:lnTo>
                  <a:pt x="3880" y="1015"/>
                </a:lnTo>
                <a:lnTo>
                  <a:pt x="3890" y="1008"/>
                </a:lnTo>
                <a:lnTo>
                  <a:pt x="3901" y="1003"/>
                </a:lnTo>
                <a:lnTo>
                  <a:pt x="3920" y="991"/>
                </a:lnTo>
                <a:lnTo>
                  <a:pt x="3938" y="980"/>
                </a:lnTo>
                <a:lnTo>
                  <a:pt x="3957" y="970"/>
                </a:lnTo>
                <a:lnTo>
                  <a:pt x="3975" y="956"/>
                </a:lnTo>
                <a:lnTo>
                  <a:pt x="3994" y="946"/>
                </a:lnTo>
                <a:lnTo>
                  <a:pt x="4012" y="932"/>
                </a:lnTo>
                <a:lnTo>
                  <a:pt x="4031" y="922"/>
                </a:lnTo>
                <a:lnTo>
                  <a:pt x="4049" y="910"/>
                </a:lnTo>
                <a:lnTo>
                  <a:pt x="4061" y="901"/>
                </a:lnTo>
                <a:lnTo>
                  <a:pt x="4074" y="891"/>
                </a:lnTo>
                <a:lnTo>
                  <a:pt x="4085" y="882"/>
                </a:lnTo>
                <a:lnTo>
                  <a:pt x="4099" y="872"/>
                </a:lnTo>
                <a:lnTo>
                  <a:pt x="4112" y="863"/>
                </a:lnTo>
                <a:lnTo>
                  <a:pt x="4125" y="854"/>
                </a:lnTo>
                <a:lnTo>
                  <a:pt x="4137" y="845"/>
                </a:lnTo>
                <a:lnTo>
                  <a:pt x="4151" y="835"/>
                </a:lnTo>
                <a:lnTo>
                  <a:pt x="4156" y="823"/>
                </a:lnTo>
                <a:lnTo>
                  <a:pt x="4161" y="811"/>
                </a:lnTo>
                <a:lnTo>
                  <a:pt x="4166" y="801"/>
                </a:lnTo>
                <a:lnTo>
                  <a:pt x="4170" y="792"/>
                </a:lnTo>
                <a:lnTo>
                  <a:pt x="4179" y="783"/>
                </a:lnTo>
                <a:lnTo>
                  <a:pt x="4187" y="778"/>
                </a:lnTo>
                <a:lnTo>
                  <a:pt x="4195" y="770"/>
                </a:lnTo>
                <a:lnTo>
                  <a:pt x="4204" y="764"/>
                </a:lnTo>
                <a:lnTo>
                  <a:pt x="4212" y="756"/>
                </a:lnTo>
                <a:lnTo>
                  <a:pt x="4221" y="750"/>
                </a:lnTo>
                <a:lnTo>
                  <a:pt x="4230" y="743"/>
                </a:lnTo>
                <a:lnTo>
                  <a:pt x="4239" y="737"/>
                </a:lnTo>
                <a:lnTo>
                  <a:pt x="4242" y="743"/>
                </a:lnTo>
                <a:lnTo>
                  <a:pt x="4245" y="749"/>
                </a:lnTo>
                <a:lnTo>
                  <a:pt x="4248" y="755"/>
                </a:lnTo>
                <a:lnTo>
                  <a:pt x="4250" y="762"/>
                </a:lnTo>
                <a:lnTo>
                  <a:pt x="4264" y="752"/>
                </a:lnTo>
                <a:lnTo>
                  <a:pt x="4276" y="746"/>
                </a:lnTo>
                <a:lnTo>
                  <a:pt x="4290" y="737"/>
                </a:lnTo>
                <a:lnTo>
                  <a:pt x="4304" y="728"/>
                </a:lnTo>
                <a:lnTo>
                  <a:pt x="4317" y="721"/>
                </a:lnTo>
                <a:lnTo>
                  <a:pt x="4331" y="712"/>
                </a:lnTo>
                <a:lnTo>
                  <a:pt x="4345" y="705"/>
                </a:lnTo>
                <a:lnTo>
                  <a:pt x="4356" y="697"/>
                </a:lnTo>
                <a:lnTo>
                  <a:pt x="4366" y="683"/>
                </a:lnTo>
                <a:lnTo>
                  <a:pt x="4375" y="665"/>
                </a:lnTo>
                <a:lnTo>
                  <a:pt x="4385" y="649"/>
                </a:lnTo>
                <a:lnTo>
                  <a:pt x="4393" y="634"/>
                </a:lnTo>
                <a:lnTo>
                  <a:pt x="4404" y="624"/>
                </a:lnTo>
                <a:lnTo>
                  <a:pt x="4416" y="615"/>
                </a:lnTo>
                <a:lnTo>
                  <a:pt x="4429" y="606"/>
                </a:lnTo>
                <a:lnTo>
                  <a:pt x="4441" y="598"/>
                </a:lnTo>
                <a:lnTo>
                  <a:pt x="4452" y="590"/>
                </a:lnTo>
                <a:lnTo>
                  <a:pt x="4465" y="580"/>
                </a:lnTo>
                <a:lnTo>
                  <a:pt x="4475" y="570"/>
                </a:lnTo>
                <a:lnTo>
                  <a:pt x="4485" y="562"/>
                </a:lnTo>
                <a:lnTo>
                  <a:pt x="4490" y="547"/>
                </a:lnTo>
                <a:lnTo>
                  <a:pt x="4494" y="532"/>
                </a:lnTo>
                <a:lnTo>
                  <a:pt x="4499" y="517"/>
                </a:lnTo>
                <a:lnTo>
                  <a:pt x="4506" y="501"/>
                </a:lnTo>
                <a:lnTo>
                  <a:pt x="4516" y="492"/>
                </a:lnTo>
                <a:lnTo>
                  <a:pt x="4529" y="484"/>
                </a:lnTo>
                <a:lnTo>
                  <a:pt x="4541" y="477"/>
                </a:lnTo>
                <a:lnTo>
                  <a:pt x="4553" y="468"/>
                </a:lnTo>
                <a:lnTo>
                  <a:pt x="4564" y="459"/>
                </a:lnTo>
                <a:lnTo>
                  <a:pt x="4577" y="450"/>
                </a:lnTo>
                <a:lnTo>
                  <a:pt x="4587" y="443"/>
                </a:lnTo>
                <a:lnTo>
                  <a:pt x="4597" y="435"/>
                </a:lnTo>
                <a:lnTo>
                  <a:pt x="4611" y="430"/>
                </a:lnTo>
                <a:lnTo>
                  <a:pt x="4625" y="426"/>
                </a:lnTo>
                <a:lnTo>
                  <a:pt x="4638" y="422"/>
                </a:lnTo>
                <a:lnTo>
                  <a:pt x="4650" y="418"/>
                </a:lnTo>
                <a:lnTo>
                  <a:pt x="4664" y="413"/>
                </a:lnTo>
                <a:lnTo>
                  <a:pt x="4676" y="410"/>
                </a:lnTo>
                <a:lnTo>
                  <a:pt x="4688" y="405"/>
                </a:lnTo>
                <a:lnTo>
                  <a:pt x="4702" y="401"/>
                </a:lnTo>
                <a:lnTo>
                  <a:pt x="4708" y="393"/>
                </a:lnTo>
                <a:lnTo>
                  <a:pt x="4714" y="384"/>
                </a:lnTo>
                <a:lnTo>
                  <a:pt x="4720" y="377"/>
                </a:lnTo>
                <a:lnTo>
                  <a:pt x="4726" y="367"/>
                </a:lnTo>
                <a:lnTo>
                  <a:pt x="4733" y="359"/>
                </a:lnTo>
                <a:lnTo>
                  <a:pt x="4739" y="350"/>
                </a:lnTo>
                <a:lnTo>
                  <a:pt x="4745" y="341"/>
                </a:lnTo>
                <a:lnTo>
                  <a:pt x="4751" y="332"/>
                </a:lnTo>
                <a:lnTo>
                  <a:pt x="4761" y="326"/>
                </a:lnTo>
                <a:lnTo>
                  <a:pt x="4772" y="319"/>
                </a:lnTo>
                <a:lnTo>
                  <a:pt x="4781" y="312"/>
                </a:lnTo>
                <a:lnTo>
                  <a:pt x="4790" y="305"/>
                </a:lnTo>
                <a:lnTo>
                  <a:pt x="4800" y="298"/>
                </a:lnTo>
                <a:lnTo>
                  <a:pt x="4810" y="291"/>
                </a:lnTo>
                <a:lnTo>
                  <a:pt x="4819" y="283"/>
                </a:lnTo>
                <a:lnTo>
                  <a:pt x="4827" y="275"/>
                </a:lnTo>
                <a:lnTo>
                  <a:pt x="4833" y="280"/>
                </a:lnTo>
                <a:lnTo>
                  <a:pt x="4840" y="285"/>
                </a:lnTo>
                <a:lnTo>
                  <a:pt x="4848" y="292"/>
                </a:lnTo>
                <a:lnTo>
                  <a:pt x="4852" y="297"/>
                </a:lnTo>
                <a:lnTo>
                  <a:pt x="4862" y="289"/>
                </a:lnTo>
                <a:lnTo>
                  <a:pt x="4873" y="280"/>
                </a:lnTo>
                <a:lnTo>
                  <a:pt x="4882" y="272"/>
                </a:lnTo>
                <a:lnTo>
                  <a:pt x="4893" y="264"/>
                </a:lnTo>
                <a:lnTo>
                  <a:pt x="4902" y="253"/>
                </a:lnTo>
                <a:lnTo>
                  <a:pt x="4912" y="244"/>
                </a:lnTo>
                <a:lnTo>
                  <a:pt x="4923" y="236"/>
                </a:lnTo>
                <a:lnTo>
                  <a:pt x="4933" y="228"/>
                </a:lnTo>
                <a:lnTo>
                  <a:pt x="4921" y="233"/>
                </a:lnTo>
                <a:lnTo>
                  <a:pt x="4910" y="239"/>
                </a:lnTo>
                <a:lnTo>
                  <a:pt x="4898" y="246"/>
                </a:lnTo>
                <a:lnTo>
                  <a:pt x="4884" y="250"/>
                </a:lnTo>
                <a:lnTo>
                  <a:pt x="4873" y="257"/>
                </a:lnTo>
                <a:lnTo>
                  <a:pt x="4862" y="262"/>
                </a:lnTo>
                <a:lnTo>
                  <a:pt x="4850" y="267"/>
                </a:lnTo>
                <a:lnTo>
                  <a:pt x="4838" y="272"/>
                </a:lnTo>
                <a:lnTo>
                  <a:pt x="4849" y="246"/>
                </a:lnTo>
                <a:lnTo>
                  <a:pt x="4858" y="223"/>
                </a:lnTo>
                <a:lnTo>
                  <a:pt x="4864" y="199"/>
                </a:lnTo>
                <a:lnTo>
                  <a:pt x="4869" y="175"/>
                </a:lnTo>
                <a:lnTo>
                  <a:pt x="4861" y="182"/>
                </a:lnTo>
                <a:lnTo>
                  <a:pt x="4852" y="191"/>
                </a:lnTo>
                <a:lnTo>
                  <a:pt x="4842" y="200"/>
                </a:lnTo>
                <a:lnTo>
                  <a:pt x="4832" y="208"/>
                </a:lnTo>
                <a:lnTo>
                  <a:pt x="4823" y="216"/>
                </a:lnTo>
                <a:lnTo>
                  <a:pt x="4813" y="224"/>
                </a:lnTo>
                <a:lnTo>
                  <a:pt x="4801" y="233"/>
                </a:lnTo>
                <a:lnTo>
                  <a:pt x="4792" y="242"/>
                </a:lnTo>
                <a:lnTo>
                  <a:pt x="4785" y="252"/>
                </a:lnTo>
                <a:lnTo>
                  <a:pt x="4776" y="262"/>
                </a:lnTo>
                <a:lnTo>
                  <a:pt x="4768" y="272"/>
                </a:lnTo>
                <a:lnTo>
                  <a:pt x="4761" y="283"/>
                </a:lnTo>
                <a:lnTo>
                  <a:pt x="4754" y="295"/>
                </a:lnTo>
                <a:lnTo>
                  <a:pt x="4746" y="305"/>
                </a:lnTo>
                <a:lnTo>
                  <a:pt x="4739" y="317"/>
                </a:lnTo>
                <a:lnTo>
                  <a:pt x="4732" y="328"/>
                </a:lnTo>
                <a:lnTo>
                  <a:pt x="4724" y="332"/>
                </a:lnTo>
                <a:lnTo>
                  <a:pt x="4717" y="337"/>
                </a:lnTo>
                <a:lnTo>
                  <a:pt x="4710" y="343"/>
                </a:lnTo>
                <a:lnTo>
                  <a:pt x="4704" y="349"/>
                </a:lnTo>
                <a:lnTo>
                  <a:pt x="4696" y="354"/>
                </a:lnTo>
                <a:lnTo>
                  <a:pt x="4689" y="359"/>
                </a:lnTo>
                <a:lnTo>
                  <a:pt x="4683" y="363"/>
                </a:lnTo>
                <a:lnTo>
                  <a:pt x="4676" y="368"/>
                </a:lnTo>
                <a:lnTo>
                  <a:pt x="4671" y="367"/>
                </a:lnTo>
                <a:lnTo>
                  <a:pt x="4666" y="366"/>
                </a:lnTo>
                <a:lnTo>
                  <a:pt x="4662" y="363"/>
                </a:lnTo>
                <a:lnTo>
                  <a:pt x="4658" y="362"/>
                </a:lnTo>
                <a:lnTo>
                  <a:pt x="4653" y="361"/>
                </a:lnTo>
                <a:lnTo>
                  <a:pt x="4648" y="359"/>
                </a:lnTo>
                <a:lnTo>
                  <a:pt x="4642" y="357"/>
                </a:lnTo>
                <a:lnTo>
                  <a:pt x="4638" y="357"/>
                </a:lnTo>
                <a:lnTo>
                  <a:pt x="4616" y="374"/>
                </a:lnTo>
                <a:lnTo>
                  <a:pt x="4595" y="393"/>
                </a:lnTo>
                <a:lnTo>
                  <a:pt x="4573" y="412"/>
                </a:lnTo>
                <a:lnTo>
                  <a:pt x="4552" y="430"/>
                </a:lnTo>
                <a:lnTo>
                  <a:pt x="4529" y="449"/>
                </a:lnTo>
                <a:lnTo>
                  <a:pt x="4506" y="468"/>
                </a:lnTo>
                <a:lnTo>
                  <a:pt x="4484" y="487"/>
                </a:lnTo>
                <a:lnTo>
                  <a:pt x="4461" y="506"/>
                </a:lnTo>
                <a:lnTo>
                  <a:pt x="4450" y="511"/>
                </a:lnTo>
                <a:lnTo>
                  <a:pt x="4441" y="517"/>
                </a:lnTo>
                <a:lnTo>
                  <a:pt x="4431" y="521"/>
                </a:lnTo>
                <a:lnTo>
                  <a:pt x="4422" y="528"/>
                </a:lnTo>
                <a:lnTo>
                  <a:pt x="4411" y="532"/>
                </a:lnTo>
                <a:lnTo>
                  <a:pt x="4403" y="537"/>
                </a:lnTo>
                <a:lnTo>
                  <a:pt x="4393" y="543"/>
                </a:lnTo>
                <a:lnTo>
                  <a:pt x="4385" y="548"/>
                </a:lnTo>
                <a:lnTo>
                  <a:pt x="4378" y="546"/>
                </a:lnTo>
                <a:lnTo>
                  <a:pt x="4372" y="543"/>
                </a:lnTo>
                <a:lnTo>
                  <a:pt x="4366" y="541"/>
                </a:lnTo>
                <a:lnTo>
                  <a:pt x="4362" y="537"/>
                </a:lnTo>
                <a:lnTo>
                  <a:pt x="4355" y="535"/>
                </a:lnTo>
                <a:lnTo>
                  <a:pt x="4351" y="532"/>
                </a:lnTo>
                <a:lnTo>
                  <a:pt x="4345" y="530"/>
                </a:lnTo>
                <a:lnTo>
                  <a:pt x="4339" y="528"/>
                </a:lnTo>
                <a:lnTo>
                  <a:pt x="4314" y="546"/>
                </a:lnTo>
                <a:lnTo>
                  <a:pt x="4289" y="563"/>
                </a:lnTo>
                <a:lnTo>
                  <a:pt x="4264" y="581"/>
                </a:lnTo>
                <a:lnTo>
                  <a:pt x="4239" y="599"/>
                </a:lnTo>
                <a:lnTo>
                  <a:pt x="4215" y="617"/>
                </a:lnTo>
                <a:lnTo>
                  <a:pt x="4189" y="635"/>
                </a:lnTo>
                <a:lnTo>
                  <a:pt x="4164" y="653"/>
                </a:lnTo>
                <a:lnTo>
                  <a:pt x="4139" y="670"/>
                </a:lnTo>
                <a:lnTo>
                  <a:pt x="4114" y="688"/>
                </a:lnTo>
                <a:lnTo>
                  <a:pt x="4089" y="708"/>
                </a:lnTo>
                <a:lnTo>
                  <a:pt x="4064" y="724"/>
                </a:lnTo>
                <a:lnTo>
                  <a:pt x="4039" y="743"/>
                </a:lnTo>
                <a:lnTo>
                  <a:pt x="4014" y="761"/>
                </a:lnTo>
                <a:lnTo>
                  <a:pt x="3988" y="779"/>
                </a:lnTo>
                <a:lnTo>
                  <a:pt x="3964" y="798"/>
                </a:lnTo>
                <a:lnTo>
                  <a:pt x="3938" y="816"/>
                </a:lnTo>
                <a:lnTo>
                  <a:pt x="3932" y="808"/>
                </a:lnTo>
                <a:lnTo>
                  <a:pt x="3926" y="801"/>
                </a:lnTo>
                <a:lnTo>
                  <a:pt x="3920" y="791"/>
                </a:lnTo>
                <a:lnTo>
                  <a:pt x="3916" y="780"/>
                </a:lnTo>
                <a:lnTo>
                  <a:pt x="3926" y="773"/>
                </a:lnTo>
                <a:lnTo>
                  <a:pt x="3934" y="766"/>
                </a:lnTo>
                <a:lnTo>
                  <a:pt x="3944" y="756"/>
                </a:lnTo>
                <a:lnTo>
                  <a:pt x="3953" y="748"/>
                </a:lnTo>
                <a:lnTo>
                  <a:pt x="3963" y="739"/>
                </a:lnTo>
                <a:lnTo>
                  <a:pt x="3972" y="731"/>
                </a:lnTo>
                <a:lnTo>
                  <a:pt x="3982" y="721"/>
                </a:lnTo>
                <a:lnTo>
                  <a:pt x="3993" y="713"/>
                </a:lnTo>
                <a:lnTo>
                  <a:pt x="4000" y="711"/>
                </a:lnTo>
                <a:lnTo>
                  <a:pt x="4007" y="708"/>
                </a:lnTo>
                <a:lnTo>
                  <a:pt x="4014" y="708"/>
                </a:lnTo>
                <a:lnTo>
                  <a:pt x="4023" y="705"/>
                </a:lnTo>
                <a:lnTo>
                  <a:pt x="4031" y="702"/>
                </a:lnTo>
                <a:lnTo>
                  <a:pt x="4038" y="699"/>
                </a:lnTo>
                <a:lnTo>
                  <a:pt x="4047" y="696"/>
                </a:lnTo>
                <a:lnTo>
                  <a:pt x="4054" y="694"/>
                </a:lnTo>
                <a:lnTo>
                  <a:pt x="4058" y="687"/>
                </a:lnTo>
                <a:lnTo>
                  <a:pt x="4063" y="680"/>
                </a:lnTo>
                <a:lnTo>
                  <a:pt x="4069" y="674"/>
                </a:lnTo>
                <a:lnTo>
                  <a:pt x="4074" y="666"/>
                </a:lnTo>
                <a:lnTo>
                  <a:pt x="4078" y="659"/>
                </a:lnTo>
                <a:lnTo>
                  <a:pt x="4083" y="652"/>
                </a:lnTo>
                <a:lnTo>
                  <a:pt x="4089" y="644"/>
                </a:lnTo>
                <a:lnTo>
                  <a:pt x="4094" y="636"/>
                </a:lnTo>
                <a:lnTo>
                  <a:pt x="4104" y="632"/>
                </a:lnTo>
                <a:lnTo>
                  <a:pt x="4113" y="626"/>
                </a:lnTo>
                <a:lnTo>
                  <a:pt x="4123" y="621"/>
                </a:lnTo>
                <a:lnTo>
                  <a:pt x="4133" y="615"/>
                </a:lnTo>
                <a:lnTo>
                  <a:pt x="4141" y="609"/>
                </a:lnTo>
                <a:lnTo>
                  <a:pt x="4151" y="604"/>
                </a:lnTo>
                <a:lnTo>
                  <a:pt x="4161" y="598"/>
                </a:lnTo>
                <a:lnTo>
                  <a:pt x="4170" y="593"/>
                </a:lnTo>
                <a:lnTo>
                  <a:pt x="4177" y="579"/>
                </a:lnTo>
                <a:lnTo>
                  <a:pt x="4185" y="566"/>
                </a:lnTo>
                <a:lnTo>
                  <a:pt x="4191" y="552"/>
                </a:lnTo>
                <a:lnTo>
                  <a:pt x="4199" y="537"/>
                </a:lnTo>
                <a:lnTo>
                  <a:pt x="4205" y="530"/>
                </a:lnTo>
                <a:lnTo>
                  <a:pt x="4212" y="524"/>
                </a:lnTo>
                <a:lnTo>
                  <a:pt x="4219" y="517"/>
                </a:lnTo>
                <a:lnTo>
                  <a:pt x="4226" y="511"/>
                </a:lnTo>
                <a:lnTo>
                  <a:pt x="4233" y="505"/>
                </a:lnTo>
                <a:lnTo>
                  <a:pt x="4241" y="499"/>
                </a:lnTo>
                <a:lnTo>
                  <a:pt x="4249" y="492"/>
                </a:lnTo>
                <a:lnTo>
                  <a:pt x="4256" y="486"/>
                </a:lnTo>
                <a:lnTo>
                  <a:pt x="4250" y="484"/>
                </a:lnTo>
                <a:lnTo>
                  <a:pt x="4245" y="481"/>
                </a:lnTo>
                <a:lnTo>
                  <a:pt x="4239" y="479"/>
                </a:lnTo>
                <a:lnTo>
                  <a:pt x="4233" y="475"/>
                </a:lnTo>
                <a:lnTo>
                  <a:pt x="4228" y="473"/>
                </a:lnTo>
                <a:lnTo>
                  <a:pt x="4221" y="469"/>
                </a:lnTo>
                <a:lnTo>
                  <a:pt x="4216" y="466"/>
                </a:lnTo>
                <a:lnTo>
                  <a:pt x="4210" y="461"/>
                </a:lnTo>
                <a:lnTo>
                  <a:pt x="4221" y="453"/>
                </a:lnTo>
                <a:lnTo>
                  <a:pt x="4232" y="444"/>
                </a:lnTo>
                <a:lnTo>
                  <a:pt x="4243" y="436"/>
                </a:lnTo>
                <a:lnTo>
                  <a:pt x="4255" y="426"/>
                </a:lnTo>
                <a:lnTo>
                  <a:pt x="4267" y="418"/>
                </a:lnTo>
                <a:lnTo>
                  <a:pt x="4278" y="410"/>
                </a:lnTo>
                <a:lnTo>
                  <a:pt x="4289" y="401"/>
                </a:lnTo>
                <a:lnTo>
                  <a:pt x="4300" y="392"/>
                </a:lnTo>
                <a:lnTo>
                  <a:pt x="4306" y="386"/>
                </a:lnTo>
                <a:lnTo>
                  <a:pt x="4314" y="381"/>
                </a:lnTo>
                <a:lnTo>
                  <a:pt x="4322" y="374"/>
                </a:lnTo>
                <a:lnTo>
                  <a:pt x="4327" y="367"/>
                </a:lnTo>
                <a:lnTo>
                  <a:pt x="4336" y="357"/>
                </a:lnTo>
                <a:lnTo>
                  <a:pt x="4347" y="346"/>
                </a:lnTo>
                <a:lnTo>
                  <a:pt x="4354" y="334"/>
                </a:lnTo>
                <a:lnTo>
                  <a:pt x="4362" y="323"/>
                </a:lnTo>
                <a:lnTo>
                  <a:pt x="4371" y="311"/>
                </a:lnTo>
                <a:lnTo>
                  <a:pt x="4380" y="300"/>
                </a:lnTo>
                <a:lnTo>
                  <a:pt x="4389" y="289"/>
                </a:lnTo>
                <a:lnTo>
                  <a:pt x="4397" y="277"/>
                </a:lnTo>
                <a:lnTo>
                  <a:pt x="4375" y="288"/>
                </a:lnTo>
                <a:lnTo>
                  <a:pt x="4356" y="297"/>
                </a:lnTo>
                <a:lnTo>
                  <a:pt x="4335" y="306"/>
                </a:lnTo>
                <a:lnTo>
                  <a:pt x="4316" y="315"/>
                </a:lnTo>
                <a:lnTo>
                  <a:pt x="4294" y="326"/>
                </a:lnTo>
                <a:lnTo>
                  <a:pt x="4274" y="335"/>
                </a:lnTo>
                <a:lnTo>
                  <a:pt x="4252" y="347"/>
                </a:lnTo>
                <a:lnTo>
                  <a:pt x="4232" y="357"/>
                </a:lnTo>
                <a:lnTo>
                  <a:pt x="4228" y="354"/>
                </a:lnTo>
                <a:lnTo>
                  <a:pt x="4224" y="351"/>
                </a:lnTo>
                <a:lnTo>
                  <a:pt x="4218" y="350"/>
                </a:lnTo>
                <a:lnTo>
                  <a:pt x="4214" y="348"/>
                </a:lnTo>
                <a:lnTo>
                  <a:pt x="4208" y="347"/>
                </a:lnTo>
                <a:lnTo>
                  <a:pt x="4204" y="343"/>
                </a:lnTo>
                <a:lnTo>
                  <a:pt x="4200" y="343"/>
                </a:lnTo>
                <a:lnTo>
                  <a:pt x="4195" y="342"/>
                </a:lnTo>
                <a:lnTo>
                  <a:pt x="4201" y="336"/>
                </a:lnTo>
                <a:lnTo>
                  <a:pt x="4208" y="330"/>
                </a:lnTo>
                <a:lnTo>
                  <a:pt x="4214" y="324"/>
                </a:lnTo>
                <a:lnTo>
                  <a:pt x="4219" y="317"/>
                </a:lnTo>
                <a:lnTo>
                  <a:pt x="4226" y="310"/>
                </a:lnTo>
                <a:lnTo>
                  <a:pt x="4232" y="304"/>
                </a:lnTo>
                <a:lnTo>
                  <a:pt x="4239" y="298"/>
                </a:lnTo>
                <a:lnTo>
                  <a:pt x="4247" y="292"/>
                </a:lnTo>
                <a:lnTo>
                  <a:pt x="4266" y="277"/>
                </a:lnTo>
                <a:lnTo>
                  <a:pt x="4287" y="259"/>
                </a:lnTo>
                <a:lnTo>
                  <a:pt x="4312" y="239"/>
                </a:lnTo>
                <a:lnTo>
                  <a:pt x="4339" y="219"/>
                </a:lnTo>
                <a:lnTo>
                  <a:pt x="4366" y="200"/>
                </a:lnTo>
                <a:lnTo>
                  <a:pt x="4391" y="181"/>
                </a:lnTo>
                <a:lnTo>
                  <a:pt x="4413" y="165"/>
                </a:lnTo>
                <a:lnTo>
                  <a:pt x="4430" y="150"/>
                </a:lnTo>
                <a:lnTo>
                  <a:pt x="4434" y="126"/>
                </a:lnTo>
                <a:lnTo>
                  <a:pt x="4431" y="115"/>
                </a:lnTo>
                <a:lnTo>
                  <a:pt x="4424" y="115"/>
                </a:lnTo>
                <a:lnTo>
                  <a:pt x="4414" y="121"/>
                </a:lnTo>
                <a:lnTo>
                  <a:pt x="4402" y="129"/>
                </a:lnTo>
                <a:lnTo>
                  <a:pt x="4391" y="137"/>
                </a:lnTo>
                <a:lnTo>
                  <a:pt x="4383" y="143"/>
                </a:lnTo>
                <a:lnTo>
                  <a:pt x="4375" y="142"/>
                </a:lnTo>
                <a:lnTo>
                  <a:pt x="4366" y="149"/>
                </a:lnTo>
                <a:lnTo>
                  <a:pt x="4353" y="155"/>
                </a:lnTo>
                <a:lnTo>
                  <a:pt x="4337" y="163"/>
                </a:lnTo>
                <a:lnTo>
                  <a:pt x="4322" y="169"/>
                </a:lnTo>
                <a:lnTo>
                  <a:pt x="4306" y="177"/>
                </a:lnTo>
                <a:lnTo>
                  <a:pt x="4290" y="182"/>
                </a:lnTo>
                <a:lnTo>
                  <a:pt x="4276" y="191"/>
                </a:lnTo>
                <a:lnTo>
                  <a:pt x="4266" y="199"/>
                </a:lnTo>
                <a:lnTo>
                  <a:pt x="4261" y="208"/>
                </a:lnTo>
                <a:lnTo>
                  <a:pt x="4258" y="218"/>
                </a:lnTo>
                <a:lnTo>
                  <a:pt x="4255" y="229"/>
                </a:lnTo>
                <a:lnTo>
                  <a:pt x="4252" y="239"/>
                </a:lnTo>
                <a:lnTo>
                  <a:pt x="4247" y="244"/>
                </a:lnTo>
                <a:lnTo>
                  <a:pt x="4242" y="250"/>
                </a:lnTo>
                <a:lnTo>
                  <a:pt x="4236" y="257"/>
                </a:lnTo>
                <a:lnTo>
                  <a:pt x="4230" y="262"/>
                </a:lnTo>
                <a:lnTo>
                  <a:pt x="4221" y="268"/>
                </a:lnTo>
                <a:lnTo>
                  <a:pt x="4216" y="273"/>
                </a:lnTo>
                <a:lnTo>
                  <a:pt x="4208" y="279"/>
                </a:lnTo>
                <a:lnTo>
                  <a:pt x="4201" y="284"/>
                </a:lnTo>
                <a:lnTo>
                  <a:pt x="4195" y="277"/>
                </a:lnTo>
                <a:lnTo>
                  <a:pt x="4191" y="270"/>
                </a:lnTo>
                <a:lnTo>
                  <a:pt x="4185" y="264"/>
                </a:lnTo>
                <a:lnTo>
                  <a:pt x="4177" y="257"/>
                </a:lnTo>
                <a:lnTo>
                  <a:pt x="4172" y="249"/>
                </a:lnTo>
                <a:lnTo>
                  <a:pt x="4164" y="243"/>
                </a:lnTo>
                <a:lnTo>
                  <a:pt x="4158" y="237"/>
                </a:lnTo>
                <a:lnTo>
                  <a:pt x="4153" y="231"/>
                </a:lnTo>
                <a:lnTo>
                  <a:pt x="4161" y="217"/>
                </a:lnTo>
                <a:lnTo>
                  <a:pt x="4168" y="205"/>
                </a:lnTo>
                <a:lnTo>
                  <a:pt x="4175" y="191"/>
                </a:lnTo>
                <a:lnTo>
                  <a:pt x="4185" y="177"/>
                </a:lnTo>
                <a:lnTo>
                  <a:pt x="4195" y="171"/>
                </a:lnTo>
                <a:lnTo>
                  <a:pt x="4203" y="163"/>
                </a:lnTo>
                <a:lnTo>
                  <a:pt x="4211" y="155"/>
                </a:lnTo>
                <a:lnTo>
                  <a:pt x="4219" y="148"/>
                </a:lnTo>
                <a:lnTo>
                  <a:pt x="4229" y="140"/>
                </a:lnTo>
                <a:lnTo>
                  <a:pt x="4237" y="132"/>
                </a:lnTo>
                <a:lnTo>
                  <a:pt x="4245" y="125"/>
                </a:lnTo>
                <a:lnTo>
                  <a:pt x="4252" y="118"/>
                </a:lnTo>
                <a:lnTo>
                  <a:pt x="4259" y="109"/>
                </a:lnTo>
                <a:lnTo>
                  <a:pt x="4264" y="101"/>
                </a:lnTo>
                <a:lnTo>
                  <a:pt x="4270" y="92"/>
                </a:lnTo>
                <a:lnTo>
                  <a:pt x="4275" y="84"/>
                </a:lnTo>
                <a:lnTo>
                  <a:pt x="4281" y="74"/>
                </a:lnTo>
                <a:lnTo>
                  <a:pt x="4286" y="66"/>
                </a:lnTo>
                <a:lnTo>
                  <a:pt x="4292" y="56"/>
                </a:lnTo>
                <a:lnTo>
                  <a:pt x="4298" y="47"/>
                </a:lnTo>
                <a:lnTo>
                  <a:pt x="4289" y="48"/>
                </a:lnTo>
                <a:lnTo>
                  <a:pt x="4279" y="51"/>
                </a:lnTo>
                <a:lnTo>
                  <a:pt x="4270" y="53"/>
                </a:lnTo>
                <a:lnTo>
                  <a:pt x="4259" y="53"/>
                </a:lnTo>
                <a:lnTo>
                  <a:pt x="4249" y="56"/>
                </a:lnTo>
                <a:lnTo>
                  <a:pt x="4239" y="57"/>
                </a:lnTo>
                <a:lnTo>
                  <a:pt x="4229" y="60"/>
                </a:lnTo>
                <a:lnTo>
                  <a:pt x="4218" y="61"/>
                </a:lnTo>
                <a:lnTo>
                  <a:pt x="4221" y="44"/>
                </a:lnTo>
                <a:lnTo>
                  <a:pt x="4226" y="30"/>
                </a:lnTo>
                <a:lnTo>
                  <a:pt x="4228" y="15"/>
                </a:lnTo>
                <a:lnTo>
                  <a:pt x="4230" y="0"/>
                </a:lnTo>
                <a:lnTo>
                  <a:pt x="4219" y="6"/>
                </a:lnTo>
                <a:lnTo>
                  <a:pt x="4210" y="12"/>
                </a:lnTo>
                <a:lnTo>
                  <a:pt x="4200" y="18"/>
                </a:lnTo>
                <a:lnTo>
                  <a:pt x="4191" y="26"/>
                </a:lnTo>
                <a:lnTo>
                  <a:pt x="4181" y="33"/>
                </a:lnTo>
                <a:lnTo>
                  <a:pt x="4172" y="41"/>
                </a:lnTo>
                <a:lnTo>
                  <a:pt x="4164" y="48"/>
                </a:lnTo>
                <a:lnTo>
                  <a:pt x="4154" y="56"/>
                </a:lnTo>
                <a:lnTo>
                  <a:pt x="4149" y="64"/>
                </a:lnTo>
                <a:lnTo>
                  <a:pt x="4143" y="74"/>
                </a:lnTo>
                <a:lnTo>
                  <a:pt x="4137" y="84"/>
                </a:lnTo>
                <a:lnTo>
                  <a:pt x="4133" y="94"/>
                </a:lnTo>
                <a:lnTo>
                  <a:pt x="4127" y="104"/>
                </a:lnTo>
                <a:lnTo>
                  <a:pt x="4122" y="115"/>
                </a:lnTo>
                <a:lnTo>
                  <a:pt x="4116" y="125"/>
                </a:lnTo>
                <a:lnTo>
                  <a:pt x="4112" y="136"/>
                </a:lnTo>
                <a:lnTo>
                  <a:pt x="4102" y="136"/>
                </a:lnTo>
                <a:lnTo>
                  <a:pt x="4094" y="136"/>
                </a:lnTo>
                <a:lnTo>
                  <a:pt x="4085" y="136"/>
                </a:lnTo>
                <a:lnTo>
                  <a:pt x="4078" y="136"/>
                </a:lnTo>
                <a:lnTo>
                  <a:pt x="4069" y="136"/>
                </a:lnTo>
                <a:lnTo>
                  <a:pt x="4061" y="136"/>
                </a:lnTo>
                <a:lnTo>
                  <a:pt x="4052" y="136"/>
                </a:lnTo>
                <a:lnTo>
                  <a:pt x="4044" y="135"/>
                </a:lnTo>
                <a:lnTo>
                  <a:pt x="4030" y="146"/>
                </a:lnTo>
                <a:lnTo>
                  <a:pt x="4014" y="157"/>
                </a:lnTo>
                <a:lnTo>
                  <a:pt x="4000" y="169"/>
                </a:lnTo>
                <a:lnTo>
                  <a:pt x="3985" y="179"/>
                </a:lnTo>
                <a:lnTo>
                  <a:pt x="3970" y="190"/>
                </a:lnTo>
                <a:lnTo>
                  <a:pt x="3955" y="202"/>
                </a:lnTo>
                <a:lnTo>
                  <a:pt x="3941" y="212"/>
                </a:lnTo>
                <a:lnTo>
                  <a:pt x="3924" y="223"/>
                </a:lnTo>
                <a:lnTo>
                  <a:pt x="3877" y="257"/>
                </a:lnTo>
                <a:lnTo>
                  <a:pt x="3828" y="287"/>
                </a:lnTo>
                <a:lnTo>
                  <a:pt x="3781" y="314"/>
                </a:lnTo>
                <a:lnTo>
                  <a:pt x="3733" y="339"/>
                </a:lnTo>
                <a:lnTo>
                  <a:pt x="3685" y="365"/>
                </a:lnTo>
                <a:lnTo>
                  <a:pt x="3638" y="390"/>
                </a:lnTo>
                <a:lnTo>
                  <a:pt x="3589" y="415"/>
                </a:lnTo>
                <a:lnTo>
                  <a:pt x="3542" y="439"/>
                </a:lnTo>
                <a:lnTo>
                  <a:pt x="3495" y="467"/>
                </a:lnTo>
                <a:lnTo>
                  <a:pt x="3448" y="497"/>
                </a:lnTo>
                <a:lnTo>
                  <a:pt x="3400" y="529"/>
                </a:lnTo>
                <a:lnTo>
                  <a:pt x="3353" y="563"/>
                </a:lnTo>
                <a:lnTo>
                  <a:pt x="3307" y="604"/>
                </a:lnTo>
                <a:lnTo>
                  <a:pt x="3261" y="649"/>
                </a:lnTo>
                <a:lnTo>
                  <a:pt x="3214" y="698"/>
                </a:lnTo>
                <a:lnTo>
                  <a:pt x="3166" y="754"/>
                </a:lnTo>
                <a:lnTo>
                  <a:pt x="3122" y="783"/>
                </a:lnTo>
                <a:lnTo>
                  <a:pt x="3088" y="806"/>
                </a:lnTo>
                <a:lnTo>
                  <a:pt x="3063" y="823"/>
                </a:lnTo>
                <a:lnTo>
                  <a:pt x="3046" y="832"/>
                </a:lnTo>
                <a:lnTo>
                  <a:pt x="3038" y="835"/>
                </a:lnTo>
                <a:lnTo>
                  <a:pt x="3036" y="834"/>
                </a:lnTo>
                <a:lnTo>
                  <a:pt x="3038" y="829"/>
                </a:lnTo>
                <a:lnTo>
                  <a:pt x="3045" y="820"/>
                </a:lnTo>
                <a:lnTo>
                  <a:pt x="3055" y="810"/>
                </a:lnTo>
                <a:lnTo>
                  <a:pt x="3066" y="798"/>
                </a:lnTo>
                <a:lnTo>
                  <a:pt x="3080" y="785"/>
                </a:lnTo>
                <a:lnTo>
                  <a:pt x="3094" y="773"/>
                </a:lnTo>
                <a:lnTo>
                  <a:pt x="3105" y="762"/>
                </a:lnTo>
                <a:lnTo>
                  <a:pt x="3115" y="750"/>
                </a:lnTo>
                <a:lnTo>
                  <a:pt x="3122" y="743"/>
                </a:lnTo>
                <a:lnTo>
                  <a:pt x="3124" y="739"/>
                </a:lnTo>
                <a:lnTo>
                  <a:pt x="3147" y="727"/>
                </a:lnTo>
                <a:lnTo>
                  <a:pt x="3165" y="717"/>
                </a:lnTo>
                <a:lnTo>
                  <a:pt x="3178" y="708"/>
                </a:lnTo>
                <a:lnTo>
                  <a:pt x="3186" y="702"/>
                </a:lnTo>
                <a:lnTo>
                  <a:pt x="3191" y="698"/>
                </a:lnTo>
                <a:lnTo>
                  <a:pt x="3194" y="694"/>
                </a:lnTo>
                <a:lnTo>
                  <a:pt x="3191" y="692"/>
                </a:lnTo>
                <a:lnTo>
                  <a:pt x="3188" y="691"/>
                </a:lnTo>
                <a:lnTo>
                  <a:pt x="3184" y="691"/>
                </a:lnTo>
                <a:lnTo>
                  <a:pt x="3180" y="691"/>
                </a:lnTo>
                <a:lnTo>
                  <a:pt x="3175" y="690"/>
                </a:lnTo>
                <a:lnTo>
                  <a:pt x="3171" y="688"/>
                </a:lnTo>
                <a:lnTo>
                  <a:pt x="3168" y="686"/>
                </a:lnTo>
                <a:lnTo>
                  <a:pt x="3168" y="683"/>
                </a:lnTo>
                <a:lnTo>
                  <a:pt x="3171" y="677"/>
                </a:lnTo>
                <a:lnTo>
                  <a:pt x="3176" y="670"/>
                </a:lnTo>
                <a:lnTo>
                  <a:pt x="3184" y="661"/>
                </a:lnTo>
                <a:lnTo>
                  <a:pt x="3196" y="649"/>
                </a:lnTo>
                <a:lnTo>
                  <a:pt x="3214" y="635"/>
                </a:lnTo>
                <a:lnTo>
                  <a:pt x="3236" y="618"/>
                </a:lnTo>
                <a:lnTo>
                  <a:pt x="3264" y="598"/>
                </a:lnTo>
                <a:lnTo>
                  <a:pt x="3299" y="574"/>
                </a:lnTo>
                <a:lnTo>
                  <a:pt x="3339" y="546"/>
                </a:lnTo>
                <a:lnTo>
                  <a:pt x="3387" y="515"/>
                </a:lnTo>
                <a:lnTo>
                  <a:pt x="3444" y="477"/>
                </a:lnTo>
                <a:lnTo>
                  <a:pt x="3507" y="437"/>
                </a:lnTo>
                <a:lnTo>
                  <a:pt x="3581" y="392"/>
                </a:lnTo>
                <a:lnTo>
                  <a:pt x="3664" y="339"/>
                </a:lnTo>
                <a:lnTo>
                  <a:pt x="3757" y="284"/>
                </a:lnTo>
                <a:lnTo>
                  <a:pt x="3862" y="221"/>
                </a:lnTo>
                <a:lnTo>
                  <a:pt x="3976" y="153"/>
                </a:lnTo>
                <a:lnTo>
                  <a:pt x="4003" y="135"/>
                </a:lnTo>
                <a:lnTo>
                  <a:pt x="4025" y="118"/>
                </a:lnTo>
                <a:lnTo>
                  <a:pt x="4043" y="101"/>
                </a:lnTo>
                <a:lnTo>
                  <a:pt x="4056" y="86"/>
                </a:lnTo>
                <a:lnTo>
                  <a:pt x="4064" y="72"/>
                </a:lnTo>
                <a:lnTo>
                  <a:pt x="4069" y="62"/>
                </a:lnTo>
                <a:lnTo>
                  <a:pt x="4069" y="55"/>
                </a:lnTo>
                <a:lnTo>
                  <a:pt x="4064" y="53"/>
                </a:lnTo>
                <a:lnTo>
                  <a:pt x="4039" y="57"/>
                </a:lnTo>
                <a:lnTo>
                  <a:pt x="4012" y="70"/>
                </a:lnTo>
                <a:lnTo>
                  <a:pt x="3985" y="90"/>
                </a:lnTo>
                <a:lnTo>
                  <a:pt x="3958" y="109"/>
                </a:lnTo>
                <a:lnTo>
                  <a:pt x="3934" y="128"/>
                </a:lnTo>
                <a:lnTo>
                  <a:pt x="3913" y="142"/>
                </a:lnTo>
                <a:lnTo>
                  <a:pt x="3896" y="146"/>
                </a:lnTo>
                <a:lnTo>
                  <a:pt x="3884" y="135"/>
                </a:lnTo>
                <a:lnTo>
                  <a:pt x="3870" y="157"/>
                </a:lnTo>
                <a:lnTo>
                  <a:pt x="3868" y="165"/>
                </a:lnTo>
                <a:lnTo>
                  <a:pt x="3870" y="163"/>
                </a:lnTo>
                <a:lnTo>
                  <a:pt x="3874" y="154"/>
                </a:lnTo>
                <a:lnTo>
                  <a:pt x="3871" y="146"/>
                </a:lnTo>
                <a:lnTo>
                  <a:pt x="3858" y="146"/>
                </a:lnTo>
                <a:lnTo>
                  <a:pt x="3826" y="155"/>
                </a:lnTo>
                <a:lnTo>
                  <a:pt x="3772" y="181"/>
                </a:lnTo>
                <a:lnTo>
                  <a:pt x="3755" y="191"/>
                </a:lnTo>
                <a:lnTo>
                  <a:pt x="3735" y="202"/>
                </a:lnTo>
                <a:lnTo>
                  <a:pt x="3714" y="213"/>
                </a:lnTo>
                <a:lnTo>
                  <a:pt x="3691" y="228"/>
                </a:lnTo>
                <a:lnTo>
                  <a:pt x="3668" y="242"/>
                </a:lnTo>
                <a:lnTo>
                  <a:pt x="3643" y="257"/>
                </a:lnTo>
                <a:lnTo>
                  <a:pt x="3616" y="273"/>
                </a:lnTo>
                <a:lnTo>
                  <a:pt x="3589" y="291"/>
                </a:lnTo>
                <a:lnTo>
                  <a:pt x="3561" y="308"/>
                </a:lnTo>
                <a:lnTo>
                  <a:pt x="3532" y="326"/>
                </a:lnTo>
                <a:lnTo>
                  <a:pt x="3503" y="346"/>
                </a:lnTo>
                <a:lnTo>
                  <a:pt x="3472" y="365"/>
                </a:lnTo>
                <a:lnTo>
                  <a:pt x="3443" y="384"/>
                </a:lnTo>
                <a:lnTo>
                  <a:pt x="3412" y="405"/>
                </a:lnTo>
                <a:lnTo>
                  <a:pt x="3380" y="425"/>
                </a:lnTo>
                <a:lnTo>
                  <a:pt x="3349" y="446"/>
                </a:lnTo>
                <a:lnTo>
                  <a:pt x="3318" y="467"/>
                </a:lnTo>
                <a:lnTo>
                  <a:pt x="3285" y="487"/>
                </a:lnTo>
                <a:lnTo>
                  <a:pt x="3256" y="508"/>
                </a:lnTo>
                <a:lnTo>
                  <a:pt x="3225" y="529"/>
                </a:lnTo>
                <a:lnTo>
                  <a:pt x="3195" y="548"/>
                </a:lnTo>
                <a:lnTo>
                  <a:pt x="3165" y="570"/>
                </a:lnTo>
                <a:lnTo>
                  <a:pt x="3138" y="588"/>
                </a:lnTo>
                <a:lnTo>
                  <a:pt x="3109" y="608"/>
                </a:lnTo>
                <a:lnTo>
                  <a:pt x="3082" y="626"/>
                </a:lnTo>
                <a:lnTo>
                  <a:pt x="3057" y="644"/>
                </a:lnTo>
                <a:lnTo>
                  <a:pt x="3032" y="661"/>
                </a:lnTo>
                <a:lnTo>
                  <a:pt x="3008" y="677"/>
                </a:lnTo>
                <a:lnTo>
                  <a:pt x="2985" y="694"/>
                </a:lnTo>
                <a:lnTo>
                  <a:pt x="2965" y="708"/>
                </a:lnTo>
                <a:lnTo>
                  <a:pt x="2946" y="721"/>
                </a:lnTo>
                <a:lnTo>
                  <a:pt x="2928" y="733"/>
                </a:lnTo>
                <a:lnTo>
                  <a:pt x="2879" y="768"/>
                </a:lnTo>
                <a:lnTo>
                  <a:pt x="2829" y="803"/>
                </a:lnTo>
                <a:lnTo>
                  <a:pt x="2781" y="836"/>
                </a:lnTo>
                <a:lnTo>
                  <a:pt x="2732" y="868"/>
                </a:lnTo>
                <a:lnTo>
                  <a:pt x="2684" y="901"/>
                </a:lnTo>
                <a:lnTo>
                  <a:pt x="2637" y="932"/>
                </a:lnTo>
                <a:lnTo>
                  <a:pt x="2590" y="963"/>
                </a:lnTo>
                <a:lnTo>
                  <a:pt x="2544" y="994"/>
                </a:lnTo>
                <a:lnTo>
                  <a:pt x="2499" y="1025"/>
                </a:lnTo>
                <a:lnTo>
                  <a:pt x="2455" y="1057"/>
                </a:lnTo>
                <a:lnTo>
                  <a:pt x="2410" y="1087"/>
                </a:lnTo>
                <a:lnTo>
                  <a:pt x="2367" y="1117"/>
                </a:lnTo>
                <a:lnTo>
                  <a:pt x="2324" y="1146"/>
                </a:lnTo>
                <a:lnTo>
                  <a:pt x="2281" y="1177"/>
                </a:lnTo>
                <a:lnTo>
                  <a:pt x="2240" y="1208"/>
                </a:lnTo>
                <a:lnTo>
                  <a:pt x="2199" y="1237"/>
                </a:lnTo>
                <a:lnTo>
                  <a:pt x="2175" y="1258"/>
                </a:lnTo>
                <a:lnTo>
                  <a:pt x="2153" y="1280"/>
                </a:lnTo>
                <a:lnTo>
                  <a:pt x="2132" y="1303"/>
                </a:lnTo>
                <a:lnTo>
                  <a:pt x="2111" y="1326"/>
                </a:lnTo>
                <a:lnTo>
                  <a:pt x="2092" y="1349"/>
                </a:lnTo>
                <a:lnTo>
                  <a:pt x="2072" y="1372"/>
                </a:lnTo>
                <a:lnTo>
                  <a:pt x="2055" y="1396"/>
                </a:lnTo>
                <a:lnTo>
                  <a:pt x="2036" y="1419"/>
                </a:lnTo>
                <a:lnTo>
                  <a:pt x="2017" y="1443"/>
                </a:lnTo>
                <a:lnTo>
                  <a:pt x="2001" y="1466"/>
                </a:lnTo>
                <a:lnTo>
                  <a:pt x="1982" y="1490"/>
                </a:lnTo>
                <a:lnTo>
                  <a:pt x="1964" y="1512"/>
                </a:lnTo>
                <a:lnTo>
                  <a:pt x="1945" y="1536"/>
                </a:lnTo>
                <a:lnTo>
                  <a:pt x="1927" y="1556"/>
                </a:lnTo>
                <a:lnTo>
                  <a:pt x="1907" y="1578"/>
                </a:lnTo>
                <a:lnTo>
                  <a:pt x="1888" y="1599"/>
                </a:lnTo>
                <a:lnTo>
                  <a:pt x="1865" y="1621"/>
                </a:lnTo>
                <a:lnTo>
                  <a:pt x="1841" y="1647"/>
                </a:lnTo>
                <a:lnTo>
                  <a:pt x="1817" y="1679"/>
                </a:lnTo>
                <a:lnTo>
                  <a:pt x="1792" y="1714"/>
                </a:lnTo>
                <a:lnTo>
                  <a:pt x="1768" y="1747"/>
                </a:lnTo>
                <a:lnTo>
                  <a:pt x="1744" y="1778"/>
                </a:lnTo>
                <a:lnTo>
                  <a:pt x="1722" y="1805"/>
                </a:lnTo>
                <a:lnTo>
                  <a:pt x="1703" y="1824"/>
                </a:lnTo>
                <a:lnTo>
                  <a:pt x="1675" y="1845"/>
                </a:lnTo>
                <a:lnTo>
                  <a:pt x="1657" y="1860"/>
                </a:lnTo>
                <a:lnTo>
                  <a:pt x="1643" y="1869"/>
                </a:lnTo>
                <a:lnTo>
                  <a:pt x="1634" y="1876"/>
                </a:lnTo>
                <a:lnTo>
                  <a:pt x="1624" y="1882"/>
                </a:lnTo>
                <a:lnTo>
                  <a:pt x="1613" y="1893"/>
                </a:lnTo>
                <a:lnTo>
                  <a:pt x="1598" y="1906"/>
                </a:lnTo>
                <a:lnTo>
                  <a:pt x="1577" y="1928"/>
                </a:lnTo>
                <a:lnTo>
                  <a:pt x="1555" y="1962"/>
                </a:lnTo>
                <a:lnTo>
                  <a:pt x="1537" y="1996"/>
                </a:lnTo>
                <a:lnTo>
                  <a:pt x="1519" y="2034"/>
                </a:lnTo>
                <a:lnTo>
                  <a:pt x="1504" y="2073"/>
                </a:lnTo>
                <a:lnTo>
                  <a:pt x="1487" y="2109"/>
                </a:lnTo>
                <a:lnTo>
                  <a:pt x="1471" y="2146"/>
                </a:lnTo>
                <a:lnTo>
                  <a:pt x="1457" y="2183"/>
                </a:lnTo>
                <a:lnTo>
                  <a:pt x="1440" y="2216"/>
                </a:lnTo>
                <a:lnTo>
                  <a:pt x="1425" y="2187"/>
                </a:lnTo>
                <a:lnTo>
                  <a:pt x="1406" y="2158"/>
                </a:lnTo>
                <a:lnTo>
                  <a:pt x="1388" y="2128"/>
                </a:lnTo>
                <a:lnTo>
                  <a:pt x="1367" y="2098"/>
                </a:lnTo>
                <a:lnTo>
                  <a:pt x="1345" y="2070"/>
                </a:lnTo>
                <a:lnTo>
                  <a:pt x="1323" y="2040"/>
                </a:lnTo>
                <a:lnTo>
                  <a:pt x="1301" y="2011"/>
                </a:lnTo>
                <a:lnTo>
                  <a:pt x="1278" y="1982"/>
                </a:lnTo>
                <a:lnTo>
                  <a:pt x="1255" y="1952"/>
                </a:lnTo>
                <a:lnTo>
                  <a:pt x="1234" y="1922"/>
                </a:lnTo>
                <a:lnTo>
                  <a:pt x="1214" y="1894"/>
                </a:lnTo>
                <a:lnTo>
                  <a:pt x="1196" y="1864"/>
                </a:lnTo>
                <a:lnTo>
                  <a:pt x="1178" y="1835"/>
                </a:lnTo>
                <a:lnTo>
                  <a:pt x="1163" y="1806"/>
                </a:lnTo>
                <a:lnTo>
                  <a:pt x="1150" y="1776"/>
                </a:lnTo>
                <a:lnTo>
                  <a:pt x="1141" y="1748"/>
                </a:lnTo>
                <a:lnTo>
                  <a:pt x="1125" y="1708"/>
                </a:lnTo>
                <a:lnTo>
                  <a:pt x="1109" y="1665"/>
                </a:lnTo>
                <a:lnTo>
                  <a:pt x="1090" y="1621"/>
                </a:lnTo>
                <a:lnTo>
                  <a:pt x="1072" y="1576"/>
                </a:lnTo>
                <a:lnTo>
                  <a:pt x="1053" y="1531"/>
                </a:lnTo>
                <a:lnTo>
                  <a:pt x="1036" y="1486"/>
                </a:lnTo>
                <a:lnTo>
                  <a:pt x="1019" y="1443"/>
                </a:lnTo>
                <a:lnTo>
                  <a:pt x="1006" y="1401"/>
                </a:lnTo>
                <a:lnTo>
                  <a:pt x="982" y="1410"/>
                </a:lnTo>
                <a:lnTo>
                  <a:pt x="961" y="1421"/>
                </a:lnTo>
                <a:lnTo>
                  <a:pt x="938" y="1429"/>
                </a:lnTo>
                <a:lnTo>
                  <a:pt x="917" y="1438"/>
                </a:lnTo>
                <a:lnTo>
                  <a:pt x="894" y="1447"/>
                </a:lnTo>
                <a:lnTo>
                  <a:pt x="873" y="1454"/>
                </a:lnTo>
                <a:lnTo>
                  <a:pt x="850" y="1462"/>
                </a:lnTo>
                <a:lnTo>
                  <a:pt x="828" y="1472"/>
                </a:lnTo>
                <a:lnTo>
                  <a:pt x="811" y="1480"/>
                </a:lnTo>
                <a:lnTo>
                  <a:pt x="793" y="1487"/>
                </a:lnTo>
                <a:lnTo>
                  <a:pt x="775" y="1496"/>
                </a:lnTo>
                <a:lnTo>
                  <a:pt x="758" y="1505"/>
                </a:lnTo>
                <a:lnTo>
                  <a:pt x="740" y="1512"/>
                </a:lnTo>
                <a:lnTo>
                  <a:pt x="724" y="1521"/>
                </a:lnTo>
                <a:lnTo>
                  <a:pt x="706" y="1528"/>
                </a:lnTo>
                <a:lnTo>
                  <a:pt x="689" y="1537"/>
                </a:lnTo>
                <a:lnTo>
                  <a:pt x="672" y="1545"/>
                </a:lnTo>
                <a:lnTo>
                  <a:pt x="654" y="1553"/>
                </a:lnTo>
                <a:lnTo>
                  <a:pt x="638" y="1561"/>
                </a:lnTo>
                <a:lnTo>
                  <a:pt x="621" y="1570"/>
                </a:lnTo>
                <a:lnTo>
                  <a:pt x="604" y="1576"/>
                </a:lnTo>
                <a:lnTo>
                  <a:pt x="588" y="1585"/>
                </a:lnTo>
                <a:lnTo>
                  <a:pt x="571" y="1593"/>
                </a:lnTo>
                <a:lnTo>
                  <a:pt x="555" y="1601"/>
                </a:lnTo>
                <a:lnTo>
                  <a:pt x="551" y="1601"/>
                </a:lnTo>
                <a:lnTo>
                  <a:pt x="543" y="1601"/>
                </a:lnTo>
                <a:lnTo>
                  <a:pt x="529" y="1603"/>
                </a:lnTo>
                <a:lnTo>
                  <a:pt x="512" y="1607"/>
                </a:lnTo>
                <a:lnTo>
                  <a:pt x="493" y="1611"/>
                </a:lnTo>
                <a:lnTo>
                  <a:pt x="470" y="1617"/>
                </a:lnTo>
                <a:lnTo>
                  <a:pt x="447" y="1625"/>
                </a:lnTo>
                <a:lnTo>
                  <a:pt x="422" y="1632"/>
                </a:lnTo>
                <a:lnTo>
                  <a:pt x="397" y="1638"/>
                </a:lnTo>
                <a:lnTo>
                  <a:pt x="374" y="1645"/>
                </a:lnTo>
                <a:lnTo>
                  <a:pt x="352" y="1653"/>
                </a:lnTo>
                <a:lnTo>
                  <a:pt x="334" y="1657"/>
                </a:lnTo>
                <a:lnTo>
                  <a:pt x="316" y="1661"/>
                </a:lnTo>
                <a:lnTo>
                  <a:pt x="305" y="1665"/>
                </a:lnTo>
                <a:lnTo>
                  <a:pt x="298" y="1665"/>
                </a:lnTo>
                <a:lnTo>
                  <a:pt x="295" y="1663"/>
                </a:lnTo>
                <a:lnTo>
                  <a:pt x="275" y="1674"/>
                </a:lnTo>
                <a:lnTo>
                  <a:pt x="257" y="1685"/>
                </a:lnTo>
                <a:lnTo>
                  <a:pt x="237" y="1696"/>
                </a:lnTo>
                <a:lnTo>
                  <a:pt x="220" y="1708"/>
                </a:lnTo>
                <a:lnTo>
                  <a:pt x="199" y="1718"/>
                </a:lnTo>
                <a:lnTo>
                  <a:pt x="181" y="1728"/>
                </a:lnTo>
                <a:lnTo>
                  <a:pt x="161" y="1739"/>
                </a:lnTo>
                <a:lnTo>
                  <a:pt x="143" y="1750"/>
                </a:lnTo>
                <a:lnTo>
                  <a:pt x="124" y="1761"/>
                </a:lnTo>
                <a:lnTo>
                  <a:pt x="106" y="1773"/>
                </a:lnTo>
                <a:lnTo>
                  <a:pt x="88" y="1783"/>
                </a:lnTo>
                <a:lnTo>
                  <a:pt x="70" y="1794"/>
                </a:lnTo>
                <a:lnTo>
                  <a:pt x="53" y="1805"/>
                </a:lnTo>
                <a:lnTo>
                  <a:pt x="35" y="1816"/>
                </a:lnTo>
                <a:lnTo>
                  <a:pt x="18" y="1827"/>
                </a:lnTo>
                <a:lnTo>
                  <a:pt x="0" y="1838"/>
                </a:lnTo>
                <a:close/>
              </a:path>
            </a:pathLst>
          </a:custGeom>
          <a:solidFill>
            <a:srgbClr val="C00000"/>
          </a:solidFill>
          <a:ln w="9525">
            <a:noFill/>
            <a:round/>
            <a:headEnd/>
            <a:tailEnd/>
          </a:ln>
        </p:spPr>
        <p:txBody>
          <a:bodyPr lIns="36000" tIns="36000" rIns="36000" bIns="36000" anchor="ctr" anchorCtr="0"/>
          <a:lstStyle/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endParaRPr kumimoji="1" lang="ko-KR" altLang="en-US" sz="1100" b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000000"/>
              </a:solidFill>
              <a:latin typeface="하나 M" panose="02020603020101020101" pitchFamily="18" charset="-127"/>
              <a:ea typeface="하나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461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82EB6-612A-0E4A-5EF5-D81CE0C34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8">
            <a:extLst>
              <a:ext uri="{FF2B5EF4-FFF2-40B4-BE49-F238E27FC236}">
                <a16:creationId xmlns:a16="http://schemas.microsoft.com/office/drawing/2014/main" id="{B26B993E-6482-1E2A-1559-CDD2A4459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126" y="946206"/>
            <a:ext cx="8928100" cy="46134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indent="0" latinLnBrk="0">
              <a:lnSpc>
                <a:spcPts val="1900"/>
              </a:lnSpc>
              <a:spcBef>
                <a:spcPts val="0"/>
              </a:spcBef>
              <a:spcAft>
                <a:spcPts val="300"/>
              </a:spcAft>
              <a:buClr>
                <a:srgbClr val="00338D"/>
              </a:buClr>
              <a:buSzPct val="90000"/>
              <a:buNone/>
            </a:pPr>
            <a: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 Medium" panose="02000603000000020004" pitchFamily="50" charset="-127"/>
              </a:rPr>
              <a:t>Employees who travel more frequently have higher attrition rates, while those with higher education levels tend to have lower attrition rates. </a:t>
            </a:r>
            <a:b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 Medium" panose="02000603000000020004" pitchFamily="50" charset="-127"/>
              </a:rPr>
            </a:br>
            <a: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 Medium" panose="02000603000000020004" pitchFamily="50" charset="-127"/>
              </a:rPr>
              <a:t>Business Travel shows a stronger relationship with attrition.</a:t>
            </a:r>
          </a:p>
        </p:txBody>
      </p:sp>
      <p:sp>
        <p:nvSpPr>
          <p:cNvPr id="3" name="Rectangle 39">
            <a:extLst>
              <a:ext uri="{FF2B5EF4-FFF2-40B4-BE49-F238E27FC236}">
                <a16:creationId xmlns:a16="http://schemas.microsoft.com/office/drawing/2014/main" id="{7911C72D-414B-D536-822D-646403983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51398"/>
            <a:ext cx="8928100" cy="3560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marL="342900" indent="-342900" eaLnBrk="0" fontAlgn="b" hangingPunct="0">
              <a:lnSpc>
                <a:spcPts val="3300"/>
              </a:lnSpc>
              <a:buClr>
                <a:srgbClr val="1F497D"/>
              </a:buClr>
              <a:defRPr/>
            </a:pPr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  <a:ea typeface="+mj-ea"/>
              </a:rPr>
              <a:t>Categorical Variables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  <a:ea typeface="+mj-ea"/>
              </a:rPr>
              <a:t>: Business Travel, Department, Education, Education Field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9EDA96-6EC2-245A-A207-E6F4F9466216}"/>
              </a:ext>
            </a:extLst>
          </p:cNvPr>
          <p:cNvSpPr txBox="1"/>
          <p:nvPr/>
        </p:nvSpPr>
        <p:spPr>
          <a:xfrm>
            <a:off x="6936782" y="526127"/>
            <a:ext cx="2610897" cy="235193"/>
          </a:xfrm>
          <a:prstGeom prst="rect">
            <a:avLst/>
          </a:prstGeom>
          <a:noFill/>
        </p:spPr>
        <p:txBody>
          <a:bodyPr wrap="square" lIns="54610" tIns="54610" rIns="54610" bIns="54610" rtlCol="0">
            <a:noAutofit/>
          </a:bodyPr>
          <a:lstStyle/>
          <a:p>
            <a:pPr marL="0" indent="0" algn="r">
              <a:spcAft>
                <a:spcPts val="600"/>
              </a:spcAft>
              <a:buNone/>
            </a:pPr>
            <a:r>
              <a:rPr lang="en-US" altLang="ko-KR" sz="1000" b="1" dirty="0">
                <a:ln w="317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 Medium" panose="02000603000000020004" pitchFamily="50" charset="-127"/>
              </a:rPr>
              <a:t>Appendix.</a:t>
            </a: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BFF43FCD-4E96-C356-8547-55677D96C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861" y="4149226"/>
            <a:ext cx="3243167" cy="2160000"/>
          </a:xfrm>
          <a:prstGeom prst="rect">
            <a:avLst/>
          </a:prstGeom>
        </p:spPr>
      </p:pic>
      <p:sp>
        <p:nvSpPr>
          <p:cNvPr id="1032" name="사각형: 둥근 위쪽 모서리 1031">
            <a:extLst>
              <a:ext uri="{FF2B5EF4-FFF2-40B4-BE49-F238E27FC236}">
                <a16:creationId xmlns:a16="http://schemas.microsoft.com/office/drawing/2014/main" id="{F511CADA-2C91-B37E-AD06-395341508609}"/>
              </a:ext>
            </a:extLst>
          </p:cNvPr>
          <p:cNvSpPr/>
          <p:nvPr/>
        </p:nvSpPr>
        <p:spPr>
          <a:xfrm>
            <a:off x="5029487" y="3973659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Education Field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0320FAEB-CD2B-0C82-28DD-24FAA753E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149" y="4149226"/>
            <a:ext cx="3243167" cy="2160000"/>
          </a:xfrm>
          <a:prstGeom prst="rect">
            <a:avLst/>
          </a:prstGeom>
        </p:spPr>
      </p:pic>
      <p:sp>
        <p:nvSpPr>
          <p:cNvPr id="1033" name="사각형: 둥근 위쪽 모서리 1032">
            <a:extLst>
              <a:ext uri="{FF2B5EF4-FFF2-40B4-BE49-F238E27FC236}">
                <a16:creationId xmlns:a16="http://schemas.microsoft.com/office/drawing/2014/main" id="{9676B85B-43B4-0782-5B6A-05731BC69756}"/>
              </a:ext>
            </a:extLst>
          </p:cNvPr>
          <p:cNvSpPr/>
          <p:nvPr/>
        </p:nvSpPr>
        <p:spPr>
          <a:xfrm>
            <a:off x="488950" y="3973659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Education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86A32C60-441B-D89B-2663-FC558300DB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8861" y="1675083"/>
            <a:ext cx="3243167" cy="2160000"/>
          </a:xfrm>
          <a:prstGeom prst="rect">
            <a:avLst/>
          </a:prstGeom>
        </p:spPr>
      </p:pic>
      <p:sp>
        <p:nvSpPr>
          <p:cNvPr id="1039" name="사각형: 둥근 위쪽 모서리 1038">
            <a:extLst>
              <a:ext uri="{FF2B5EF4-FFF2-40B4-BE49-F238E27FC236}">
                <a16:creationId xmlns:a16="http://schemas.microsoft.com/office/drawing/2014/main" id="{5BD9A5CD-983A-91D4-536D-9A9ED36BBE51}"/>
              </a:ext>
            </a:extLst>
          </p:cNvPr>
          <p:cNvSpPr/>
          <p:nvPr/>
        </p:nvSpPr>
        <p:spPr>
          <a:xfrm>
            <a:off x="5029487" y="1518955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Department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777A6E8-AEDE-A883-DF43-6A51896083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149" y="1675083"/>
            <a:ext cx="3243167" cy="2160000"/>
          </a:xfrm>
          <a:prstGeom prst="rect">
            <a:avLst/>
          </a:prstGeom>
        </p:spPr>
      </p:pic>
      <p:sp>
        <p:nvSpPr>
          <p:cNvPr id="1037" name="사각형: 둥근 위쪽 모서리 1036">
            <a:extLst>
              <a:ext uri="{FF2B5EF4-FFF2-40B4-BE49-F238E27FC236}">
                <a16:creationId xmlns:a16="http://schemas.microsoft.com/office/drawing/2014/main" id="{A1668E3C-67E6-C906-3604-4B52C44B19B7}"/>
              </a:ext>
            </a:extLst>
          </p:cNvPr>
          <p:cNvSpPr/>
          <p:nvPr/>
        </p:nvSpPr>
        <p:spPr>
          <a:xfrm>
            <a:off x="488950" y="1518955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Business Travel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040" name="직사각형 1039">
            <a:extLst>
              <a:ext uri="{FF2B5EF4-FFF2-40B4-BE49-F238E27FC236}">
                <a16:creationId xmlns:a16="http://schemas.microsoft.com/office/drawing/2014/main" id="{B889F804-6AEA-B209-6815-E214826537A8}"/>
              </a:ext>
            </a:extLst>
          </p:cNvPr>
          <p:cNvSpPr/>
          <p:nvPr/>
        </p:nvSpPr>
        <p:spPr>
          <a:xfrm>
            <a:off x="488950" y="1793545"/>
            <a:ext cx="4387563" cy="204153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1045" name="직사각형 1044">
            <a:extLst>
              <a:ext uri="{FF2B5EF4-FFF2-40B4-BE49-F238E27FC236}">
                <a16:creationId xmlns:a16="http://schemas.microsoft.com/office/drawing/2014/main" id="{8E4C3032-CFAF-8411-F3DD-40873096AE55}"/>
              </a:ext>
            </a:extLst>
          </p:cNvPr>
          <p:cNvSpPr/>
          <p:nvPr/>
        </p:nvSpPr>
        <p:spPr>
          <a:xfrm>
            <a:off x="488950" y="4248249"/>
            <a:ext cx="4387563" cy="2041538"/>
          </a:xfrm>
          <a:prstGeom prst="rect">
            <a:avLst/>
          </a:prstGeom>
          <a:noFill/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1046" name="직사각형 1045">
            <a:extLst>
              <a:ext uri="{FF2B5EF4-FFF2-40B4-BE49-F238E27FC236}">
                <a16:creationId xmlns:a16="http://schemas.microsoft.com/office/drawing/2014/main" id="{80036A66-FAF8-85EA-A693-4A0E706B98F8}"/>
              </a:ext>
            </a:extLst>
          </p:cNvPr>
          <p:cNvSpPr/>
          <p:nvPr/>
        </p:nvSpPr>
        <p:spPr>
          <a:xfrm>
            <a:off x="5029486" y="4248249"/>
            <a:ext cx="4387563" cy="2041538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1047" name="직사각형 1046">
            <a:extLst>
              <a:ext uri="{FF2B5EF4-FFF2-40B4-BE49-F238E27FC236}">
                <a16:creationId xmlns:a16="http://schemas.microsoft.com/office/drawing/2014/main" id="{E49B2A9D-C6DD-F819-9DBB-D5B167719DE6}"/>
              </a:ext>
            </a:extLst>
          </p:cNvPr>
          <p:cNvSpPr/>
          <p:nvPr/>
        </p:nvSpPr>
        <p:spPr>
          <a:xfrm>
            <a:off x="5029486" y="1793545"/>
            <a:ext cx="4387563" cy="2041538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605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B592E-33E2-7282-1913-016A5BE20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8">
            <a:extLst>
              <a:ext uri="{FF2B5EF4-FFF2-40B4-BE49-F238E27FC236}">
                <a16:creationId xmlns:a16="http://schemas.microsoft.com/office/drawing/2014/main" id="{558457D6-4CBE-0E9F-5EF2-26EB9A918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126" y="946206"/>
            <a:ext cx="8928100" cy="217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indent="0" latinLnBrk="0">
              <a:lnSpc>
                <a:spcPts val="1900"/>
              </a:lnSpc>
              <a:spcBef>
                <a:spcPts val="0"/>
              </a:spcBef>
              <a:spcAft>
                <a:spcPts val="300"/>
              </a:spcAft>
              <a:buClr>
                <a:srgbClr val="00338D"/>
              </a:buClr>
              <a:buSzPct val="90000"/>
              <a:buNone/>
            </a:pPr>
            <a: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 Medium" panose="02000603000000020004" pitchFamily="50" charset="-127"/>
              </a:rPr>
              <a:t>Employees with lower job involvement have higher attrition rates. Attrition rates decrease significantly as job involvement increases.</a:t>
            </a:r>
          </a:p>
        </p:txBody>
      </p:sp>
      <p:sp>
        <p:nvSpPr>
          <p:cNvPr id="3" name="Rectangle 39">
            <a:extLst>
              <a:ext uri="{FF2B5EF4-FFF2-40B4-BE49-F238E27FC236}">
                <a16:creationId xmlns:a16="http://schemas.microsoft.com/office/drawing/2014/main" id="{EEDE6CF2-6543-C12F-48C5-7693ECB46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51398"/>
            <a:ext cx="8928100" cy="3560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marL="342900" indent="-342900" eaLnBrk="0" fontAlgn="b" hangingPunct="0">
              <a:lnSpc>
                <a:spcPts val="3300"/>
              </a:lnSpc>
              <a:buClr>
                <a:srgbClr val="1F497D"/>
              </a:buClr>
              <a:defRPr/>
            </a:pPr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Categorical Variables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: Environmental Satisfaction, Gender, Job Involvement, Job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C34657-255A-47C7-9DD7-28DD22CAB443}"/>
              </a:ext>
            </a:extLst>
          </p:cNvPr>
          <p:cNvSpPr txBox="1"/>
          <p:nvPr/>
        </p:nvSpPr>
        <p:spPr>
          <a:xfrm>
            <a:off x="6936782" y="526127"/>
            <a:ext cx="2610897" cy="235193"/>
          </a:xfrm>
          <a:prstGeom prst="rect">
            <a:avLst/>
          </a:prstGeom>
          <a:noFill/>
        </p:spPr>
        <p:txBody>
          <a:bodyPr wrap="square" lIns="54610" tIns="54610" rIns="54610" bIns="54610" rtlCol="0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altLang="ko-KR" sz="1000" b="1" dirty="0">
                <a:ln w="3175">
                  <a:solidFill>
                    <a:schemeClr val="accent1">
                      <a:alpha val="0"/>
                    </a:scheme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 Medium" panose="02000603000000020004" pitchFamily="50" charset="-127"/>
              </a:rPr>
              <a:t>Appendix.</a:t>
            </a:r>
            <a:endParaRPr lang="en-US" altLang="ko-KR" sz="1000" b="1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Pretendard Medium" panose="02000603000000020004" pitchFamily="50" charset="-127"/>
            </a:endParaRP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1B9F0252-99F8-54E7-7E9E-93C3521A2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119" y="1678293"/>
            <a:ext cx="3244050" cy="2160588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0B117A88-734B-6352-CFB5-BF4A3AD5AD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9831" y="1678293"/>
            <a:ext cx="3244050" cy="2160588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77325064-EC5D-3A3D-3FFD-442F980AA6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119" y="4155043"/>
            <a:ext cx="3244050" cy="2160588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9B654858-7049-8C08-2F0F-1F4C0FB1B9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9831" y="4155043"/>
            <a:ext cx="3244050" cy="2160588"/>
          </a:xfrm>
          <a:prstGeom prst="rect">
            <a:avLst/>
          </a:prstGeom>
        </p:spPr>
      </p:pic>
      <p:sp>
        <p:nvSpPr>
          <p:cNvPr id="5" name="사각형: 둥근 위쪽 모서리 4">
            <a:extLst>
              <a:ext uri="{FF2B5EF4-FFF2-40B4-BE49-F238E27FC236}">
                <a16:creationId xmlns:a16="http://schemas.microsoft.com/office/drawing/2014/main" id="{660C6427-6F8C-603B-7612-E4702C4F14A1}"/>
              </a:ext>
            </a:extLst>
          </p:cNvPr>
          <p:cNvSpPr/>
          <p:nvPr/>
        </p:nvSpPr>
        <p:spPr>
          <a:xfrm>
            <a:off x="5029487" y="1522164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Gender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13A4B026-44BC-A370-0B47-9FFA3899ED4D}"/>
              </a:ext>
            </a:extLst>
          </p:cNvPr>
          <p:cNvSpPr/>
          <p:nvPr/>
        </p:nvSpPr>
        <p:spPr>
          <a:xfrm>
            <a:off x="488950" y="1522164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Environment Satisfaction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0" name="사각형: 둥근 위쪽 모서리 9">
            <a:extLst>
              <a:ext uri="{FF2B5EF4-FFF2-40B4-BE49-F238E27FC236}">
                <a16:creationId xmlns:a16="http://schemas.microsoft.com/office/drawing/2014/main" id="{B736C734-31FE-AF70-74DA-452D24230B85}"/>
              </a:ext>
            </a:extLst>
          </p:cNvPr>
          <p:cNvSpPr/>
          <p:nvPr/>
        </p:nvSpPr>
        <p:spPr>
          <a:xfrm>
            <a:off x="5029487" y="3979770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Job Level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2" name="사각형: 둥근 위쪽 모서리 11">
            <a:extLst>
              <a:ext uri="{FF2B5EF4-FFF2-40B4-BE49-F238E27FC236}">
                <a16:creationId xmlns:a16="http://schemas.microsoft.com/office/drawing/2014/main" id="{D2231FF9-C28B-049D-4F40-0C6292148181}"/>
              </a:ext>
            </a:extLst>
          </p:cNvPr>
          <p:cNvSpPr/>
          <p:nvPr/>
        </p:nvSpPr>
        <p:spPr>
          <a:xfrm>
            <a:off x="488950" y="3979770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Job Involvement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FF1BF2F-1859-E1FC-B00C-DD3FE0F70B94}"/>
              </a:ext>
            </a:extLst>
          </p:cNvPr>
          <p:cNvSpPr/>
          <p:nvPr/>
        </p:nvSpPr>
        <p:spPr>
          <a:xfrm>
            <a:off x="488950" y="1781592"/>
            <a:ext cx="4387563" cy="2041538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0DF34F8-1812-3401-1403-3369BB917030}"/>
              </a:ext>
            </a:extLst>
          </p:cNvPr>
          <p:cNvSpPr/>
          <p:nvPr/>
        </p:nvSpPr>
        <p:spPr>
          <a:xfrm>
            <a:off x="5029486" y="4248249"/>
            <a:ext cx="4387563" cy="2041538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85EA202-8600-324E-6CE4-30492EF7F1FD}"/>
              </a:ext>
            </a:extLst>
          </p:cNvPr>
          <p:cNvSpPr/>
          <p:nvPr/>
        </p:nvSpPr>
        <p:spPr>
          <a:xfrm>
            <a:off x="5029486" y="1793545"/>
            <a:ext cx="4387563" cy="2041538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D7E96B2-831F-4CDE-2E3A-CAF3D5AFCDE3}"/>
              </a:ext>
            </a:extLst>
          </p:cNvPr>
          <p:cNvSpPr/>
          <p:nvPr/>
        </p:nvSpPr>
        <p:spPr>
          <a:xfrm>
            <a:off x="488950" y="4248249"/>
            <a:ext cx="4387563" cy="204153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027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CA693-95B7-D8D7-AF84-AB162F5A3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8">
            <a:extLst>
              <a:ext uri="{FF2B5EF4-FFF2-40B4-BE49-F238E27FC236}">
                <a16:creationId xmlns:a16="http://schemas.microsoft.com/office/drawing/2014/main" id="{892529F4-9285-FD88-8670-7D89CE8B8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126" y="946206"/>
            <a:ext cx="8928100" cy="46134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indent="0" latinLnBrk="0">
              <a:lnSpc>
                <a:spcPts val="1900"/>
              </a:lnSpc>
              <a:spcBef>
                <a:spcPts val="0"/>
              </a:spcBef>
              <a:spcAft>
                <a:spcPts val="300"/>
              </a:spcAft>
              <a:buClr>
                <a:srgbClr val="00338D"/>
              </a:buClr>
              <a:buSzPct val="90000"/>
              <a:buNone/>
            </a:pPr>
            <a: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 Medium" panose="02000603000000020004" pitchFamily="50" charset="-127"/>
              </a:rPr>
              <a:t>Employees with lower job satisfaction, single employees, and those working overtime have higher attrition rates. </a:t>
            </a:r>
            <a:b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 Medium" panose="02000603000000020004" pitchFamily="50" charset="-127"/>
              </a:rPr>
            </a:br>
            <a: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 Medium" panose="02000603000000020004" pitchFamily="50" charset="-127"/>
              </a:rPr>
              <a:t>Overtime shows the strongest relationship with attrition.</a:t>
            </a:r>
          </a:p>
        </p:txBody>
      </p:sp>
      <p:sp>
        <p:nvSpPr>
          <p:cNvPr id="3" name="Rectangle 39">
            <a:extLst>
              <a:ext uri="{FF2B5EF4-FFF2-40B4-BE49-F238E27FC236}">
                <a16:creationId xmlns:a16="http://schemas.microsoft.com/office/drawing/2014/main" id="{8BE2F32C-240A-1E55-2586-ECA936DD8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51398"/>
            <a:ext cx="8928100" cy="3560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marL="342900" indent="-342900" eaLnBrk="0" fontAlgn="b" hangingPunct="0">
              <a:lnSpc>
                <a:spcPts val="3300"/>
              </a:lnSpc>
              <a:buClr>
                <a:srgbClr val="1F497D"/>
              </a:buClr>
              <a:defRPr/>
            </a:pPr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Categorical Variables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: Job Role, Job Satisfaction, Marital Status, Overtime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8FC262-7D5D-1AC7-9A8D-2C06741E4F91}"/>
              </a:ext>
            </a:extLst>
          </p:cNvPr>
          <p:cNvSpPr txBox="1"/>
          <p:nvPr/>
        </p:nvSpPr>
        <p:spPr>
          <a:xfrm>
            <a:off x="6936782" y="526127"/>
            <a:ext cx="2610897" cy="235193"/>
          </a:xfrm>
          <a:prstGeom prst="rect">
            <a:avLst/>
          </a:prstGeom>
          <a:noFill/>
        </p:spPr>
        <p:txBody>
          <a:bodyPr wrap="square" lIns="54610" tIns="54610" rIns="54610" bIns="54610" rtlCol="0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altLang="ko-KR" sz="1000" b="1" dirty="0">
                <a:ln w="3175">
                  <a:solidFill>
                    <a:schemeClr val="accent1">
                      <a:alpha val="0"/>
                    </a:scheme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 Medium" panose="02000603000000020004" pitchFamily="50" charset="-127"/>
              </a:rPr>
              <a:t>Appendix.</a:t>
            </a:r>
            <a:endParaRPr lang="en-US" altLang="ko-KR" sz="1000" b="1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Pretendard Medium" panose="02000603000000020004" pitchFamily="50" charset="-127"/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DB53BB3F-20B3-A84C-DBDF-00BCE11C7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647" y="1680502"/>
            <a:ext cx="3244050" cy="2160588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28F10E4B-B1DC-7E16-FB2B-E67E66AF6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6359" y="1680502"/>
            <a:ext cx="3244050" cy="2160588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32C09DC6-C343-D85C-253D-151DC117AE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647" y="4148932"/>
            <a:ext cx="3244050" cy="2160588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36223A15-209A-2507-385C-11BE37C6EA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6359" y="4148932"/>
            <a:ext cx="3244050" cy="2160588"/>
          </a:xfrm>
          <a:prstGeom prst="rect">
            <a:avLst/>
          </a:prstGeom>
        </p:spPr>
      </p:pic>
      <p:sp>
        <p:nvSpPr>
          <p:cNvPr id="5" name="사각형: 둥근 위쪽 모서리 4">
            <a:extLst>
              <a:ext uri="{FF2B5EF4-FFF2-40B4-BE49-F238E27FC236}">
                <a16:creationId xmlns:a16="http://schemas.microsoft.com/office/drawing/2014/main" id="{D6B20B35-3C34-6F6A-ED3C-35F4F6794E79}"/>
              </a:ext>
            </a:extLst>
          </p:cNvPr>
          <p:cNvSpPr/>
          <p:nvPr/>
        </p:nvSpPr>
        <p:spPr>
          <a:xfrm>
            <a:off x="5029487" y="1524372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Job Satisfaction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6949152B-A302-D5B4-7490-9451DC5F8FDB}"/>
              </a:ext>
            </a:extLst>
          </p:cNvPr>
          <p:cNvSpPr/>
          <p:nvPr/>
        </p:nvSpPr>
        <p:spPr>
          <a:xfrm>
            <a:off x="488950" y="1524372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Job Role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0" name="사각형: 둥근 위쪽 모서리 9">
            <a:extLst>
              <a:ext uri="{FF2B5EF4-FFF2-40B4-BE49-F238E27FC236}">
                <a16:creationId xmlns:a16="http://schemas.microsoft.com/office/drawing/2014/main" id="{A9BB93F2-AB39-A39E-016D-EBD8A8208C81}"/>
              </a:ext>
            </a:extLst>
          </p:cNvPr>
          <p:cNvSpPr/>
          <p:nvPr/>
        </p:nvSpPr>
        <p:spPr>
          <a:xfrm>
            <a:off x="5029487" y="3973659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Overtime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2" name="사각형: 둥근 위쪽 모서리 11">
            <a:extLst>
              <a:ext uri="{FF2B5EF4-FFF2-40B4-BE49-F238E27FC236}">
                <a16:creationId xmlns:a16="http://schemas.microsoft.com/office/drawing/2014/main" id="{82A3DAF7-32CA-2A81-A287-F53F1EC52244}"/>
              </a:ext>
            </a:extLst>
          </p:cNvPr>
          <p:cNvSpPr/>
          <p:nvPr/>
        </p:nvSpPr>
        <p:spPr>
          <a:xfrm>
            <a:off x="488950" y="3973659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Marital Status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3B465A-4700-AC49-7944-1C335881C66B}"/>
              </a:ext>
            </a:extLst>
          </p:cNvPr>
          <p:cNvSpPr/>
          <p:nvPr/>
        </p:nvSpPr>
        <p:spPr>
          <a:xfrm>
            <a:off x="488950" y="4248249"/>
            <a:ext cx="4387563" cy="2041538"/>
          </a:xfrm>
          <a:prstGeom prst="rect">
            <a:avLst/>
          </a:prstGeom>
          <a:noFill/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A69A2E2-442B-1903-F112-8F861296A63C}"/>
              </a:ext>
            </a:extLst>
          </p:cNvPr>
          <p:cNvSpPr/>
          <p:nvPr/>
        </p:nvSpPr>
        <p:spPr>
          <a:xfrm>
            <a:off x="5029486" y="1793545"/>
            <a:ext cx="4387563" cy="2041538"/>
          </a:xfrm>
          <a:prstGeom prst="rect">
            <a:avLst/>
          </a:prstGeom>
          <a:noFill/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0EC529-9058-0C55-9F79-EF3E1BBEDF8C}"/>
              </a:ext>
            </a:extLst>
          </p:cNvPr>
          <p:cNvSpPr/>
          <p:nvPr/>
        </p:nvSpPr>
        <p:spPr>
          <a:xfrm>
            <a:off x="489599" y="1793545"/>
            <a:ext cx="4387563" cy="2041538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7E1B7A5-12AB-3585-3893-C3CD2DEDAE29}"/>
              </a:ext>
            </a:extLst>
          </p:cNvPr>
          <p:cNvSpPr/>
          <p:nvPr/>
        </p:nvSpPr>
        <p:spPr>
          <a:xfrm>
            <a:off x="5039719" y="4248249"/>
            <a:ext cx="4387563" cy="204153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039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46594-FEF8-ACDE-8CE4-186D0022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8">
            <a:extLst>
              <a:ext uri="{FF2B5EF4-FFF2-40B4-BE49-F238E27FC236}">
                <a16:creationId xmlns:a16="http://schemas.microsoft.com/office/drawing/2014/main" id="{7584BC77-DD3B-6015-9F7F-2784F42E7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126" y="946206"/>
            <a:ext cx="8928100" cy="217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indent="0" latinLnBrk="0">
              <a:lnSpc>
                <a:spcPts val="1900"/>
              </a:lnSpc>
              <a:spcBef>
                <a:spcPts val="0"/>
              </a:spcBef>
              <a:spcAft>
                <a:spcPts val="300"/>
              </a:spcAft>
              <a:buClr>
                <a:srgbClr val="00338D"/>
              </a:buClr>
              <a:buSzPct val="90000"/>
              <a:buNone/>
            </a:pPr>
            <a: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 Medium" panose="02000603000000020004" pitchFamily="50" charset="-127"/>
              </a:rPr>
              <a:t>Employees with poor work-life balance have much higher attrition rates. Attrition rates are relatively similar among employees with better work-life balance.</a:t>
            </a:r>
          </a:p>
        </p:txBody>
      </p:sp>
      <p:sp>
        <p:nvSpPr>
          <p:cNvPr id="3" name="Rectangle 39">
            <a:extLst>
              <a:ext uri="{FF2B5EF4-FFF2-40B4-BE49-F238E27FC236}">
                <a16:creationId xmlns:a16="http://schemas.microsoft.com/office/drawing/2014/main" id="{2DDEDB8A-D574-CE00-53A5-B2A1E85B8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53130"/>
            <a:ext cx="8928100" cy="3525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marL="342900" indent="-342900" eaLnBrk="0" fontAlgn="b" hangingPunct="0">
              <a:lnSpc>
                <a:spcPts val="3300"/>
              </a:lnSpc>
              <a:buClr>
                <a:srgbClr val="1F497D"/>
              </a:buClr>
              <a:defRPr/>
            </a:pPr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Categorical Variables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: Performance Rating, Relationship Satisfaction, Stock Options, WLB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322F95-72E0-0A1B-4431-D5E8A7BDF7BD}"/>
              </a:ext>
            </a:extLst>
          </p:cNvPr>
          <p:cNvSpPr txBox="1"/>
          <p:nvPr/>
        </p:nvSpPr>
        <p:spPr>
          <a:xfrm>
            <a:off x="6936782" y="526127"/>
            <a:ext cx="2610897" cy="235193"/>
          </a:xfrm>
          <a:prstGeom prst="rect">
            <a:avLst/>
          </a:prstGeom>
          <a:noFill/>
        </p:spPr>
        <p:txBody>
          <a:bodyPr wrap="square" lIns="54610" tIns="54610" rIns="54610" bIns="54610" rtlCol="0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altLang="ko-KR" sz="1000" b="1" dirty="0">
                <a:ln w="3175">
                  <a:solidFill>
                    <a:schemeClr val="accent1">
                      <a:alpha val="0"/>
                    </a:scheme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 Medium" panose="02000603000000020004" pitchFamily="50" charset="-127"/>
              </a:rPr>
              <a:t>Appendix.</a:t>
            </a:r>
            <a:endParaRPr lang="en-US" altLang="ko-KR" sz="1000" b="1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Pretendard Medium" panose="0200060300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2A55D3F-E45A-AC44-6AAE-C2A6DF1C6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120" y="1674495"/>
            <a:ext cx="3244050" cy="216058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9F722CE-7874-0A0C-9811-43BB7CF86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9831" y="1674495"/>
            <a:ext cx="3244050" cy="21605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21FCA15-B764-4468-C7E9-B9770445B6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120" y="4148930"/>
            <a:ext cx="3244050" cy="216058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7C35FE2-2531-1F7E-3CE3-263E7D1679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9831" y="4148930"/>
            <a:ext cx="3244050" cy="2160588"/>
          </a:xfrm>
          <a:prstGeom prst="rect">
            <a:avLst/>
          </a:prstGeom>
        </p:spPr>
      </p:pic>
      <p:sp>
        <p:nvSpPr>
          <p:cNvPr id="14" name="사각형: 둥근 위쪽 모서리 13">
            <a:extLst>
              <a:ext uri="{FF2B5EF4-FFF2-40B4-BE49-F238E27FC236}">
                <a16:creationId xmlns:a16="http://schemas.microsoft.com/office/drawing/2014/main" id="{6CB6C45C-115E-0083-AAE5-99DC284B8956}"/>
              </a:ext>
            </a:extLst>
          </p:cNvPr>
          <p:cNvSpPr/>
          <p:nvPr/>
        </p:nvSpPr>
        <p:spPr>
          <a:xfrm>
            <a:off x="5029487" y="1518365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Relationship Satisfaction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7" name="사각형: 둥근 위쪽 모서리 16">
            <a:extLst>
              <a:ext uri="{FF2B5EF4-FFF2-40B4-BE49-F238E27FC236}">
                <a16:creationId xmlns:a16="http://schemas.microsoft.com/office/drawing/2014/main" id="{603E3739-5FC9-8B2C-4A87-420ABB98C8DA}"/>
              </a:ext>
            </a:extLst>
          </p:cNvPr>
          <p:cNvSpPr/>
          <p:nvPr/>
        </p:nvSpPr>
        <p:spPr>
          <a:xfrm>
            <a:off x="488950" y="1518365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Performance Rating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9" name="사각형: 둥근 위쪽 모서리 18">
            <a:extLst>
              <a:ext uri="{FF2B5EF4-FFF2-40B4-BE49-F238E27FC236}">
                <a16:creationId xmlns:a16="http://schemas.microsoft.com/office/drawing/2014/main" id="{8DC04694-D7DD-F151-57C3-439D81F999E1}"/>
              </a:ext>
            </a:extLst>
          </p:cNvPr>
          <p:cNvSpPr/>
          <p:nvPr/>
        </p:nvSpPr>
        <p:spPr>
          <a:xfrm>
            <a:off x="5029487" y="3973657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Work Life Balance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1" name="사각형: 둥근 위쪽 모서리 20">
            <a:extLst>
              <a:ext uri="{FF2B5EF4-FFF2-40B4-BE49-F238E27FC236}">
                <a16:creationId xmlns:a16="http://schemas.microsoft.com/office/drawing/2014/main" id="{6B546549-83B2-5421-C3EE-E6398F888E03}"/>
              </a:ext>
            </a:extLst>
          </p:cNvPr>
          <p:cNvSpPr/>
          <p:nvPr/>
        </p:nvSpPr>
        <p:spPr>
          <a:xfrm>
            <a:off x="488950" y="3973657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Stock Option Level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A2D498E-0B87-09FC-62DB-7B91324D3D94}"/>
              </a:ext>
            </a:extLst>
          </p:cNvPr>
          <p:cNvSpPr/>
          <p:nvPr/>
        </p:nvSpPr>
        <p:spPr>
          <a:xfrm>
            <a:off x="488950" y="4248249"/>
            <a:ext cx="4387563" cy="2041538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742CC50-99F2-10C8-735D-B52E529C370C}"/>
              </a:ext>
            </a:extLst>
          </p:cNvPr>
          <p:cNvSpPr/>
          <p:nvPr/>
        </p:nvSpPr>
        <p:spPr>
          <a:xfrm>
            <a:off x="5029486" y="1793545"/>
            <a:ext cx="4387563" cy="2041538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DB5732D-956E-E8FD-BDEF-AAD92A7FBCBA}"/>
              </a:ext>
            </a:extLst>
          </p:cNvPr>
          <p:cNvSpPr/>
          <p:nvPr/>
        </p:nvSpPr>
        <p:spPr>
          <a:xfrm>
            <a:off x="488949" y="1793545"/>
            <a:ext cx="4387563" cy="2041538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0F4FE31-5066-C223-8E44-8757CA198118}"/>
              </a:ext>
            </a:extLst>
          </p:cNvPr>
          <p:cNvSpPr/>
          <p:nvPr/>
        </p:nvSpPr>
        <p:spPr>
          <a:xfrm>
            <a:off x="5039719" y="4248249"/>
            <a:ext cx="4387563" cy="204153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2156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F6CFE-6B3B-FE09-71E6-C9CC89C04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AC5B3CB-6DEC-397B-947F-DF6CC2E92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102" y="1592437"/>
            <a:ext cx="3367257" cy="224264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BFAB638-5F23-DA77-C26B-DA4988919D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639" y="1592437"/>
            <a:ext cx="3367257" cy="224264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7993469-2857-02C0-A8A7-7B2073CB26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103" y="4047141"/>
            <a:ext cx="3367257" cy="224264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8D42D92-D091-B1A6-42CF-DF5FAD7918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9639" y="4047141"/>
            <a:ext cx="3367257" cy="2242646"/>
          </a:xfrm>
          <a:prstGeom prst="rect">
            <a:avLst/>
          </a:prstGeom>
        </p:spPr>
      </p:pic>
      <p:sp>
        <p:nvSpPr>
          <p:cNvPr id="7" name="Rectangle 28">
            <a:extLst>
              <a:ext uri="{FF2B5EF4-FFF2-40B4-BE49-F238E27FC236}">
                <a16:creationId xmlns:a16="http://schemas.microsoft.com/office/drawing/2014/main" id="{76D1C123-614C-D244-CDFB-DA8877DCD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126" y="946206"/>
            <a:ext cx="8928100" cy="46134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indent="0" latinLnBrk="0">
              <a:lnSpc>
                <a:spcPts val="1900"/>
              </a:lnSpc>
              <a:spcBef>
                <a:spcPts val="0"/>
              </a:spcBef>
              <a:spcAft>
                <a:spcPts val="300"/>
              </a:spcAft>
              <a:buClr>
                <a:srgbClr val="00338D"/>
              </a:buClr>
              <a:buSzPct val="90000"/>
              <a:buNone/>
            </a:pPr>
            <a: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 Medium" panose="02000603000000020004" pitchFamily="50" charset="-127"/>
              </a:rPr>
              <a:t>Employees who leave tend to be younger and live farther from work. </a:t>
            </a:r>
            <a:b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 Medium" panose="02000603000000020004" pitchFamily="50" charset="-127"/>
              </a:rPr>
            </a:br>
            <a: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 Medium" panose="02000603000000020004" pitchFamily="50" charset="-127"/>
              </a:rPr>
              <a:t>Daily and hourly rates show little difference between employees who leave and those who stay.</a:t>
            </a:r>
          </a:p>
        </p:txBody>
      </p:sp>
      <p:sp>
        <p:nvSpPr>
          <p:cNvPr id="3" name="Rectangle 39">
            <a:extLst>
              <a:ext uri="{FF2B5EF4-FFF2-40B4-BE49-F238E27FC236}">
                <a16:creationId xmlns:a16="http://schemas.microsoft.com/office/drawing/2014/main" id="{EF9157A0-15BF-343B-993A-815343337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53130"/>
            <a:ext cx="8928100" cy="3525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marL="342900" indent="-342900" eaLnBrk="0" fontAlgn="b" hangingPunct="0">
              <a:lnSpc>
                <a:spcPts val="3300"/>
              </a:lnSpc>
              <a:buClr>
                <a:srgbClr val="1F497D"/>
              </a:buClr>
              <a:defRPr/>
            </a:pPr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Numerical Variables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: Age, Daily Rate, Distance from Home, Hourly Rate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C320B9-50A6-C7C8-1D89-D6D10BEABF46}"/>
              </a:ext>
            </a:extLst>
          </p:cNvPr>
          <p:cNvSpPr txBox="1"/>
          <p:nvPr/>
        </p:nvSpPr>
        <p:spPr>
          <a:xfrm>
            <a:off x="6936782" y="526127"/>
            <a:ext cx="2610897" cy="235193"/>
          </a:xfrm>
          <a:prstGeom prst="rect">
            <a:avLst/>
          </a:prstGeom>
          <a:noFill/>
        </p:spPr>
        <p:txBody>
          <a:bodyPr wrap="square" lIns="54610" tIns="54610" rIns="54610" bIns="54610" rtlCol="0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altLang="ko-KR" sz="1000" b="1" dirty="0">
                <a:ln w="3175">
                  <a:solidFill>
                    <a:schemeClr val="accent1">
                      <a:alpha val="0"/>
                    </a:scheme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 Medium" panose="02000603000000020004" pitchFamily="50" charset="-127"/>
              </a:rPr>
              <a:t>Appendix.</a:t>
            </a:r>
            <a:endParaRPr lang="en-US" altLang="ko-KR" sz="1000" b="1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Pretendard Medium" panose="02000603000000020004" pitchFamily="50" charset="-127"/>
            </a:endParaRPr>
          </a:p>
        </p:txBody>
      </p:sp>
      <p:sp>
        <p:nvSpPr>
          <p:cNvPr id="14" name="사각형: 둥근 위쪽 모서리 13">
            <a:extLst>
              <a:ext uri="{FF2B5EF4-FFF2-40B4-BE49-F238E27FC236}">
                <a16:creationId xmlns:a16="http://schemas.microsoft.com/office/drawing/2014/main" id="{DEE0AD2D-321B-F0F2-173F-7DF356F8698D}"/>
              </a:ext>
            </a:extLst>
          </p:cNvPr>
          <p:cNvSpPr/>
          <p:nvPr/>
        </p:nvSpPr>
        <p:spPr>
          <a:xfrm>
            <a:off x="5029487" y="1518365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Daily Rate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7" name="사각형: 둥근 위쪽 모서리 16">
            <a:extLst>
              <a:ext uri="{FF2B5EF4-FFF2-40B4-BE49-F238E27FC236}">
                <a16:creationId xmlns:a16="http://schemas.microsoft.com/office/drawing/2014/main" id="{6F0519AC-6BE6-D751-53E0-B96FA112DE06}"/>
              </a:ext>
            </a:extLst>
          </p:cNvPr>
          <p:cNvSpPr/>
          <p:nvPr/>
        </p:nvSpPr>
        <p:spPr>
          <a:xfrm>
            <a:off x="488950" y="1518365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Age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9" name="사각형: 둥근 위쪽 모서리 18">
            <a:extLst>
              <a:ext uri="{FF2B5EF4-FFF2-40B4-BE49-F238E27FC236}">
                <a16:creationId xmlns:a16="http://schemas.microsoft.com/office/drawing/2014/main" id="{4F42E4CD-8C85-A831-472D-0F315320BAD7}"/>
              </a:ext>
            </a:extLst>
          </p:cNvPr>
          <p:cNvSpPr/>
          <p:nvPr/>
        </p:nvSpPr>
        <p:spPr>
          <a:xfrm>
            <a:off x="5029487" y="3973657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Hourly Rate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1" name="사각형: 둥근 위쪽 모서리 20">
            <a:extLst>
              <a:ext uri="{FF2B5EF4-FFF2-40B4-BE49-F238E27FC236}">
                <a16:creationId xmlns:a16="http://schemas.microsoft.com/office/drawing/2014/main" id="{F8F5A539-E180-0830-674F-570D6243E085}"/>
              </a:ext>
            </a:extLst>
          </p:cNvPr>
          <p:cNvSpPr/>
          <p:nvPr/>
        </p:nvSpPr>
        <p:spPr>
          <a:xfrm>
            <a:off x="488950" y="3973657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Distance from Home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E1AD962-077C-BD19-811E-A448CFDBEA71}"/>
              </a:ext>
            </a:extLst>
          </p:cNvPr>
          <p:cNvSpPr/>
          <p:nvPr/>
        </p:nvSpPr>
        <p:spPr>
          <a:xfrm>
            <a:off x="488950" y="4248249"/>
            <a:ext cx="4387563" cy="2041538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14A3F29-4495-F78D-3E8C-D84F77C847C7}"/>
              </a:ext>
            </a:extLst>
          </p:cNvPr>
          <p:cNvSpPr/>
          <p:nvPr/>
        </p:nvSpPr>
        <p:spPr>
          <a:xfrm>
            <a:off x="5029486" y="1793545"/>
            <a:ext cx="4387563" cy="2041538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A93964A-B889-58CF-80AE-A502B50CDB75}"/>
              </a:ext>
            </a:extLst>
          </p:cNvPr>
          <p:cNvSpPr/>
          <p:nvPr/>
        </p:nvSpPr>
        <p:spPr>
          <a:xfrm>
            <a:off x="5029487" y="4248249"/>
            <a:ext cx="4387563" cy="2041538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88CFC6C-D6BF-8E58-2CDD-8D0D272FD4B1}"/>
              </a:ext>
            </a:extLst>
          </p:cNvPr>
          <p:cNvSpPr/>
          <p:nvPr/>
        </p:nvSpPr>
        <p:spPr>
          <a:xfrm>
            <a:off x="488950" y="1793545"/>
            <a:ext cx="4387563" cy="204153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863A96A-CD8F-5ACA-1E8D-9EB548F733CF}"/>
              </a:ext>
            </a:extLst>
          </p:cNvPr>
          <p:cNvSpPr/>
          <p:nvPr/>
        </p:nvSpPr>
        <p:spPr>
          <a:xfrm>
            <a:off x="488950" y="4248249"/>
            <a:ext cx="4387563" cy="204153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182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7F4E7-2C72-1D16-4204-A2145775B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E456786E-3F3E-2A4E-389C-75753A94B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103" y="1592436"/>
            <a:ext cx="3367255" cy="224264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5F3258D-79CA-13ED-DF6A-A1FC12BD7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640" y="1592436"/>
            <a:ext cx="3367255" cy="224264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9444653-4687-3BC8-D624-F5BBA50CAA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102" y="4047141"/>
            <a:ext cx="3367257" cy="2242646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0B714F5F-0C22-E1B8-007B-50EA129EE1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9639" y="4047141"/>
            <a:ext cx="3367257" cy="2242646"/>
          </a:xfrm>
          <a:prstGeom prst="rect">
            <a:avLst/>
          </a:prstGeom>
        </p:spPr>
      </p:pic>
      <p:sp>
        <p:nvSpPr>
          <p:cNvPr id="7" name="Rectangle 28">
            <a:extLst>
              <a:ext uri="{FF2B5EF4-FFF2-40B4-BE49-F238E27FC236}">
                <a16:creationId xmlns:a16="http://schemas.microsoft.com/office/drawing/2014/main" id="{F484EF20-F2E2-DA17-D3B3-A2D6D6E79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126" y="946206"/>
            <a:ext cx="8928100" cy="46134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indent="0" latinLnBrk="0">
              <a:lnSpc>
                <a:spcPts val="1900"/>
              </a:lnSpc>
              <a:spcBef>
                <a:spcPts val="0"/>
              </a:spcBef>
              <a:spcAft>
                <a:spcPts val="300"/>
              </a:spcAft>
              <a:buClr>
                <a:srgbClr val="00338D"/>
              </a:buClr>
              <a:buSzPct val="90000"/>
              <a:buNone/>
            </a:pPr>
            <a: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 Medium" panose="02000603000000020004" pitchFamily="50" charset="-127"/>
              </a:rPr>
              <a:t>Employees who leave tend to have lower monthly incomes and have worked at more companies. </a:t>
            </a:r>
            <a:b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 Medium" panose="02000603000000020004" pitchFamily="50" charset="-127"/>
              </a:rPr>
            </a:br>
            <a: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 Medium" panose="02000603000000020004" pitchFamily="50" charset="-127"/>
              </a:rPr>
              <a:t>Monthly rates and salary increases show little difference between the two groups.</a:t>
            </a:r>
          </a:p>
        </p:txBody>
      </p:sp>
      <p:sp>
        <p:nvSpPr>
          <p:cNvPr id="3" name="Rectangle 39">
            <a:extLst>
              <a:ext uri="{FF2B5EF4-FFF2-40B4-BE49-F238E27FC236}">
                <a16:creationId xmlns:a16="http://schemas.microsoft.com/office/drawing/2014/main" id="{102D5464-B771-21FC-DD20-AD4B0BB55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53130"/>
            <a:ext cx="8928100" cy="3525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marL="342900" indent="-342900" eaLnBrk="0" fontAlgn="b" hangingPunct="0">
              <a:lnSpc>
                <a:spcPts val="3300"/>
              </a:lnSpc>
              <a:buClr>
                <a:srgbClr val="1F497D"/>
              </a:buClr>
              <a:defRPr/>
            </a:pPr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Numerical Variables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: </a:t>
            </a:r>
            <a:r>
              <a:rPr lang="en-US" altLang="ko-KR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MonthlyIncome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, </a:t>
            </a:r>
            <a:r>
              <a:rPr lang="en-US" altLang="ko-KR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MonthlyRate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, </a:t>
            </a:r>
            <a:r>
              <a:rPr lang="en-US" altLang="ko-KR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NumCompaniesWorked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, </a:t>
            </a:r>
            <a:r>
              <a:rPr lang="en-US" altLang="ko-KR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PercentSalaryHike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+mj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36DDB7-EFDA-6D0D-BC91-DF28F56B2AFE}"/>
              </a:ext>
            </a:extLst>
          </p:cNvPr>
          <p:cNvSpPr txBox="1"/>
          <p:nvPr/>
        </p:nvSpPr>
        <p:spPr>
          <a:xfrm>
            <a:off x="6936782" y="526127"/>
            <a:ext cx="2610897" cy="235193"/>
          </a:xfrm>
          <a:prstGeom prst="rect">
            <a:avLst/>
          </a:prstGeom>
          <a:noFill/>
        </p:spPr>
        <p:txBody>
          <a:bodyPr wrap="square" lIns="54610" tIns="54610" rIns="54610" bIns="54610" rtlCol="0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altLang="ko-KR" sz="1000" b="1" dirty="0">
                <a:ln w="3175">
                  <a:solidFill>
                    <a:schemeClr val="accent1">
                      <a:alpha val="0"/>
                    </a:scheme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 Medium" panose="02000603000000020004" pitchFamily="50" charset="-127"/>
              </a:rPr>
              <a:t>Appendix.</a:t>
            </a:r>
            <a:endParaRPr lang="en-US" altLang="ko-KR" sz="1000" b="1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Pretendard Medium" panose="02000603000000020004" pitchFamily="50" charset="-127"/>
            </a:endParaRPr>
          </a:p>
        </p:txBody>
      </p:sp>
      <p:sp>
        <p:nvSpPr>
          <p:cNvPr id="14" name="사각형: 둥근 위쪽 모서리 13">
            <a:extLst>
              <a:ext uri="{FF2B5EF4-FFF2-40B4-BE49-F238E27FC236}">
                <a16:creationId xmlns:a16="http://schemas.microsoft.com/office/drawing/2014/main" id="{D1208D68-F276-A318-84EE-7F3A2B68178A}"/>
              </a:ext>
            </a:extLst>
          </p:cNvPr>
          <p:cNvSpPr/>
          <p:nvPr/>
        </p:nvSpPr>
        <p:spPr>
          <a:xfrm>
            <a:off x="5029487" y="1518365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Monthly Rate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7" name="사각형: 둥근 위쪽 모서리 16">
            <a:extLst>
              <a:ext uri="{FF2B5EF4-FFF2-40B4-BE49-F238E27FC236}">
                <a16:creationId xmlns:a16="http://schemas.microsoft.com/office/drawing/2014/main" id="{8ACEC27A-AF20-FFC2-FA60-ED4BEAF357A8}"/>
              </a:ext>
            </a:extLst>
          </p:cNvPr>
          <p:cNvSpPr/>
          <p:nvPr/>
        </p:nvSpPr>
        <p:spPr>
          <a:xfrm>
            <a:off x="488950" y="1518365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Monthly Income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9" name="사각형: 둥근 위쪽 모서리 18">
            <a:extLst>
              <a:ext uri="{FF2B5EF4-FFF2-40B4-BE49-F238E27FC236}">
                <a16:creationId xmlns:a16="http://schemas.microsoft.com/office/drawing/2014/main" id="{52C6C6C4-BF04-FB2F-83EF-EF841B85151F}"/>
              </a:ext>
            </a:extLst>
          </p:cNvPr>
          <p:cNvSpPr/>
          <p:nvPr/>
        </p:nvSpPr>
        <p:spPr>
          <a:xfrm>
            <a:off x="5029487" y="3973657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Percent Salary Hike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1" name="사각형: 둥근 위쪽 모서리 20">
            <a:extLst>
              <a:ext uri="{FF2B5EF4-FFF2-40B4-BE49-F238E27FC236}">
                <a16:creationId xmlns:a16="http://schemas.microsoft.com/office/drawing/2014/main" id="{576F7BA1-8EB4-CEBB-81EE-5E00E3D5D3DD}"/>
              </a:ext>
            </a:extLst>
          </p:cNvPr>
          <p:cNvSpPr/>
          <p:nvPr/>
        </p:nvSpPr>
        <p:spPr>
          <a:xfrm>
            <a:off x="488950" y="3973657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Num Companies Worked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44D5FC9-3678-B69B-1DDE-793652D36643}"/>
              </a:ext>
            </a:extLst>
          </p:cNvPr>
          <p:cNvSpPr/>
          <p:nvPr/>
        </p:nvSpPr>
        <p:spPr>
          <a:xfrm>
            <a:off x="488950" y="4248249"/>
            <a:ext cx="4387563" cy="2041538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BEB6360-B71F-C724-1227-209C508B394D}"/>
              </a:ext>
            </a:extLst>
          </p:cNvPr>
          <p:cNvSpPr/>
          <p:nvPr/>
        </p:nvSpPr>
        <p:spPr>
          <a:xfrm>
            <a:off x="5029486" y="1793545"/>
            <a:ext cx="4387563" cy="2041538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3EE7683-7DFC-DFA9-5A87-823BEE409701}"/>
              </a:ext>
            </a:extLst>
          </p:cNvPr>
          <p:cNvSpPr/>
          <p:nvPr/>
        </p:nvSpPr>
        <p:spPr>
          <a:xfrm>
            <a:off x="488949" y="1793545"/>
            <a:ext cx="4387563" cy="2041538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A1D40D-C043-3265-099D-A6C1D7232506}"/>
              </a:ext>
            </a:extLst>
          </p:cNvPr>
          <p:cNvSpPr/>
          <p:nvPr/>
        </p:nvSpPr>
        <p:spPr>
          <a:xfrm>
            <a:off x="5029487" y="4248249"/>
            <a:ext cx="4387563" cy="2041538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DB47CD9-2E7E-00D0-9AA5-251940198174}"/>
              </a:ext>
            </a:extLst>
          </p:cNvPr>
          <p:cNvSpPr/>
          <p:nvPr/>
        </p:nvSpPr>
        <p:spPr>
          <a:xfrm>
            <a:off x="499595" y="1793543"/>
            <a:ext cx="4387563" cy="204153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25243F4-F12C-1BA1-7581-6337AC3CA8CB}"/>
              </a:ext>
            </a:extLst>
          </p:cNvPr>
          <p:cNvSpPr/>
          <p:nvPr/>
        </p:nvSpPr>
        <p:spPr>
          <a:xfrm>
            <a:off x="499595" y="4248249"/>
            <a:ext cx="4387563" cy="204153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102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5D81B-ED9A-960F-6504-F7A79211C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C87A0E40-F5EF-448A-F9E4-3D8906F60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102" y="1592437"/>
            <a:ext cx="3367257" cy="2242646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6828A73E-46F4-3F44-94E4-5E0310AC5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639" y="1592437"/>
            <a:ext cx="3367257" cy="2242646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D27A1F39-8928-7A19-E06B-3CBFC9705E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102" y="4047141"/>
            <a:ext cx="3367257" cy="2242646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01E193DA-5649-1725-0956-A88FC934EF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9639" y="4047141"/>
            <a:ext cx="3367257" cy="2242646"/>
          </a:xfrm>
          <a:prstGeom prst="rect">
            <a:avLst/>
          </a:prstGeom>
        </p:spPr>
      </p:pic>
      <p:sp>
        <p:nvSpPr>
          <p:cNvPr id="7" name="Rectangle 28">
            <a:extLst>
              <a:ext uri="{FF2B5EF4-FFF2-40B4-BE49-F238E27FC236}">
                <a16:creationId xmlns:a16="http://schemas.microsoft.com/office/drawing/2014/main" id="{F9BB3431-8400-0B72-27AC-F53114241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126" y="946206"/>
            <a:ext cx="8928100" cy="46134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indent="0" latinLnBrk="0">
              <a:lnSpc>
                <a:spcPts val="1900"/>
              </a:lnSpc>
              <a:spcBef>
                <a:spcPts val="0"/>
              </a:spcBef>
              <a:spcAft>
                <a:spcPts val="300"/>
              </a:spcAft>
              <a:buClr>
                <a:srgbClr val="00338D"/>
              </a:buClr>
              <a:buSzPct val="90000"/>
              <a:buNone/>
            </a:pPr>
            <a: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 Medium" panose="02000603000000020004" pitchFamily="50" charset="-127"/>
              </a:rPr>
              <a:t>Employees who leave tend to have fewer total working years, shorter company tenure, and less time in their current roles. </a:t>
            </a:r>
            <a:b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 Medium" panose="02000603000000020004" pitchFamily="50" charset="-127"/>
              </a:rPr>
            </a:br>
            <a: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 Medium" panose="02000603000000020004" pitchFamily="50" charset="-127"/>
              </a:rPr>
              <a:t>Training frequency shows little difference between the two groups.</a:t>
            </a:r>
          </a:p>
        </p:txBody>
      </p:sp>
      <p:sp>
        <p:nvSpPr>
          <p:cNvPr id="3" name="Rectangle 39">
            <a:extLst>
              <a:ext uri="{FF2B5EF4-FFF2-40B4-BE49-F238E27FC236}">
                <a16:creationId xmlns:a16="http://schemas.microsoft.com/office/drawing/2014/main" id="{ABDA29D8-B054-A645-4243-9AED11600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53130"/>
            <a:ext cx="8928100" cy="3525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marL="342900" indent="-342900" eaLnBrk="0" fontAlgn="b" hangingPunct="0">
              <a:lnSpc>
                <a:spcPts val="3300"/>
              </a:lnSpc>
              <a:buClr>
                <a:srgbClr val="1F497D"/>
              </a:buClr>
              <a:defRPr/>
            </a:pPr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Numerical Variables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: </a:t>
            </a:r>
            <a:r>
              <a:rPr lang="en-US" altLang="ko-KR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TotalWorkingYears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, </a:t>
            </a:r>
            <a:r>
              <a:rPr lang="en-US" altLang="ko-KR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TrainingTimeLastYear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, </a:t>
            </a:r>
            <a:r>
              <a:rPr lang="en-US" altLang="ko-KR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YearsAtCompany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, </a:t>
            </a:r>
            <a:r>
              <a:rPr lang="en-US" altLang="ko-KR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YearsInCurrentRole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+mj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346A17-B977-FC33-EF3A-878BD3B6C1DC}"/>
              </a:ext>
            </a:extLst>
          </p:cNvPr>
          <p:cNvSpPr txBox="1"/>
          <p:nvPr/>
        </p:nvSpPr>
        <p:spPr>
          <a:xfrm>
            <a:off x="6936782" y="526127"/>
            <a:ext cx="2610897" cy="235193"/>
          </a:xfrm>
          <a:prstGeom prst="rect">
            <a:avLst/>
          </a:prstGeom>
          <a:noFill/>
        </p:spPr>
        <p:txBody>
          <a:bodyPr wrap="square" lIns="54610" tIns="54610" rIns="54610" bIns="54610" rtlCol="0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altLang="ko-KR" sz="1000" b="1" dirty="0">
                <a:ln w="3175">
                  <a:solidFill>
                    <a:schemeClr val="accent1">
                      <a:alpha val="0"/>
                    </a:scheme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 Medium" panose="02000603000000020004" pitchFamily="50" charset="-127"/>
              </a:rPr>
              <a:t>Appendix.</a:t>
            </a:r>
            <a:endParaRPr lang="en-US" altLang="ko-KR" sz="1000" b="1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Pretendard Medium" panose="02000603000000020004" pitchFamily="50" charset="-127"/>
            </a:endParaRPr>
          </a:p>
        </p:txBody>
      </p:sp>
      <p:sp>
        <p:nvSpPr>
          <p:cNvPr id="14" name="사각형: 둥근 위쪽 모서리 13">
            <a:extLst>
              <a:ext uri="{FF2B5EF4-FFF2-40B4-BE49-F238E27FC236}">
                <a16:creationId xmlns:a16="http://schemas.microsoft.com/office/drawing/2014/main" id="{A5BFB08C-FFE5-6801-7EE9-40A7E75B2B7B}"/>
              </a:ext>
            </a:extLst>
          </p:cNvPr>
          <p:cNvSpPr/>
          <p:nvPr/>
        </p:nvSpPr>
        <p:spPr>
          <a:xfrm>
            <a:off x="5029487" y="1518365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Training Time Last Year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7" name="사각형: 둥근 위쪽 모서리 16">
            <a:extLst>
              <a:ext uri="{FF2B5EF4-FFF2-40B4-BE49-F238E27FC236}">
                <a16:creationId xmlns:a16="http://schemas.microsoft.com/office/drawing/2014/main" id="{EEFA476D-97D4-DB33-5E8A-263E5FE2ABF5}"/>
              </a:ext>
            </a:extLst>
          </p:cNvPr>
          <p:cNvSpPr/>
          <p:nvPr/>
        </p:nvSpPr>
        <p:spPr>
          <a:xfrm>
            <a:off x="488950" y="1518365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Total Working Years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9" name="사각형: 둥근 위쪽 모서리 18">
            <a:extLst>
              <a:ext uri="{FF2B5EF4-FFF2-40B4-BE49-F238E27FC236}">
                <a16:creationId xmlns:a16="http://schemas.microsoft.com/office/drawing/2014/main" id="{0C801FDF-74BC-027E-C313-273CBC93092F}"/>
              </a:ext>
            </a:extLst>
          </p:cNvPr>
          <p:cNvSpPr/>
          <p:nvPr/>
        </p:nvSpPr>
        <p:spPr>
          <a:xfrm>
            <a:off x="5029487" y="3973657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Years in Current Role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1" name="사각형: 둥근 위쪽 모서리 20">
            <a:extLst>
              <a:ext uri="{FF2B5EF4-FFF2-40B4-BE49-F238E27FC236}">
                <a16:creationId xmlns:a16="http://schemas.microsoft.com/office/drawing/2014/main" id="{CF93AFBA-5BF2-1D63-E6D4-7E23DD928CE0}"/>
              </a:ext>
            </a:extLst>
          </p:cNvPr>
          <p:cNvSpPr/>
          <p:nvPr/>
        </p:nvSpPr>
        <p:spPr>
          <a:xfrm>
            <a:off x="488950" y="3973657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Years at Company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A346947-6AD3-EA07-E31D-80F9B50414EC}"/>
              </a:ext>
            </a:extLst>
          </p:cNvPr>
          <p:cNvSpPr/>
          <p:nvPr/>
        </p:nvSpPr>
        <p:spPr>
          <a:xfrm>
            <a:off x="488950" y="4248249"/>
            <a:ext cx="4387563" cy="2041538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605DFEE-B83D-5002-651D-499C705B716E}"/>
              </a:ext>
            </a:extLst>
          </p:cNvPr>
          <p:cNvSpPr/>
          <p:nvPr/>
        </p:nvSpPr>
        <p:spPr>
          <a:xfrm>
            <a:off x="5029486" y="1793545"/>
            <a:ext cx="4387563" cy="2041538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24CB5C1-B333-3F7A-8314-0E2DF50DCD7D}"/>
              </a:ext>
            </a:extLst>
          </p:cNvPr>
          <p:cNvSpPr/>
          <p:nvPr/>
        </p:nvSpPr>
        <p:spPr>
          <a:xfrm>
            <a:off x="488949" y="1793545"/>
            <a:ext cx="4387563" cy="2041538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3AEACA2-7E4B-A79E-3219-1468BE38F4D1}"/>
              </a:ext>
            </a:extLst>
          </p:cNvPr>
          <p:cNvSpPr/>
          <p:nvPr/>
        </p:nvSpPr>
        <p:spPr>
          <a:xfrm>
            <a:off x="5029487" y="4248249"/>
            <a:ext cx="4387563" cy="2041538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1E73166-BDDE-2488-2743-62241528E2B2}"/>
              </a:ext>
            </a:extLst>
          </p:cNvPr>
          <p:cNvSpPr/>
          <p:nvPr/>
        </p:nvSpPr>
        <p:spPr>
          <a:xfrm>
            <a:off x="499595" y="1793543"/>
            <a:ext cx="4387563" cy="204153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630C59-F2B4-CFE5-E823-C94B0A3E801B}"/>
              </a:ext>
            </a:extLst>
          </p:cNvPr>
          <p:cNvSpPr/>
          <p:nvPr/>
        </p:nvSpPr>
        <p:spPr>
          <a:xfrm>
            <a:off x="499595" y="4255915"/>
            <a:ext cx="4387563" cy="204153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C34956A-6B65-0C73-CA9B-298FE690FEE9}"/>
              </a:ext>
            </a:extLst>
          </p:cNvPr>
          <p:cNvSpPr/>
          <p:nvPr/>
        </p:nvSpPr>
        <p:spPr>
          <a:xfrm>
            <a:off x="5029487" y="4255915"/>
            <a:ext cx="4387563" cy="204153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67131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66B5D-7BA8-549A-F3EB-B7018FFB6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50FAA96-48C0-B0BF-AF33-0057D2BC9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101" y="1592436"/>
            <a:ext cx="3367258" cy="224264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7406148-A698-0EE2-F1CC-A121DB218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639" y="1592436"/>
            <a:ext cx="3367258" cy="2242647"/>
          </a:xfrm>
          <a:prstGeom prst="rect">
            <a:avLst/>
          </a:prstGeom>
        </p:spPr>
      </p:pic>
      <p:sp>
        <p:nvSpPr>
          <p:cNvPr id="7" name="Rectangle 28">
            <a:extLst>
              <a:ext uri="{FF2B5EF4-FFF2-40B4-BE49-F238E27FC236}">
                <a16:creationId xmlns:a16="http://schemas.microsoft.com/office/drawing/2014/main" id="{8F57A4A9-657A-F86B-1576-90E1EF084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126" y="946206"/>
            <a:ext cx="8928100" cy="46134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indent="0" latinLnBrk="0">
              <a:lnSpc>
                <a:spcPts val="1900"/>
              </a:lnSpc>
              <a:spcBef>
                <a:spcPts val="0"/>
              </a:spcBef>
              <a:spcAft>
                <a:spcPts val="300"/>
              </a:spcAft>
              <a:buClr>
                <a:srgbClr val="00338D"/>
              </a:buClr>
              <a:buSzPct val="90000"/>
              <a:buNone/>
            </a:pPr>
            <a: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 Medium" panose="02000603000000020004" pitchFamily="50" charset="-127"/>
              </a:rPr>
              <a:t>Employees who leave tend to have spent less time with their current managers. </a:t>
            </a:r>
            <a:b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 Medium" panose="02000603000000020004" pitchFamily="50" charset="-127"/>
              </a:rPr>
            </a:br>
            <a: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 Medium" panose="02000603000000020004" pitchFamily="50" charset="-127"/>
              </a:rPr>
              <a:t>Years since the last promotion shows little difference between employees who leave and those who stay.</a:t>
            </a:r>
          </a:p>
        </p:txBody>
      </p:sp>
      <p:sp>
        <p:nvSpPr>
          <p:cNvPr id="3" name="Rectangle 39">
            <a:extLst>
              <a:ext uri="{FF2B5EF4-FFF2-40B4-BE49-F238E27FC236}">
                <a16:creationId xmlns:a16="http://schemas.microsoft.com/office/drawing/2014/main" id="{D37244EB-6E00-D053-C24C-3D4D09063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53130"/>
            <a:ext cx="8928100" cy="3525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marL="342900" indent="-342900" eaLnBrk="0" fontAlgn="b" hangingPunct="0">
              <a:lnSpc>
                <a:spcPts val="3300"/>
              </a:lnSpc>
              <a:buClr>
                <a:srgbClr val="1F497D"/>
              </a:buClr>
              <a:defRPr/>
            </a:pPr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Numerical Variables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: </a:t>
            </a:r>
            <a:r>
              <a:rPr lang="en-US" altLang="ko-KR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YearsSinceLastPromotion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, </a:t>
            </a:r>
            <a:r>
              <a:rPr lang="en-US" altLang="ko-KR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ea"/>
              </a:rPr>
              <a:t>YearsWithCurrentManager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+mj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810F54-7EB5-DE67-A07B-87F87A04E8D5}"/>
              </a:ext>
            </a:extLst>
          </p:cNvPr>
          <p:cNvSpPr txBox="1"/>
          <p:nvPr/>
        </p:nvSpPr>
        <p:spPr>
          <a:xfrm>
            <a:off x="6936782" y="526127"/>
            <a:ext cx="2610897" cy="235193"/>
          </a:xfrm>
          <a:prstGeom prst="rect">
            <a:avLst/>
          </a:prstGeom>
          <a:noFill/>
        </p:spPr>
        <p:txBody>
          <a:bodyPr wrap="square" lIns="54610" tIns="54610" rIns="54610" bIns="54610" rtlCol="0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altLang="ko-KR" sz="1000" b="1" dirty="0">
                <a:ln w="3175">
                  <a:solidFill>
                    <a:schemeClr val="accent1">
                      <a:alpha val="0"/>
                    </a:scheme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Pretendard Medium" panose="02000603000000020004" pitchFamily="50" charset="-127"/>
              </a:rPr>
              <a:t>Appendix.</a:t>
            </a:r>
            <a:endParaRPr lang="en-US" altLang="ko-KR" sz="1000" b="1" dirty="0">
              <a:ln w="3175"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Pretendard Medium" panose="02000603000000020004" pitchFamily="50" charset="-127"/>
            </a:endParaRPr>
          </a:p>
        </p:txBody>
      </p:sp>
      <p:sp>
        <p:nvSpPr>
          <p:cNvPr id="14" name="사각형: 둥근 위쪽 모서리 13">
            <a:extLst>
              <a:ext uri="{FF2B5EF4-FFF2-40B4-BE49-F238E27FC236}">
                <a16:creationId xmlns:a16="http://schemas.microsoft.com/office/drawing/2014/main" id="{3DF5059D-A10F-A812-63C2-EFAF377E8A22}"/>
              </a:ext>
            </a:extLst>
          </p:cNvPr>
          <p:cNvSpPr/>
          <p:nvPr/>
        </p:nvSpPr>
        <p:spPr>
          <a:xfrm>
            <a:off x="5029487" y="1518365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Years with Current Manager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7" name="사각형: 둥근 위쪽 모서리 16">
            <a:extLst>
              <a:ext uri="{FF2B5EF4-FFF2-40B4-BE49-F238E27FC236}">
                <a16:creationId xmlns:a16="http://schemas.microsoft.com/office/drawing/2014/main" id="{FEE3900F-D0D4-8AB0-B4F6-569CEF3B7FCB}"/>
              </a:ext>
            </a:extLst>
          </p:cNvPr>
          <p:cNvSpPr/>
          <p:nvPr/>
        </p:nvSpPr>
        <p:spPr>
          <a:xfrm>
            <a:off x="488950" y="1518365"/>
            <a:ext cx="4387563" cy="2745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8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8A8D8F">
                      <a:alpha val="0"/>
                    </a:srgb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Years Since Last Promotion</a:t>
            </a:r>
            <a:endParaRPr lang="ko-KR" altLang="en-US" sz="1200" b="1" dirty="0">
              <a:ln>
                <a:solidFill>
                  <a:srgbClr val="8A8D8F">
                    <a:alpha val="0"/>
                  </a:srgb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937DAD7-0962-969E-9142-624802C67C91}"/>
              </a:ext>
            </a:extLst>
          </p:cNvPr>
          <p:cNvSpPr/>
          <p:nvPr/>
        </p:nvSpPr>
        <p:spPr>
          <a:xfrm>
            <a:off x="5029486" y="1793545"/>
            <a:ext cx="4387563" cy="2041538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2090AFF-1430-CB01-30AB-266B5D750CCC}"/>
              </a:ext>
            </a:extLst>
          </p:cNvPr>
          <p:cNvSpPr/>
          <p:nvPr/>
        </p:nvSpPr>
        <p:spPr>
          <a:xfrm>
            <a:off x="488949" y="1793545"/>
            <a:ext cx="4387563" cy="2041538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D69AE41-061D-E623-590F-9D2C1B359EBD}"/>
              </a:ext>
            </a:extLst>
          </p:cNvPr>
          <p:cNvSpPr/>
          <p:nvPr/>
        </p:nvSpPr>
        <p:spPr>
          <a:xfrm>
            <a:off x="5029486" y="1793543"/>
            <a:ext cx="4387563" cy="204153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ko-KR" altLang="en-US" sz="9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3156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EATEDBY" val="Global PowerPoint Toolbar"/>
  <p:tag name="TOOLBARVERSION" val="5.30a"/>
  <p:tag name="TYPE" val="Report"/>
  <p:tag name="KEYWORD" val="REPORT"/>
  <p:tag name="TEMPLATEVERSION" val="17/07/2017 11:54:36"/>
</p:tagLst>
</file>

<file path=ppt/theme/theme1.xml><?xml version="1.0" encoding="utf-8"?>
<a:theme xmlns:a="http://schemas.openxmlformats.org/drawingml/2006/main" name="KPMG_Report_4x3_050216_2016">
  <a:themeElements>
    <a:clrScheme name="사용자 지정 1">
      <a:dk1>
        <a:srgbClr val="000000"/>
      </a:dk1>
      <a:lt1>
        <a:sysClr val="window" lastClr="FFFFFF"/>
      </a:lt1>
      <a:dk2>
        <a:srgbClr val="00338D"/>
      </a:dk2>
      <a:lt2>
        <a:srgbClr val="F0F0F0"/>
      </a:lt2>
      <a:accent1>
        <a:srgbClr val="0091DA"/>
      </a:accent1>
      <a:accent2>
        <a:srgbClr val="6D2077"/>
      </a:accent2>
      <a:accent3>
        <a:srgbClr val="005EB8"/>
      </a:accent3>
      <a:accent4>
        <a:srgbClr val="00A3A1"/>
      </a:accent4>
      <a:accent5>
        <a:srgbClr val="EAAA00"/>
      </a:accent5>
      <a:accent6>
        <a:srgbClr val="43B02A"/>
      </a:accent6>
      <a:hlink>
        <a:srgbClr val="0091DA"/>
      </a:hlink>
      <a:folHlink>
        <a:srgbClr val="0091DA"/>
      </a:folHlink>
    </a:clrScheme>
    <a:fontScheme name="KPMG 서식">
      <a:majorFont>
        <a:latin typeface="KoPub돋움체 Bold"/>
        <a:ea typeface="KoPub돋움체 Bold"/>
        <a:cs typeface=""/>
      </a:majorFont>
      <a:minorFont>
        <a:latin typeface="KoPub돋움체 Light"/>
        <a:ea typeface="KoPub돋움체 Light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54000" tIns="54000" rIns="54000" bIns="54000" rtlCol="0" anchor="ctr"/>
      <a:lstStyle>
        <a:defPPr algn="ctr">
          <a:defRPr sz="9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54610" tIns="54610" rIns="54610" bIns="54610" rtlCol="0">
        <a:noAutofit/>
      </a:bodyPr>
      <a:lstStyle>
        <a:defPPr>
          <a:spcAft>
            <a:spcPts val="600"/>
          </a:spcAft>
          <a:defRPr sz="900"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Medium Blue">
      <a:srgbClr val="005EB8"/>
    </a:custClr>
    <a:custClr name="Light Blue">
      <a:srgbClr val="0091DA"/>
    </a:custClr>
    <a:custClr name="Violet">
      <a:srgbClr val="483698"/>
    </a:custClr>
    <a:custClr name="Purple">
      <a:srgbClr val="470A68"/>
    </a:custClr>
    <a:custClr name="Light Purple">
      <a:srgbClr val="6D2077"/>
    </a:custClr>
    <a:custClr name="Green">
      <a:srgbClr val="00A3A1"/>
    </a:custClr>
    <a:custClr name="Dark Green">
      <a:srgbClr val="009A44"/>
    </a:custClr>
    <a:custClr name="Light Green">
      <a:srgbClr val="43B02A"/>
    </a:custClr>
    <a:custClr name="Yellow">
      <a:srgbClr val="EAAA00"/>
    </a:custClr>
    <a:custClr name="Orange">
      <a:srgbClr val="F68D2E"/>
    </a:custClr>
    <a:custClr name="Red ">
      <a:srgbClr val="BC204B"/>
    </a:custClr>
    <a:custClr name="Pink">
      <a:srgbClr val="C6007E"/>
    </a:custClr>
    <a:custClr name="Dark Brown">
      <a:srgbClr val="753F19"/>
    </a:custClr>
    <a:custClr name="Light Brown">
      <a:srgbClr val="9B642E"/>
    </a:custClr>
    <a:custClr name="Olive">
      <a:srgbClr val="9D9375"/>
    </a:custClr>
    <a:custClr name="Beige">
      <a:srgbClr val="E3BC9F"/>
    </a:custClr>
    <a:custClr name="Light Pink">
      <a:srgbClr val="E36877"/>
    </a:custClr>
  </a:custClrLst>
  <a:extLst>
    <a:ext uri="{05A4C25C-085E-4340-85A3-A5531E510DB2}">
      <thm15:themeFamily xmlns:thm15="http://schemas.microsoft.com/office/thememl/2012/main" name="KPMG Report Standard Template.potx" id="{8A398FB1-DA84-42AA-B003-DF2A24907A89}" vid="{E6C4700F-DCE8-4AB5-81A9-E1165F87E53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08b4cb7-70c0-4379-8493-de8018560ff9">
      <Terms xmlns="http://schemas.microsoft.com/office/infopath/2007/PartnerControls"/>
    </lcf76f155ced4ddcb4097134ff3c332f>
    <TaxCatchAll xmlns="4243d5be-521d-4052-81ca-f0f31ea6f2d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F1D6A0D773A847AC5E5198D0419310" ma:contentTypeVersion="15" ma:contentTypeDescription="Create a new document." ma:contentTypeScope="" ma:versionID="3c271a6d25b1bf0c8bbd0bacc48533d0">
  <xsd:schema xmlns:xsd="http://www.w3.org/2001/XMLSchema" xmlns:xs="http://www.w3.org/2001/XMLSchema" xmlns:p="http://schemas.microsoft.com/office/2006/metadata/properties" xmlns:ns2="608b4cb7-70c0-4379-8493-de8018560ff9" xmlns:ns3="4b7f9de5-6b6f-4a11-ab63-6c1a39f11d19" xmlns:ns4="4243d5be-521d-4052-81ca-f0f31ea6f2da" targetNamespace="http://schemas.microsoft.com/office/2006/metadata/properties" ma:root="true" ma:fieldsID="fa90b53ca028bf2d76c6eb12e1c52c86" ns2:_="" ns3:_="" ns4:_="">
    <xsd:import namespace="608b4cb7-70c0-4379-8493-de8018560ff9"/>
    <xsd:import namespace="4b7f9de5-6b6f-4a11-ab63-6c1a39f11d19"/>
    <xsd:import namespace="4243d5be-521d-4052-81ca-f0f31ea6f2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8b4cb7-70c0-4379-8493-de8018560f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883d318-f35c-4577-94aa-4c8e836d27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7f9de5-6b6f-4a11-ab63-6c1a39f11d1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43d5be-521d-4052-81ca-f0f31ea6f2da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0dc6117c-2b7b-48d6-a1bb-eb4aa662999a}" ma:internalName="TaxCatchAll" ma:showField="CatchAllData" ma:web="4b7f9de5-6b6f-4a11-ab63-6c1a39f11d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B94AFD-4FE6-4B47-9AA4-56AB0BF7C9A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2983F10-79FC-4CAE-A9E6-69B6FB4D6DB1}">
  <ds:schemaRefs>
    <ds:schemaRef ds:uri="http://schemas.microsoft.com/office/2006/documentManagement/types"/>
    <ds:schemaRef ds:uri="http://purl.org/dc/dcmitype/"/>
    <ds:schemaRef ds:uri="http://www.w3.org/XML/1998/namespace"/>
    <ds:schemaRef ds:uri="http://schemas.microsoft.com/office/infopath/2007/PartnerControls"/>
    <ds:schemaRef ds:uri="4243d5be-521d-4052-81ca-f0f31ea6f2da"/>
    <ds:schemaRef ds:uri="http://purl.org/dc/elements/1.1/"/>
    <ds:schemaRef ds:uri="http://schemas.openxmlformats.org/package/2006/metadata/core-properties"/>
    <ds:schemaRef ds:uri="http://purl.org/dc/terms/"/>
    <ds:schemaRef ds:uri="4b7f9de5-6b6f-4a11-ab63-6c1a39f11d19"/>
    <ds:schemaRef ds:uri="608b4cb7-70c0-4379-8493-de8018560ff9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DD9E5A59-27F1-41AC-9F29-315928110C83}">
  <ds:schemaRefs>
    <ds:schemaRef ds:uri="4243d5be-521d-4052-81ca-f0f31ea6f2da"/>
    <ds:schemaRef ds:uri="4b7f9de5-6b6f-4a11-ab63-6c1a39f11d19"/>
    <ds:schemaRef ds:uri="608b4cb7-70c0-4379-8493-de8018560ff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3129b2cc-4393-4691-814d-95eb8359c06c}" enabled="1" method="Standard" siteId="{deff24bb-2089-4400-8c8e-f71e680378b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10079</TotalTime>
  <Words>2448</Words>
  <Application>Microsoft Office PowerPoint</Application>
  <PresentationFormat>A4 용지(210x297mm)</PresentationFormat>
  <Paragraphs>421</Paragraphs>
  <Slides>22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1" baseType="lpstr">
      <vt:lpstr>KoPub돋움체 Medium</vt:lpstr>
      <vt:lpstr>Pretendard Medium</vt:lpstr>
      <vt:lpstr>Univers for KPMG</vt:lpstr>
      <vt:lpstr>하나 M</vt:lpstr>
      <vt:lpstr>Aptos</vt:lpstr>
      <vt:lpstr>Arial</vt:lpstr>
      <vt:lpstr>Cambria Math</vt:lpstr>
      <vt:lpstr>Wingdings</vt:lpstr>
      <vt:lpstr>KPMG_Report_4x3_050216_2016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KPMG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삼정KPMG</dc:creator>
  <cp:lastModifiedBy>용준 조</cp:lastModifiedBy>
  <cp:revision>737</cp:revision>
  <cp:lastPrinted>2025-08-28T08:08:45Z</cp:lastPrinted>
  <dcterms:created xsi:type="dcterms:W3CDTF">2013-01-14T04:58:54Z</dcterms:created>
  <dcterms:modified xsi:type="dcterms:W3CDTF">2026-10-25T17:32:38Z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0x01010070F1D6A0D773A847AC5E5198D0419310</vt:lpwstr>
  </property>
  <property fmtid="{D5CDD505-2E9C-101B-9397-08002B2CF9AE}" pid="3" name="MediaServiceImageTags">
    <vt:lpwstr/>
  </property>
</Properties>
</file>